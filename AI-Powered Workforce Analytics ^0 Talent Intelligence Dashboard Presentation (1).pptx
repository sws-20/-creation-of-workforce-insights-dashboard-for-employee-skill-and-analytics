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123" r:id="rId1"/>
  </p:sldMasterIdLst>
  <p:notesMasterIdLst>
    <p:notesMasterId r:id="rId18"/>
  </p:notesMasterIdLst>
  <p:sldIdLst>
    <p:sldId id="256" r:id="rId2"/>
    <p:sldId id="257" r:id="rId3"/>
    <p:sldId id="258" r:id="rId4"/>
    <p:sldId id="259" r:id="rId5"/>
    <p:sldId id="272" r:id="rId6"/>
    <p:sldId id="261" r:id="rId7"/>
    <p:sldId id="262" r:id="rId8"/>
    <p:sldId id="263" r:id="rId9"/>
    <p:sldId id="264" r:id="rId10"/>
    <p:sldId id="265" r:id="rId11"/>
    <p:sldId id="266" r:id="rId12"/>
    <p:sldId id="267" r:id="rId13"/>
    <p:sldId id="268" r:id="rId14"/>
    <p:sldId id="269" r:id="rId15"/>
    <p:sldId id="270" r:id="rId16"/>
    <p:sldId id="273" r:id="rId17"/>
  </p:sldIdLst>
  <p:sldSz cx="9144000" cy="5143500" type="screen16x9"/>
  <p:notesSz cx="6858000" cy="9144000"/>
  <p:embeddedFontLst>
    <p:embeddedFont>
      <p:font typeface="Inter" panose="020B0604020202020204" charset="0"/>
      <p:regular r:id="rId19"/>
      <p:bold r:id="rId20"/>
      <p:italic r:id="rId21"/>
      <p:boldItalic r:id="rId22"/>
    </p:embeddedFont>
    <p:embeddedFont>
      <p:font typeface="Inter ExtraBold" panose="020B0604020202020204" charset="0"/>
      <p:bold r:id="rId23"/>
      <p:boldItalic r:id="rId24"/>
    </p:embeddedFont>
    <p:embeddedFont>
      <p:font typeface="Inter Medium" panose="020B0604020202020204" charset="0"/>
      <p:regular r:id="rId25"/>
      <p:bold r:id="rId26"/>
      <p:italic r:id="rId27"/>
      <p:boldItalic r:id="rId28"/>
    </p:embeddedFont>
    <p:embeddedFont>
      <p:font typeface="Inter SemiBold" panose="020B0604020202020204" charset="0"/>
      <p:regular r:id="rId29"/>
      <p:bold r:id="rId30"/>
      <p:italic r:id="rId31"/>
      <p:boldItalic r:id="rId32"/>
    </p:embeddedFont>
    <p:embeddedFont>
      <p:font typeface="Roboto Mono" panose="00000009000000000000" pitchFamily="49" charset="0"/>
      <p:regular r:id="rId33"/>
      <p:bold r:id="rId34"/>
      <p:italic r:id="rId35"/>
      <p:boldItalic r:id="rId36"/>
    </p:embeddedFont>
    <p:embeddedFont>
      <p:font typeface="Roboto Mono SemiBold" panose="020B060402020202020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D1D45C-1994-4838-8B76-78A8AD310D05}" v="2" dt="2026-08-19T12:15:07.103"/>
    <p1510:client id="{E952841B-C92B-44FC-8337-3B388ED87889}" v="11" dt="2026-08-18T19:42:06.295"/>
  </p1510:revLst>
</p1510:revInfo>
</file>

<file path=ppt/tableStyles.xml><?xml version="1.0" encoding="utf-8"?>
<a:tblStyleLst xmlns:a="http://schemas.openxmlformats.org/drawingml/2006/main" def="{C1AD08AC-672A-4FBF-81BB-0BCCF192BED3}">
  <a:tblStyle styleId="{C1AD08AC-672A-4FBF-81BB-0BCCF192BE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microsoft.com/office/2015/10/relationships/revisionInfo" Target="revisionInfo.xml"/><Relationship Id="rId20" Type="http://schemas.openxmlformats.org/officeDocument/2006/relationships/font" Target="fonts/font2.fntdata"/><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y bhargav" userId="a7b4d1a002f3d6b9" providerId="LiveId" clId="{CB3CD8F0-505C-4A39-9E9F-1A002F0DBC39}"/>
    <pc:docChg chg="custSel addSld delSld modSld modMainMaster">
      <pc:chgData name="Sanjay bhargav" userId="a7b4d1a002f3d6b9" providerId="LiveId" clId="{CB3CD8F0-505C-4A39-9E9F-1A002F0DBC39}" dt="2026-08-19T12:15:20.381" v="49" actId="113"/>
      <pc:docMkLst>
        <pc:docMk/>
      </pc:docMkLst>
      <pc:sldChg chg="modSp mod">
        <pc:chgData name="Sanjay bhargav" userId="a7b4d1a002f3d6b9" providerId="LiveId" clId="{CB3CD8F0-505C-4A39-9E9F-1A002F0DBC39}" dt="2026-08-19T12:15:20.381" v="49" actId="113"/>
        <pc:sldMkLst>
          <pc:docMk/>
          <pc:sldMk cId="0" sldId="257"/>
        </pc:sldMkLst>
        <pc:spChg chg="mod">
          <ac:chgData name="Sanjay bhargav" userId="a7b4d1a002f3d6b9" providerId="LiveId" clId="{CB3CD8F0-505C-4A39-9E9F-1A002F0DBC39}" dt="2026-08-19T12:03:18.872" v="32" actId="255"/>
          <ac:spMkLst>
            <pc:docMk/>
            <pc:sldMk cId="0" sldId="257"/>
            <ac:spMk id="87" creationId="{00000000-0000-0000-0000-000000000000}"/>
          </ac:spMkLst>
        </pc:spChg>
        <pc:spChg chg="mod">
          <ac:chgData name="Sanjay bhargav" userId="a7b4d1a002f3d6b9" providerId="LiveId" clId="{CB3CD8F0-505C-4A39-9E9F-1A002F0DBC39}" dt="2026-08-19T12:02:03.351" v="26" actId="20577"/>
          <ac:spMkLst>
            <pc:docMk/>
            <pc:sldMk cId="0" sldId="257"/>
            <ac:spMk id="91" creationId="{00000000-0000-0000-0000-000000000000}"/>
          </ac:spMkLst>
        </pc:spChg>
        <pc:spChg chg="mod">
          <ac:chgData name="Sanjay bhargav" userId="a7b4d1a002f3d6b9" providerId="LiveId" clId="{CB3CD8F0-505C-4A39-9E9F-1A002F0DBC39}" dt="2026-08-19T12:15:20.381" v="49" actId="113"/>
          <ac:spMkLst>
            <pc:docMk/>
            <pc:sldMk cId="0" sldId="257"/>
            <ac:spMk id="95" creationId="{00000000-0000-0000-0000-000000000000}"/>
          </ac:spMkLst>
        </pc:spChg>
      </pc:sldChg>
      <pc:sldChg chg="modSp">
        <pc:chgData name="Sanjay bhargav" userId="a7b4d1a002f3d6b9" providerId="LiveId" clId="{CB3CD8F0-505C-4A39-9E9F-1A002F0DBC39}" dt="2026-08-18T19:42:06.295" v="14"/>
        <pc:sldMkLst>
          <pc:docMk/>
          <pc:sldMk cId="1614328629" sldId="272"/>
        </pc:sldMkLst>
        <pc:spChg chg="mod">
          <ac:chgData name="Sanjay bhargav" userId="a7b4d1a002f3d6b9" providerId="LiveId" clId="{CB3CD8F0-505C-4A39-9E9F-1A002F0DBC39}" dt="2026-08-18T19:42:06.295" v="14"/>
          <ac:spMkLst>
            <pc:docMk/>
            <pc:sldMk cId="1614328629" sldId="272"/>
            <ac:spMk id="2" creationId="{9F162747-8065-AF04-C346-B98328E257B6}"/>
          </ac:spMkLst>
        </pc:spChg>
        <pc:spChg chg="mod">
          <ac:chgData name="Sanjay bhargav" userId="a7b4d1a002f3d6b9" providerId="LiveId" clId="{CB3CD8F0-505C-4A39-9E9F-1A002F0DBC39}" dt="2026-08-18T19:42:06.295" v="14"/>
          <ac:spMkLst>
            <pc:docMk/>
            <pc:sldMk cId="1614328629" sldId="272"/>
            <ac:spMk id="3" creationId="{723B8255-B03E-C394-248E-B1C80265D9F2}"/>
          </ac:spMkLst>
        </pc:spChg>
      </pc:sldChg>
      <pc:sldChg chg="modSp">
        <pc:chgData name="Sanjay bhargav" userId="a7b4d1a002f3d6b9" providerId="LiveId" clId="{CB3CD8F0-505C-4A39-9E9F-1A002F0DBC39}" dt="2026-08-18T19:42:06.295" v="14"/>
        <pc:sldMkLst>
          <pc:docMk/>
          <pc:sldMk cId="2532992144" sldId="273"/>
        </pc:sldMkLst>
        <pc:spChg chg="mod">
          <ac:chgData name="Sanjay bhargav" userId="a7b4d1a002f3d6b9" providerId="LiveId" clId="{CB3CD8F0-505C-4A39-9E9F-1A002F0DBC39}" dt="2026-08-18T19:42:06.295" v="14"/>
          <ac:spMkLst>
            <pc:docMk/>
            <pc:sldMk cId="2532992144" sldId="273"/>
            <ac:spMk id="2" creationId="{A362C0C2-6C7A-5868-2E94-955C0A573354}"/>
          </ac:spMkLst>
        </pc:spChg>
        <pc:spChg chg="mod">
          <ac:chgData name="Sanjay bhargav" userId="a7b4d1a002f3d6b9" providerId="LiveId" clId="{CB3CD8F0-505C-4A39-9E9F-1A002F0DBC39}" dt="2026-08-18T19:42:06.295" v="14"/>
          <ac:spMkLst>
            <pc:docMk/>
            <pc:sldMk cId="2532992144" sldId="273"/>
            <ac:spMk id="3" creationId="{81D065D2-FC12-579A-B2E0-5C912D93B226}"/>
          </ac:spMkLst>
        </pc:spChg>
      </pc:sldChg>
      <pc:sldChg chg="addSp delSp modSp new del mod">
        <pc:chgData name="Sanjay bhargav" userId="a7b4d1a002f3d6b9" providerId="LiveId" clId="{CB3CD8F0-505C-4A39-9E9F-1A002F0DBC39}" dt="2026-08-18T19:42:10.201" v="15" actId="47"/>
        <pc:sldMkLst>
          <pc:docMk/>
          <pc:sldMk cId="2073738963" sldId="274"/>
        </pc:sldMkLst>
        <pc:spChg chg="mod">
          <ac:chgData name="Sanjay bhargav" userId="a7b4d1a002f3d6b9" providerId="LiveId" clId="{CB3CD8F0-505C-4A39-9E9F-1A002F0DBC39}" dt="2026-08-18T19:42:06.295" v="14"/>
          <ac:spMkLst>
            <pc:docMk/>
            <pc:sldMk cId="2073738963" sldId="274"/>
            <ac:spMk id="2" creationId="{4D3DD1B2-B6F7-C5FF-66C9-1CE894B0AFC1}"/>
          </ac:spMkLst>
        </pc:spChg>
        <pc:spChg chg="del mod">
          <ac:chgData name="Sanjay bhargav" userId="a7b4d1a002f3d6b9" providerId="LiveId" clId="{CB3CD8F0-505C-4A39-9E9F-1A002F0DBC39}" dt="2026-08-18T19:41:35.669" v="12"/>
          <ac:spMkLst>
            <pc:docMk/>
            <pc:sldMk cId="2073738963" sldId="274"/>
            <ac:spMk id="3" creationId="{4448DC61-7B9F-CFCE-AAA5-1F4B2BEFD4A2}"/>
          </ac:spMkLst>
        </pc:spChg>
        <pc:spChg chg="add mod">
          <ac:chgData name="Sanjay bhargav" userId="a7b4d1a002f3d6b9" providerId="LiveId" clId="{CB3CD8F0-505C-4A39-9E9F-1A002F0DBC39}" dt="2026-08-18T19:42:06.295" v="14"/>
          <ac:spMkLst>
            <pc:docMk/>
            <pc:sldMk cId="2073738963" sldId="274"/>
            <ac:spMk id="7" creationId="{A70B30DD-85CF-F8C0-A12B-29C8F0D0B687}"/>
          </ac:spMkLst>
        </pc:spChg>
        <pc:picChg chg="add del mod ord">
          <ac:chgData name="Sanjay bhargav" userId="a7b4d1a002f3d6b9" providerId="LiveId" clId="{CB3CD8F0-505C-4A39-9E9F-1A002F0DBC39}" dt="2026-08-18T19:41:39.031" v="13" actId="478"/>
          <ac:picMkLst>
            <pc:docMk/>
            <pc:sldMk cId="2073738963" sldId="274"/>
            <ac:picMk id="5" creationId="{E6501319-13D3-E9B0-E329-00343662FF19}"/>
          </ac:picMkLst>
        </pc:picChg>
      </pc:sldChg>
      <pc:sldMasterChg chg="modTransition modSldLayout">
        <pc:chgData name="Sanjay bhargav" userId="a7b4d1a002f3d6b9" providerId="LiveId" clId="{CB3CD8F0-505C-4A39-9E9F-1A002F0DBC39}" dt="2026-08-18T19:30:47.118" v="0"/>
        <pc:sldMasterMkLst>
          <pc:docMk/>
          <pc:sldMasterMk cId="3586726833" sldId="2147483887"/>
        </pc:sldMasterMkLst>
        <pc:sldLayoutChg chg="delSp">
          <pc:chgData name="Sanjay bhargav" userId="a7b4d1a002f3d6b9" providerId="LiveId" clId="{CB3CD8F0-505C-4A39-9E9F-1A002F0DBC39}" dt="2026-08-18T19:30:47.118" v="0"/>
          <pc:sldLayoutMkLst>
            <pc:docMk/>
            <pc:sldMasterMk cId="3586726833" sldId="2147483887"/>
            <pc:sldLayoutMk cId="4063203456" sldId="2147483900"/>
          </pc:sldLayoutMkLst>
          <pc:picChg chg="del">
            <ac:chgData name="Sanjay bhargav" userId="a7b4d1a002f3d6b9" providerId="LiveId" clId="{CB3CD8F0-505C-4A39-9E9F-1A002F0DBC39}" dt="2026-08-18T19:30:47.118" v="0"/>
            <ac:picMkLst>
              <pc:docMk/>
              <pc:sldMasterMk cId="3586726833" sldId="2147483887"/>
              <pc:sldLayoutMk cId="4063203456" sldId="2147483900"/>
              <ac:picMk id="7" creationId="{D29E0058-93A2-5291-6ACA-A0430862664F}"/>
            </ac:picMkLst>
          </pc:picChg>
        </pc:sldLayoutChg>
      </pc:sldMasterChg>
      <pc:sldMasterChg chg="modTransition">
        <pc:chgData name="Sanjay bhargav" userId="a7b4d1a002f3d6b9" providerId="LiveId" clId="{CB3CD8F0-505C-4A39-9E9F-1A002F0DBC39}" dt="2026-08-18T19:30:53.730" v="1"/>
        <pc:sldMasterMkLst>
          <pc:docMk/>
          <pc:sldMasterMk cId="779029187" sldId="2147483901"/>
        </pc:sldMasterMkLst>
      </pc:sldMasterChg>
      <pc:sldMasterChg chg="modTransition modSldLayout">
        <pc:chgData name="Sanjay bhargav" userId="a7b4d1a002f3d6b9" providerId="LiveId" clId="{CB3CD8F0-505C-4A39-9E9F-1A002F0DBC39}" dt="2026-08-18T19:30:59.476" v="2"/>
        <pc:sldMasterMkLst>
          <pc:docMk/>
          <pc:sldMasterMk cId="3227574438" sldId="2147483930"/>
        </pc:sldMasterMkLst>
        <pc:sldLayoutChg chg="delSp">
          <pc:chgData name="Sanjay bhargav" userId="a7b4d1a002f3d6b9" providerId="LiveId" clId="{CB3CD8F0-505C-4A39-9E9F-1A002F0DBC39}" dt="2026-08-18T19:30:59.476" v="2"/>
          <pc:sldLayoutMkLst>
            <pc:docMk/>
            <pc:sldMasterMk cId="3227574438" sldId="2147483930"/>
            <pc:sldLayoutMk cId="1172987936" sldId="2147483943"/>
          </pc:sldLayoutMkLst>
          <pc:spChg chg="del">
            <ac:chgData name="Sanjay bhargav" userId="a7b4d1a002f3d6b9" providerId="LiveId" clId="{CB3CD8F0-505C-4A39-9E9F-1A002F0DBC39}" dt="2026-08-18T19:30:59.476" v="2"/>
            <ac:spMkLst>
              <pc:docMk/>
              <pc:sldMasterMk cId="3227574438" sldId="2147483930"/>
              <pc:sldLayoutMk cId="1172987936" sldId="2147483943"/>
              <ac:spMk id="11" creationId="{6D514160-DA6E-9655-9294-6538F297B73D}"/>
            </ac:spMkLst>
          </pc:spChg>
          <pc:spChg chg="del">
            <ac:chgData name="Sanjay bhargav" userId="a7b4d1a002f3d6b9" providerId="LiveId" clId="{CB3CD8F0-505C-4A39-9E9F-1A002F0DBC39}" dt="2026-08-18T19:30:59.476" v="2"/>
            <ac:spMkLst>
              <pc:docMk/>
              <pc:sldMasterMk cId="3227574438" sldId="2147483930"/>
              <pc:sldLayoutMk cId="1172987936" sldId="2147483943"/>
              <ac:spMk id="12" creationId="{B2EC29EB-3E43-F1FF-EB6B-9F5C908FFCC8}"/>
            </ac:spMkLst>
          </pc:spChg>
        </pc:sldLayoutChg>
      </pc:sldMasterChg>
      <pc:sldMasterChg chg="modTransition">
        <pc:chgData name="Sanjay bhargav" userId="a7b4d1a002f3d6b9" providerId="LiveId" clId="{CB3CD8F0-505C-4A39-9E9F-1A002F0DBC39}" dt="2026-08-18T19:41:08.994" v="3"/>
        <pc:sldMasterMkLst>
          <pc:docMk/>
          <pc:sldMasterMk cId="3116675292" sldId="2147483944"/>
        </pc:sldMasterMkLst>
      </pc:sldMasterChg>
      <pc:sldMasterChg chg="modTransition">
        <pc:chgData name="Sanjay bhargav" userId="a7b4d1a002f3d6b9" providerId="LiveId" clId="{CB3CD8F0-505C-4A39-9E9F-1A002F0DBC39}" dt="2026-08-18T19:41:26.244" v="5"/>
        <pc:sldMasterMkLst>
          <pc:docMk/>
          <pc:sldMasterMk cId="3719914897" sldId="2147483973"/>
        </pc:sldMasterMkLst>
      </pc:sldMasterChg>
      <pc:sldMasterChg chg="modTransition modSldLayout">
        <pc:chgData name="Sanjay bhargav" userId="a7b4d1a002f3d6b9" providerId="LiveId" clId="{CB3CD8F0-505C-4A39-9E9F-1A002F0DBC39}" dt="2026-08-18T19:41:27.384" v="6"/>
        <pc:sldMasterMkLst>
          <pc:docMk/>
          <pc:sldMasterMk cId="1575960441" sldId="2147484003"/>
        </pc:sldMasterMkLst>
        <pc:sldLayoutChg chg="delSp">
          <pc:chgData name="Sanjay bhargav" userId="a7b4d1a002f3d6b9" providerId="LiveId" clId="{CB3CD8F0-505C-4A39-9E9F-1A002F0DBC39}" dt="2026-08-18T19:41:27.384" v="6"/>
          <pc:sldLayoutMkLst>
            <pc:docMk/>
            <pc:sldMasterMk cId="1575960441" sldId="2147484003"/>
            <pc:sldLayoutMk cId="1978115083" sldId="2147484016"/>
          </pc:sldLayoutMkLst>
          <pc:picChg chg="del">
            <ac:chgData name="Sanjay bhargav" userId="a7b4d1a002f3d6b9" providerId="LiveId" clId="{CB3CD8F0-505C-4A39-9E9F-1A002F0DBC39}" dt="2026-08-18T19:41:27.384" v="6"/>
            <ac:picMkLst>
              <pc:docMk/>
              <pc:sldMasterMk cId="1575960441" sldId="2147484003"/>
              <pc:sldLayoutMk cId="1978115083" sldId="2147484016"/>
              <ac:picMk id="7" creationId="{D29E0058-93A2-5291-6ACA-A0430862664F}"/>
            </ac:picMkLst>
          </pc:picChg>
        </pc:sldLayoutChg>
      </pc:sldMasterChg>
      <pc:sldMasterChg chg="modTransition">
        <pc:chgData name="Sanjay bhargav" userId="a7b4d1a002f3d6b9" providerId="LiveId" clId="{CB3CD8F0-505C-4A39-9E9F-1A002F0DBC39}" dt="2026-08-18T19:41:29.087" v="7"/>
        <pc:sldMasterMkLst>
          <pc:docMk/>
          <pc:sldMasterMk cId="3056227544" sldId="2147484017"/>
        </pc:sldMasterMkLst>
      </pc:sldMasterChg>
      <pc:sldMasterChg chg="modTransition">
        <pc:chgData name="Sanjay bhargav" userId="a7b4d1a002f3d6b9" providerId="LiveId" clId="{CB3CD8F0-505C-4A39-9E9F-1A002F0DBC39}" dt="2026-08-18T19:41:30.163" v="8"/>
        <pc:sldMasterMkLst>
          <pc:docMk/>
          <pc:sldMasterMk cId="111098434" sldId="2147484046"/>
        </pc:sldMasterMkLst>
      </pc:sldMasterChg>
      <pc:sldMasterChg chg="modTransition">
        <pc:chgData name="Sanjay bhargav" userId="a7b4d1a002f3d6b9" providerId="LiveId" clId="{CB3CD8F0-505C-4A39-9E9F-1A002F0DBC39}" dt="2026-08-18T19:41:31.084" v="9"/>
        <pc:sldMasterMkLst>
          <pc:docMk/>
          <pc:sldMasterMk cId="2535171132" sldId="2147484075"/>
        </pc:sldMasterMkLst>
      </pc:sldMasterChg>
      <pc:sldMasterChg chg="modTransition">
        <pc:chgData name="Sanjay bhargav" userId="a7b4d1a002f3d6b9" providerId="LiveId" clId="{CB3CD8F0-505C-4A39-9E9F-1A002F0DBC39}" dt="2026-08-18T19:41:32.196" v="10"/>
        <pc:sldMasterMkLst>
          <pc:docMk/>
          <pc:sldMasterMk cId="1800398510" sldId="2147484104"/>
        </pc:sldMasterMkLst>
      </pc:sldMasterChg>
      <pc:sldMasterChg chg="modTransition">
        <pc:chgData name="Sanjay bhargav" userId="a7b4d1a002f3d6b9" providerId="LiveId" clId="{CB3CD8F0-505C-4A39-9E9F-1A002F0DBC39}" dt="2026-08-18T19:42:06.295" v="14"/>
        <pc:sldMasterMkLst>
          <pc:docMk/>
          <pc:sldMasterMk cId="363459579" sldId="2147484123"/>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f75e15c3bc_170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3f75e15c3bc_17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f75e15c3bc_71_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f75e15c3bc_71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75e15c3bc_2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75e15c3bc_2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f75e15c3bc_2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f75e15c3bc_2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f75e15c3bc_2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f75e15c3bc_2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f75e15c3bc_2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f75e15c3bc_2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f75e15c3bc_2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f75e15c3bc_2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f75e15c3bc_2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f75e15c3bc_2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f75e15c3bc_2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f75e15c3bc_2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f75e15c3bc_1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f75e15c3bc_1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f75e15c3bc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f75e15c3bc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f75e15c3bc_1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f75e15c3bc_1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f75e15c3bc_1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3f75e15c3bc_1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f75e15c3bc_1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3f75e15c3bc_1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35DC-F064-8927-9AC9-3CED2876C26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5363AE4-9394-E3D3-FEE9-C7F07933D71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444746-9869-349F-5088-C8C3B9791658}"/>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5" name="Footer Placeholder 4">
            <a:extLst>
              <a:ext uri="{FF2B5EF4-FFF2-40B4-BE49-F238E27FC236}">
                <a16:creationId xmlns:a16="http://schemas.microsoft.com/office/drawing/2014/main" id="{29EA27AF-82C6-4FB5-2317-D810846AEE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09DA0-242F-CE83-8549-ADDEB3B12F3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620573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28650-FEA4-02C8-6541-B6E3E74C76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795700-5632-BB94-8A9F-F06F6E9D7C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7FA9A-EE41-EA32-330A-D3EC29EFC0B0}"/>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5" name="Footer Placeholder 4">
            <a:extLst>
              <a:ext uri="{FF2B5EF4-FFF2-40B4-BE49-F238E27FC236}">
                <a16:creationId xmlns:a16="http://schemas.microsoft.com/office/drawing/2014/main" id="{F89CC298-9B58-2B46-70CD-03A575A802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99BAF7-CD2D-D2D1-8204-4F61B59D342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4203823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722C-809E-4678-D5F1-AAD51333F0FB}"/>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34D086-C134-3231-CCAF-4ED6D52CC838}"/>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3B02CD-74A4-D7BB-246D-A83C93949CAC}"/>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5" name="Footer Placeholder 4">
            <a:extLst>
              <a:ext uri="{FF2B5EF4-FFF2-40B4-BE49-F238E27FC236}">
                <a16:creationId xmlns:a16="http://schemas.microsoft.com/office/drawing/2014/main" id="{C0C6124E-A3F1-3FD9-B4A4-7B569078D5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3100B-2486-E4DA-0C61-7707A090C0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322173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BDA8-F0AA-3FA9-CC07-7D296A3344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7135F2-B470-16C8-3B44-1C094E4D6BC3}"/>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03F2A6-CF0B-3288-DF28-3750D071B0D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085768-1CE9-1EA1-B9A0-705018C3A331}"/>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6" name="Footer Placeholder 5">
            <a:extLst>
              <a:ext uri="{FF2B5EF4-FFF2-40B4-BE49-F238E27FC236}">
                <a16:creationId xmlns:a16="http://schemas.microsoft.com/office/drawing/2014/main" id="{46AAC7DB-5EB6-8880-53BE-A831CE84A0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22FB1C-C7CF-B7B2-6889-86284FD137F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6167800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FDE9-58CA-2DCD-7081-F6F5E6BFD8AD}"/>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DE3086-C4B3-3E86-B5ED-C8D0EFDDB79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4927815-5B46-B77C-95C4-9B5E3A5BFFB8}"/>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AF2CCB-61EF-D42C-72C9-22FE7C4E5F6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A151D9E-25DA-6B45-7081-3FAA66DCFA5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B4FD32-FAC6-9E8C-6E57-2C555C0E581D}"/>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8" name="Footer Placeholder 7">
            <a:extLst>
              <a:ext uri="{FF2B5EF4-FFF2-40B4-BE49-F238E27FC236}">
                <a16:creationId xmlns:a16="http://schemas.microsoft.com/office/drawing/2014/main" id="{70C67D4C-C9FF-6F3C-7992-66A7661386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4EDAB9-AFBB-4AE8-8121-8B9B0FC2F8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5761392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F619-EB16-4CAA-4B37-160D777235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7DB587-534E-6466-8502-52129BC2BC11}"/>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4" name="Footer Placeholder 3">
            <a:extLst>
              <a:ext uri="{FF2B5EF4-FFF2-40B4-BE49-F238E27FC236}">
                <a16:creationId xmlns:a16="http://schemas.microsoft.com/office/drawing/2014/main" id="{F9F1CD90-2D7E-AFC7-6EAC-9B6345CB69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BC7ED4-790A-D213-7499-635DC1B0FBE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965676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3E431E-D801-CB12-E5CB-E47674A07A94}"/>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3" name="Footer Placeholder 2">
            <a:extLst>
              <a:ext uri="{FF2B5EF4-FFF2-40B4-BE49-F238E27FC236}">
                <a16:creationId xmlns:a16="http://schemas.microsoft.com/office/drawing/2014/main" id="{2C90DFB2-F76F-5ADC-54EF-812CDCADFF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BA7C0-6E74-7BC9-1249-0C116B9AE4E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2204492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6F951-191B-0E27-4E5F-972790A128D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8E5A42-4867-C865-CC59-C20391B1C49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D69512-1A90-4E64-6207-752443D9399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AD3A4BD-E8B9-59D8-6B58-8DD05EBCD0BF}"/>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6" name="Footer Placeholder 5">
            <a:extLst>
              <a:ext uri="{FF2B5EF4-FFF2-40B4-BE49-F238E27FC236}">
                <a16:creationId xmlns:a16="http://schemas.microsoft.com/office/drawing/2014/main" id="{21883CC5-ACD2-D220-A4EE-9702D07176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2E159-FDFC-34E2-3E7D-A2A7A3DC90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753273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19DA4-E33E-1A36-2EB9-424AD5F13C4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41626F-32FF-E853-574E-847D6936F22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838798B8-2F89-1AC6-EC4B-F00E8E5B94B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51A2607-275E-650B-35F4-633936A9E142}"/>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6" name="Footer Placeholder 5">
            <a:extLst>
              <a:ext uri="{FF2B5EF4-FFF2-40B4-BE49-F238E27FC236}">
                <a16:creationId xmlns:a16="http://schemas.microsoft.com/office/drawing/2014/main" id="{81B19749-3271-B6BE-9BFA-1844031FD8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ED20EA-B4F8-D755-6FB0-1BD998F2932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988293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D6B1-A8C3-4B4F-3DE0-FF3F36C7FC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DF05FC-D22F-7188-E33B-3BA61C978D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A71947-A261-27B9-673A-FE07A253B88E}"/>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5" name="Footer Placeholder 4">
            <a:extLst>
              <a:ext uri="{FF2B5EF4-FFF2-40B4-BE49-F238E27FC236}">
                <a16:creationId xmlns:a16="http://schemas.microsoft.com/office/drawing/2014/main" id="{376281B1-141F-3754-ED4F-108CF834E9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0D140A-6074-5A01-A389-93E63273954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825730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9FC1CA-3CAA-F0A3-940B-DC4FB1996DC2}"/>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F4F658-3468-D81F-193C-7526A1895C8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0EA780-F89F-84AB-633B-58710195178C}"/>
              </a:ext>
            </a:extLst>
          </p:cNvPr>
          <p:cNvSpPr>
            <a:spLocks noGrp="1"/>
          </p:cNvSpPr>
          <p:nvPr>
            <p:ph type="dt" sz="half" idx="10"/>
          </p:nvPr>
        </p:nvSpPr>
        <p:spPr/>
        <p:txBody>
          <a:bodyPr/>
          <a:lstStyle/>
          <a:p>
            <a:fld id="{E09A192A-2E7D-42D0-888E-9680CC979C2A}" type="datetimeFigureOut">
              <a:rPr lang="en-IN" smtClean="0"/>
              <a:t>19-08-2026</a:t>
            </a:fld>
            <a:endParaRPr lang="en-IN"/>
          </a:p>
        </p:txBody>
      </p:sp>
      <p:sp>
        <p:nvSpPr>
          <p:cNvPr id="5" name="Footer Placeholder 4">
            <a:extLst>
              <a:ext uri="{FF2B5EF4-FFF2-40B4-BE49-F238E27FC236}">
                <a16:creationId xmlns:a16="http://schemas.microsoft.com/office/drawing/2014/main" id="{CA519109-D607-CEB4-808E-69C8D5A4AB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4B7F6F-BC9B-0C62-7322-B6D16D3B5B3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131747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f75e15c3bc_14_0)">
  <p:cSld name="Generated (g3f75e15c3bc_14_0)">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1266245632"/>
      </p:ext>
    </p:extLst>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A08BFA-0F83-222B-0526-293FBBC30EF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150C9C-B940-A264-466B-12D82686067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A120DD-00A1-AD9B-26C2-BBC471D122A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E09A192A-2E7D-42D0-888E-9680CC979C2A}" type="datetimeFigureOut">
              <a:rPr lang="en-IN" smtClean="0"/>
              <a:t>19-08-2026</a:t>
            </a:fld>
            <a:endParaRPr lang="en-IN"/>
          </a:p>
        </p:txBody>
      </p:sp>
      <p:sp>
        <p:nvSpPr>
          <p:cNvPr id="5" name="Footer Placeholder 4">
            <a:extLst>
              <a:ext uri="{FF2B5EF4-FFF2-40B4-BE49-F238E27FC236}">
                <a16:creationId xmlns:a16="http://schemas.microsoft.com/office/drawing/2014/main" id="{28EC202B-C557-BC66-9357-8A42778D4CD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3D1DDE7-5A56-0330-021D-3C25185BB9D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3459579"/>
      </p:ext>
    </p:extLst>
  </p:cSld>
  <p:clrMap bg1="lt1" tx1="dk1" bg2="lt2" tx2="dk2" accent1="accent1" accent2="accent2" accent3="accent3" accent4="accent4" accent5="accent5" accent6="accent6" hlink="hlink" folHlink="folHlink"/>
  <p:sldLayoutIdLst>
    <p:sldLayoutId id="2147484124" r:id="rId1"/>
    <p:sldLayoutId id="2147484125" r:id="rId2"/>
    <p:sldLayoutId id="2147484126" r:id="rId3"/>
    <p:sldLayoutId id="2147484127" r:id="rId4"/>
    <p:sldLayoutId id="2147484128" r:id="rId5"/>
    <p:sldLayoutId id="2147484129" r:id="rId6"/>
    <p:sldLayoutId id="2147484130" r:id="rId7"/>
    <p:sldLayoutId id="2147484131" r:id="rId8"/>
    <p:sldLayoutId id="2147484132" r:id="rId9"/>
    <p:sldLayoutId id="2147484133" r:id="rId10"/>
    <p:sldLayoutId id="2147484134" r:id="rId11"/>
    <p:sldLayoutId id="2147484135" r:id="rId12"/>
  </p:sldLayoutIdLst>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55" name="Google Shape;55;p14" descr="based on the slide 1 make a good disgen"/>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5"/>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61" name="Google Shape;61;p15"/>
          <p:cNvGrpSpPr/>
          <p:nvPr/>
        </p:nvGrpSpPr>
        <p:grpSpPr>
          <a:xfrm>
            <a:off x="0" y="0"/>
            <a:ext cx="9144000" cy="5143500"/>
            <a:chOff x="0" y="0"/>
            <a:chExt cx="9144000" cy="5143500"/>
          </a:xfrm>
        </p:grpSpPr>
        <p:cxnSp>
          <p:nvCxnSpPr>
            <p:cNvPr id="62" name="Google Shape;62;p15"/>
            <p:cNvCxnSpPr/>
            <p:nvPr/>
          </p:nvCxnSpPr>
          <p:spPr>
            <a:xfrm>
              <a:off x="762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3" name="Google Shape;63;p15"/>
            <p:cNvCxnSpPr/>
            <p:nvPr/>
          </p:nvCxnSpPr>
          <p:spPr>
            <a:xfrm>
              <a:off x="1905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4" name="Google Shape;64;p15"/>
            <p:cNvCxnSpPr/>
            <p:nvPr/>
          </p:nvCxnSpPr>
          <p:spPr>
            <a:xfrm>
              <a:off x="3048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5" name="Google Shape;65;p15"/>
            <p:cNvCxnSpPr/>
            <p:nvPr/>
          </p:nvCxnSpPr>
          <p:spPr>
            <a:xfrm>
              <a:off x="4191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6" name="Google Shape;66;p15"/>
            <p:cNvCxnSpPr/>
            <p:nvPr/>
          </p:nvCxnSpPr>
          <p:spPr>
            <a:xfrm>
              <a:off x="5334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7" name="Google Shape;67;p15"/>
            <p:cNvCxnSpPr/>
            <p:nvPr/>
          </p:nvCxnSpPr>
          <p:spPr>
            <a:xfrm>
              <a:off x="6477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8" name="Google Shape;68;p15"/>
            <p:cNvCxnSpPr/>
            <p:nvPr/>
          </p:nvCxnSpPr>
          <p:spPr>
            <a:xfrm>
              <a:off x="7620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69" name="Google Shape;69;p15"/>
            <p:cNvCxnSpPr/>
            <p:nvPr/>
          </p:nvCxnSpPr>
          <p:spPr>
            <a:xfrm>
              <a:off x="8382000" y="0"/>
              <a:ext cx="0" cy="514350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70" name="Google Shape;70;p15"/>
            <p:cNvCxnSpPr/>
            <p:nvPr/>
          </p:nvCxnSpPr>
          <p:spPr>
            <a:xfrm>
              <a:off x="0" y="762000"/>
              <a:ext cx="9144000" cy="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71" name="Google Shape;71;p15"/>
            <p:cNvCxnSpPr/>
            <p:nvPr/>
          </p:nvCxnSpPr>
          <p:spPr>
            <a:xfrm>
              <a:off x="0" y="1905000"/>
              <a:ext cx="9144000" cy="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72" name="Google Shape;72;p15"/>
            <p:cNvCxnSpPr/>
            <p:nvPr/>
          </p:nvCxnSpPr>
          <p:spPr>
            <a:xfrm>
              <a:off x="0" y="3048000"/>
              <a:ext cx="9144000" cy="0"/>
            </a:xfrm>
            <a:prstGeom prst="straightConnector1">
              <a:avLst/>
            </a:prstGeom>
            <a:solidFill>
              <a:srgbClr val="FFFFFF"/>
            </a:solidFill>
            <a:ln w="4775" cap="flat" cmpd="sng">
              <a:solidFill>
                <a:srgbClr val="E5E7EB"/>
              </a:solidFill>
              <a:prstDash val="solid"/>
              <a:round/>
              <a:headEnd type="none" w="sm" len="sm"/>
              <a:tailEnd type="none" w="sm" len="sm"/>
            </a:ln>
          </p:spPr>
        </p:cxnSp>
        <p:cxnSp>
          <p:nvCxnSpPr>
            <p:cNvPr id="73" name="Google Shape;73;p15"/>
            <p:cNvCxnSpPr/>
            <p:nvPr/>
          </p:nvCxnSpPr>
          <p:spPr>
            <a:xfrm>
              <a:off x="0" y="4191000"/>
              <a:ext cx="9144000" cy="0"/>
            </a:xfrm>
            <a:prstGeom prst="straightConnector1">
              <a:avLst/>
            </a:prstGeom>
            <a:solidFill>
              <a:srgbClr val="FFFFFF"/>
            </a:solidFill>
            <a:ln w="4775" cap="flat" cmpd="sng">
              <a:solidFill>
                <a:srgbClr val="E5E7EB"/>
              </a:solidFill>
              <a:prstDash val="solid"/>
              <a:round/>
              <a:headEnd type="none" w="sm" len="sm"/>
              <a:tailEnd type="none" w="sm" len="sm"/>
            </a:ln>
          </p:spPr>
        </p:cxnSp>
      </p:grpSp>
      <p:grpSp>
        <p:nvGrpSpPr>
          <p:cNvPr id="74" name="Google Shape;74;p15"/>
          <p:cNvGrpSpPr/>
          <p:nvPr/>
        </p:nvGrpSpPr>
        <p:grpSpPr>
          <a:xfrm>
            <a:off x="381000" y="381000"/>
            <a:ext cx="8382000" cy="4381500"/>
            <a:chOff x="381000" y="381000"/>
            <a:chExt cx="8382000" cy="4381500"/>
          </a:xfrm>
        </p:grpSpPr>
        <p:cxnSp>
          <p:nvCxnSpPr>
            <p:cNvPr id="75" name="Google Shape;75;p15"/>
            <p:cNvCxnSpPr/>
            <p:nvPr/>
          </p:nvCxnSpPr>
          <p:spPr>
            <a:xfrm>
              <a:off x="381000" y="381000"/>
              <a:ext cx="381000" cy="0"/>
            </a:xfrm>
            <a:prstGeom prst="straightConnector1">
              <a:avLst/>
            </a:prstGeom>
            <a:solidFill>
              <a:srgbClr val="FFFFFF"/>
            </a:solidFill>
            <a:ln w="38100" cap="flat" cmpd="sng">
              <a:solidFill>
                <a:srgbClr val="2563EB"/>
              </a:solidFill>
              <a:prstDash val="solid"/>
              <a:round/>
              <a:headEnd type="none" w="sm" len="sm"/>
              <a:tailEnd type="none" w="sm" len="sm"/>
            </a:ln>
          </p:spPr>
        </p:cxnSp>
        <p:cxnSp>
          <p:nvCxnSpPr>
            <p:cNvPr id="76" name="Google Shape;76;p15"/>
            <p:cNvCxnSpPr/>
            <p:nvPr/>
          </p:nvCxnSpPr>
          <p:spPr>
            <a:xfrm>
              <a:off x="381000" y="381000"/>
              <a:ext cx="0" cy="381000"/>
            </a:xfrm>
            <a:prstGeom prst="straightConnector1">
              <a:avLst/>
            </a:prstGeom>
            <a:solidFill>
              <a:srgbClr val="FFFFFF"/>
            </a:solidFill>
            <a:ln w="38100" cap="flat" cmpd="sng">
              <a:solidFill>
                <a:srgbClr val="2563EB"/>
              </a:solidFill>
              <a:prstDash val="solid"/>
              <a:round/>
              <a:headEnd type="none" w="sm" len="sm"/>
              <a:tailEnd type="none" w="sm" len="sm"/>
            </a:ln>
          </p:spPr>
        </p:cxnSp>
        <p:cxnSp>
          <p:nvCxnSpPr>
            <p:cNvPr id="77" name="Google Shape;77;p15"/>
            <p:cNvCxnSpPr/>
            <p:nvPr/>
          </p:nvCxnSpPr>
          <p:spPr>
            <a:xfrm rot="10800000">
              <a:off x="8382000" y="4762500"/>
              <a:ext cx="381000" cy="0"/>
            </a:xfrm>
            <a:prstGeom prst="straightConnector1">
              <a:avLst/>
            </a:prstGeom>
            <a:solidFill>
              <a:srgbClr val="FFFFFF"/>
            </a:solidFill>
            <a:ln w="38100" cap="flat" cmpd="sng">
              <a:solidFill>
                <a:srgbClr val="2563EB"/>
              </a:solidFill>
              <a:prstDash val="solid"/>
              <a:round/>
              <a:headEnd type="none" w="sm" len="sm"/>
              <a:tailEnd type="none" w="sm" len="sm"/>
            </a:ln>
          </p:spPr>
        </p:cxnSp>
        <p:cxnSp>
          <p:nvCxnSpPr>
            <p:cNvPr id="78" name="Google Shape;78;p15"/>
            <p:cNvCxnSpPr/>
            <p:nvPr/>
          </p:nvCxnSpPr>
          <p:spPr>
            <a:xfrm rot="10800000">
              <a:off x="8763000" y="4381500"/>
              <a:ext cx="0" cy="381000"/>
            </a:xfrm>
            <a:prstGeom prst="straightConnector1">
              <a:avLst/>
            </a:prstGeom>
            <a:solidFill>
              <a:srgbClr val="FFFFFF"/>
            </a:solidFill>
            <a:ln w="38100" cap="flat" cmpd="sng">
              <a:solidFill>
                <a:srgbClr val="2563EB"/>
              </a:solidFill>
              <a:prstDash val="solid"/>
              <a:round/>
              <a:headEnd type="none" w="sm" len="sm"/>
              <a:tailEnd type="none" w="sm" len="sm"/>
            </a:ln>
          </p:spPr>
        </p:cxnSp>
      </p:grpSp>
      <p:sp>
        <p:nvSpPr>
          <p:cNvPr id="79" name="Google Shape;79;p15"/>
          <p:cNvSpPr/>
          <p:nvPr/>
        </p:nvSpPr>
        <p:spPr>
          <a:xfrm>
            <a:off x="666750" y="952500"/>
            <a:ext cx="190500" cy="190500"/>
          </a:xfrm>
          <a:custGeom>
            <a:avLst/>
            <a:gdLst/>
            <a:ahLst/>
            <a:cxnLst/>
            <a:rect l="l" t="t" r="r" b="b"/>
            <a:pathLst>
              <a:path w="120000" h="120000" fill="none" extrusionOk="0">
                <a:moveTo>
                  <a:pt x="0" y="60000"/>
                </a:moveTo>
                <a:lnTo>
                  <a:pt x="120000" y="60000"/>
                </a:lnTo>
                <a:moveTo>
                  <a:pt x="60000" y="0"/>
                </a:moveTo>
                <a:lnTo>
                  <a:pt x="60000" y="120000"/>
                </a:lnTo>
              </a:path>
            </a:pathLst>
          </a:custGeom>
          <a:solidFill>
            <a:srgbClr val="FFFFFF"/>
          </a:solidFill>
          <a:ln w="9525" cap="flat" cmpd="sng">
            <a:solidFill>
              <a:srgbClr val="2563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 name="Google Shape;80;p15"/>
          <p:cNvSpPr/>
          <p:nvPr/>
        </p:nvSpPr>
        <p:spPr>
          <a:xfrm>
            <a:off x="8477250" y="952500"/>
            <a:ext cx="190500" cy="190500"/>
          </a:xfrm>
          <a:custGeom>
            <a:avLst/>
            <a:gdLst/>
            <a:ahLst/>
            <a:cxnLst/>
            <a:rect l="l" t="t" r="r" b="b"/>
            <a:pathLst>
              <a:path w="120000" h="120000" fill="none" extrusionOk="0">
                <a:moveTo>
                  <a:pt x="0" y="60000"/>
                </a:moveTo>
                <a:lnTo>
                  <a:pt x="120000" y="60000"/>
                </a:lnTo>
                <a:moveTo>
                  <a:pt x="60000" y="0"/>
                </a:moveTo>
                <a:lnTo>
                  <a:pt x="60000" y="120000"/>
                </a:lnTo>
              </a:path>
            </a:pathLst>
          </a:custGeom>
          <a:solidFill>
            <a:srgbClr val="FFFFFF"/>
          </a:solidFill>
          <a:ln w="9525" cap="flat" cmpd="sng">
            <a:solidFill>
              <a:srgbClr val="2563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 name="Google Shape;81;p15"/>
          <p:cNvSpPr/>
          <p:nvPr/>
        </p:nvSpPr>
        <p:spPr>
          <a:xfrm>
            <a:off x="666750" y="4000500"/>
            <a:ext cx="190500" cy="190500"/>
          </a:xfrm>
          <a:custGeom>
            <a:avLst/>
            <a:gdLst/>
            <a:ahLst/>
            <a:cxnLst/>
            <a:rect l="l" t="t" r="r" b="b"/>
            <a:pathLst>
              <a:path w="120000" h="120000" fill="none" extrusionOk="0">
                <a:moveTo>
                  <a:pt x="0" y="60000"/>
                </a:moveTo>
                <a:lnTo>
                  <a:pt x="120000" y="60000"/>
                </a:lnTo>
                <a:moveTo>
                  <a:pt x="60000" y="0"/>
                </a:moveTo>
                <a:lnTo>
                  <a:pt x="60000" y="120000"/>
                </a:lnTo>
              </a:path>
            </a:pathLst>
          </a:custGeom>
          <a:solidFill>
            <a:srgbClr val="FFFFFF"/>
          </a:solidFill>
          <a:ln w="9525" cap="flat" cmpd="sng">
            <a:solidFill>
              <a:srgbClr val="2563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15"/>
          <p:cNvSpPr/>
          <p:nvPr/>
        </p:nvSpPr>
        <p:spPr>
          <a:xfrm>
            <a:off x="8477250" y="4000500"/>
            <a:ext cx="190500" cy="190500"/>
          </a:xfrm>
          <a:custGeom>
            <a:avLst/>
            <a:gdLst/>
            <a:ahLst/>
            <a:cxnLst/>
            <a:rect l="l" t="t" r="r" b="b"/>
            <a:pathLst>
              <a:path w="120000" h="120000" fill="none" extrusionOk="0">
                <a:moveTo>
                  <a:pt x="0" y="60000"/>
                </a:moveTo>
                <a:lnTo>
                  <a:pt x="120000" y="60000"/>
                </a:lnTo>
                <a:moveTo>
                  <a:pt x="60000" y="0"/>
                </a:moveTo>
                <a:lnTo>
                  <a:pt x="60000" y="120000"/>
                </a:lnTo>
              </a:path>
            </a:pathLst>
          </a:custGeom>
          <a:solidFill>
            <a:srgbClr val="FFFFFF"/>
          </a:solidFill>
          <a:ln w="9525" cap="flat" cmpd="sng">
            <a:solidFill>
              <a:srgbClr val="2563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 name="Google Shape;83;p15"/>
          <p:cNvSpPr txBox="1"/>
          <p:nvPr/>
        </p:nvSpPr>
        <p:spPr>
          <a:xfrm>
            <a:off x="952500" y="952500"/>
            <a:ext cx="3810000" cy="3238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dirty="0">
                <a:solidFill>
                  <a:srgbClr val="2563EB"/>
                </a:solidFill>
                <a:latin typeface="Roboto Mono"/>
                <a:ea typeface="Roboto Mono"/>
                <a:cs typeface="Roboto Mono"/>
                <a:sym typeface="Roboto Mono"/>
              </a:rPr>
              <a:t>TALENT INTELLIGENCE ENGINE</a:t>
            </a:r>
            <a:endParaRPr sz="850" b="1" dirty="0">
              <a:solidFill>
                <a:srgbClr val="2563EB"/>
              </a:solidFill>
              <a:latin typeface="Roboto Mono"/>
              <a:ea typeface="Roboto Mono"/>
              <a:cs typeface="Roboto Mono"/>
              <a:sym typeface="Roboto Mono"/>
            </a:endParaRPr>
          </a:p>
          <a:p>
            <a:pPr marL="0" lvl="0" indent="0" algn="l" rtl="0">
              <a:spcBef>
                <a:spcPts val="600"/>
              </a:spcBef>
              <a:spcAft>
                <a:spcPts val="0"/>
              </a:spcAft>
              <a:buNone/>
            </a:pPr>
            <a:r>
              <a:rPr lang="en" sz="2600" b="0" dirty="0">
                <a:solidFill>
                  <a:srgbClr val="111827"/>
                </a:solidFill>
                <a:latin typeface="Inter ExtraBold"/>
                <a:ea typeface="Inter ExtraBold"/>
                <a:cs typeface="Inter ExtraBold"/>
                <a:sym typeface="Inter ExtraBold"/>
              </a:rPr>
              <a:t>Project Team Directory</a:t>
            </a:r>
            <a:endParaRPr sz="2600" b="0" dirty="0">
              <a:solidFill>
                <a:srgbClr val="111827"/>
              </a:solidFill>
              <a:latin typeface="Inter ExtraBold"/>
              <a:ea typeface="Inter ExtraBold"/>
              <a:cs typeface="Inter ExtraBold"/>
              <a:sym typeface="Inter ExtraBold"/>
            </a:endParaRPr>
          </a:p>
          <a:p>
            <a:pPr marL="0" lvl="0" indent="0" algn="l" rtl="0">
              <a:spcBef>
                <a:spcPts val="1125"/>
              </a:spcBef>
              <a:spcAft>
                <a:spcPts val="0"/>
              </a:spcAft>
              <a:buNone/>
            </a:pPr>
            <a:r>
              <a:rPr lang="en" sz="1050" b="0" dirty="0">
                <a:solidFill>
                  <a:srgbClr val="4B5563"/>
                </a:solidFill>
                <a:latin typeface="Inter"/>
                <a:ea typeface="Inter"/>
                <a:cs typeface="Inter"/>
                <a:sym typeface="Inter"/>
              </a:rPr>
              <a:t>Core professional mapping of research engineers, domain coordinators, and executive project implementation leads for Milestones 1 &amp; 2.</a:t>
            </a:r>
            <a:endParaRPr sz="1050" b="0" dirty="0">
              <a:solidFill>
                <a:srgbClr val="4B5563"/>
              </a:solidFill>
              <a:latin typeface="Inter"/>
              <a:ea typeface="Inter"/>
              <a:cs typeface="Inter"/>
              <a:sym typeface="Inter"/>
            </a:endParaRPr>
          </a:p>
        </p:txBody>
      </p:sp>
      <p:grpSp>
        <p:nvGrpSpPr>
          <p:cNvPr id="84" name="Google Shape;84;p15"/>
          <p:cNvGrpSpPr/>
          <p:nvPr/>
        </p:nvGrpSpPr>
        <p:grpSpPr>
          <a:xfrm>
            <a:off x="5143500" y="952500"/>
            <a:ext cx="3048000" cy="904800"/>
            <a:chOff x="0" y="0"/>
            <a:chExt cx="3048000" cy="904800"/>
          </a:xfrm>
        </p:grpSpPr>
        <p:sp>
          <p:nvSpPr>
            <p:cNvPr id="85" name="Google Shape;85;p15"/>
            <p:cNvSpPr/>
            <p:nvPr/>
          </p:nvSpPr>
          <p:spPr>
            <a:xfrm>
              <a:off x="0" y="0"/>
              <a:ext cx="3048000" cy="904800"/>
            </a:xfrm>
            <a:prstGeom prst="roundRect">
              <a:avLst>
                <a:gd name="adj" fmla="val 6315"/>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 name="Google Shape;86;p15"/>
            <p:cNvSpPr/>
            <p:nvPr/>
          </p:nvSpPr>
          <p:spPr>
            <a:xfrm>
              <a:off x="0" y="0"/>
              <a:ext cx="38100" cy="9048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 name="Google Shape;87;p15"/>
            <p:cNvSpPr txBox="1"/>
            <p:nvPr/>
          </p:nvSpPr>
          <p:spPr>
            <a:xfrm>
              <a:off x="171450" y="114300"/>
              <a:ext cx="2705100" cy="676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50" b="1" i="0" dirty="0">
                  <a:solidFill>
                    <a:srgbClr val="2563EB"/>
                  </a:solidFill>
                  <a:latin typeface="Roboto Mono"/>
                  <a:ea typeface="Roboto Mono"/>
                  <a:cs typeface="Roboto Mono"/>
                  <a:sym typeface="Roboto Mono"/>
                </a:rPr>
                <a:t>CORE RESEARCH &amp; QUALITY</a:t>
              </a:r>
              <a:endParaRPr sz="750" b="1" i="0" dirty="0">
                <a:solidFill>
                  <a:srgbClr val="2563EB"/>
                </a:solidFill>
                <a:latin typeface="Roboto Mono"/>
                <a:ea typeface="Roboto Mono"/>
                <a:cs typeface="Roboto Mono"/>
                <a:sym typeface="Roboto Mono"/>
              </a:endParaRPr>
            </a:p>
            <a:p>
              <a:pPr marL="0" lvl="0" indent="0" algn="l" rtl="0">
                <a:spcBef>
                  <a:spcPts val="225"/>
                </a:spcBef>
                <a:spcAft>
                  <a:spcPts val="0"/>
                </a:spcAft>
                <a:buNone/>
              </a:pPr>
              <a:r>
                <a:rPr lang="en" sz="1200" b="1" i="0" dirty="0">
                  <a:solidFill>
                    <a:srgbClr val="111827"/>
                  </a:solidFill>
                  <a:latin typeface="Inter"/>
                  <a:ea typeface="Inter"/>
                  <a:cs typeface="Inter"/>
                  <a:sym typeface="Inter"/>
                </a:rPr>
                <a:t>G. Keertana, V. Sanjay Bhargav &amp; Santhoshini</a:t>
              </a:r>
              <a:endParaRPr sz="1200" b="1" i="0" dirty="0">
                <a:solidFill>
                  <a:srgbClr val="2563EB"/>
                </a:solidFill>
                <a:latin typeface="Roboto Mono"/>
                <a:ea typeface="Roboto Mono"/>
                <a:cs typeface="Roboto Mono"/>
                <a:sym typeface="Roboto Mono"/>
              </a:endParaRPr>
            </a:p>
            <a:p>
              <a:pPr marL="0" lvl="0" indent="0" algn="l" rtl="0">
                <a:spcBef>
                  <a:spcPts val="225"/>
                </a:spcBef>
                <a:spcAft>
                  <a:spcPts val="225"/>
                </a:spcAft>
                <a:buNone/>
              </a:pPr>
              <a:r>
                <a:rPr lang="en" sz="850" b="0" i="0" dirty="0">
                  <a:solidFill>
                    <a:srgbClr val="4B5563"/>
                  </a:solidFill>
                  <a:latin typeface="Inter Medium"/>
                  <a:ea typeface="Inter Medium"/>
                  <a:cs typeface="Inter Medium"/>
                  <a:sym typeface="Inter Medium"/>
                </a:rPr>
                <a:t>Data schema validation, pipeline governance, and ingestion audit.</a:t>
              </a:r>
              <a:endParaRPr sz="850" b="1" i="0" dirty="0">
                <a:solidFill>
                  <a:srgbClr val="2563EB"/>
                </a:solidFill>
                <a:latin typeface="Roboto Mono"/>
                <a:ea typeface="Roboto Mono"/>
                <a:cs typeface="Roboto Mono"/>
                <a:sym typeface="Roboto Mono"/>
              </a:endParaRPr>
            </a:p>
          </p:txBody>
        </p:sp>
      </p:grpSp>
      <p:grpSp>
        <p:nvGrpSpPr>
          <p:cNvPr id="88" name="Google Shape;88;p15"/>
          <p:cNvGrpSpPr/>
          <p:nvPr/>
        </p:nvGrpSpPr>
        <p:grpSpPr>
          <a:xfrm>
            <a:off x="5143500" y="2000250"/>
            <a:ext cx="3048000" cy="904800"/>
            <a:chOff x="0" y="0"/>
            <a:chExt cx="3048000" cy="904800"/>
          </a:xfrm>
        </p:grpSpPr>
        <p:sp>
          <p:nvSpPr>
            <p:cNvPr id="89" name="Google Shape;89;p15"/>
            <p:cNvSpPr/>
            <p:nvPr/>
          </p:nvSpPr>
          <p:spPr>
            <a:xfrm>
              <a:off x="0" y="0"/>
              <a:ext cx="3048000" cy="904800"/>
            </a:xfrm>
            <a:prstGeom prst="roundRect">
              <a:avLst>
                <a:gd name="adj" fmla="val 6315"/>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 name="Google Shape;90;p15"/>
            <p:cNvSpPr/>
            <p:nvPr/>
          </p:nvSpPr>
          <p:spPr>
            <a:xfrm>
              <a:off x="0" y="0"/>
              <a:ext cx="38100" cy="9048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5"/>
            <p:cNvSpPr txBox="1"/>
            <p:nvPr/>
          </p:nvSpPr>
          <p:spPr>
            <a:xfrm>
              <a:off x="171450" y="114300"/>
              <a:ext cx="2705100" cy="676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1" dirty="0">
                  <a:solidFill>
                    <a:srgbClr val="10B981"/>
                  </a:solidFill>
                  <a:latin typeface="Roboto Mono"/>
                  <a:ea typeface="Roboto Mono"/>
                  <a:cs typeface="Roboto Mono"/>
                  <a:sym typeface="Roboto Mono"/>
                </a:rPr>
                <a:t>AI SYSTEMS ENGINEERING</a:t>
              </a:r>
              <a:endParaRPr sz="750" b="1" dirty="0">
                <a:solidFill>
                  <a:srgbClr val="10B981"/>
                </a:solidFill>
                <a:latin typeface="Roboto Mono"/>
                <a:ea typeface="Roboto Mono"/>
                <a:cs typeface="Roboto Mono"/>
                <a:sym typeface="Roboto Mono"/>
              </a:endParaRPr>
            </a:p>
            <a:p>
              <a:pPr lvl="0">
                <a:spcBef>
                  <a:spcPts val="225"/>
                </a:spcBef>
              </a:pPr>
              <a:r>
                <a:rPr lang="en" sz="1200" b="1" dirty="0">
                  <a:solidFill>
                    <a:srgbClr val="111827"/>
                  </a:solidFill>
                  <a:latin typeface="Inter"/>
                  <a:ea typeface="Inter"/>
                  <a:cs typeface="Inter"/>
                  <a:sym typeface="Inter"/>
                </a:rPr>
                <a:t>Navya, Swetha, Tanisha Gehlot &amp; </a:t>
              </a:r>
              <a:r>
                <a:rPr lang="en-IN" sz="1200" b="1" dirty="0">
                  <a:solidFill>
                    <a:srgbClr val="111827"/>
                  </a:solidFill>
                  <a:latin typeface="Inter"/>
                  <a:ea typeface="Inter"/>
                  <a:cs typeface="Inter"/>
                  <a:sym typeface="Inter"/>
                </a:rPr>
                <a:t>Kavya </a:t>
              </a:r>
              <a:endParaRPr sz="1200" b="1" dirty="0">
                <a:solidFill>
                  <a:srgbClr val="111827"/>
                </a:solidFill>
                <a:latin typeface="Inter"/>
                <a:ea typeface="Inter"/>
                <a:cs typeface="Inter"/>
                <a:sym typeface="Inter"/>
              </a:endParaRPr>
            </a:p>
            <a:p>
              <a:pPr marL="0" lvl="0" indent="0" algn="l" rtl="0">
                <a:spcBef>
                  <a:spcPts val="225"/>
                </a:spcBef>
                <a:spcAft>
                  <a:spcPts val="0"/>
                </a:spcAft>
                <a:buNone/>
              </a:pPr>
              <a:r>
                <a:rPr lang="en" sz="850" b="0" dirty="0">
                  <a:solidFill>
                    <a:srgbClr val="4B5563"/>
                  </a:solidFill>
                  <a:latin typeface="Inter Medium"/>
                  <a:ea typeface="Inter Medium"/>
                  <a:cs typeface="Inter Medium"/>
                  <a:sym typeface="Inter Medium"/>
                </a:rPr>
                <a:t>Model pre-processing flow and core analytics workflow deployment.</a:t>
              </a:r>
              <a:endParaRPr sz="850" b="0" dirty="0">
                <a:solidFill>
                  <a:srgbClr val="4B5563"/>
                </a:solidFill>
                <a:latin typeface="Inter Medium"/>
                <a:ea typeface="Inter Medium"/>
                <a:cs typeface="Inter Medium"/>
                <a:sym typeface="Inter Medium"/>
              </a:endParaRPr>
            </a:p>
          </p:txBody>
        </p:sp>
      </p:grpSp>
      <p:grpSp>
        <p:nvGrpSpPr>
          <p:cNvPr id="92" name="Google Shape;92;p15"/>
          <p:cNvGrpSpPr/>
          <p:nvPr/>
        </p:nvGrpSpPr>
        <p:grpSpPr>
          <a:xfrm>
            <a:off x="5143500" y="3048000"/>
            <a:ext cx="3048000" cy="1047900"/>
            <a:chOff x="0" y="0"/>
            <a:chExt cx="3048000" cy="1047900"/>
          </a:xfrm>
        </p:grpSpPr>
        <p:sp>
          <p:nvSpPr>
            <p:cNvPr id="93" name="Google Shape;93;p15"/>
            <p:cNvSpPr/>
            <p:nvPr/>
          </p:nvSpPr>
          <p:spPr>
            <a:xfrm>
              <a:off x="0" y="0"/>
              <a:ext cx="3048000" cy="1047900"/>
            </a:xfrm>
            <a:prstGeom prst="roundRect">
              <a:avLst>
                <a:gd name="adj" fmla="val 5454"/>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4" name="Google Shape;94;p15"/>
            <p:cNvSpPr/>
            <p:nvPr/>
          </p:nvSpPr>
          <p:spPr>
            <a:xfrm>
              <a:off x="0" y="0"/>
              <a:ext cx="38100" cy="10479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5" name="Google Shape;95;p15"/>
            <p:cNvSpPr txBox="1"/>
            <p:nvPr/>
          </p:nvSpPr>
          <p:spPr>
            <a:xfrm>
              <a:off x="171450" y="114300"/>
              <a:ext cx="2705100" cy="819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50" b="1" i="0" dirty="0">
                  <a:solidFill>
                    <a:srgbClr val="F59E0B"/>
                  </a:solidFill>
                  <a:latin typeface="Roboto Mono"/>
                  <a:ea typeface="Roboto Mono"/>
                  <a:cs typeface="Roboto Mono"/>
                  <a:sym typeface="Roboto Mono"/>
                </a:rPr>
                <a:t>INTEGRATION &amp; INFRASTRUCTURE</a:t>
              </a:r>
              <a:endParaRPr sz="850" b="1" i="0" dirty="0">
                <a:solidFill>
                  <a:srgbClr val="F59E0B"/>
                </a:solidFill>
                <a:latin typeface="Roboto Mono"/>
                <a:ea typeface="Roboto Mono"/>
                <a:cs typeface="Roboto Mono"/>
                <a:sym typeface="Roboto Mono"/>
              </a:endParaRPr>
            </a:p>
            <a:p>
              <a:pPr lvl="0">
                <a:spcBef>
                  <a:spcPts val="225"/>
                </a:spcBef>
              </a:pPr>
              <a:r>
                <a:rPr lang="en" sz="1100" b="1" i="0" dirty="0">
                  <a:solidFill>
                    <a:srgbClr val="111827"/>
                  </a:solidFill>
                  <a:latin typeface="Inter"/>
                  <a:ea typeface="Inter"/>
                  <a:cs typeface="Inter"/>
                  <a:sym typeface="Inter"/>
                </a:rPr>
                <a:t>Gowshika T, </a:t>
              </a:r>
              <a:r>
                <a:rPr lang="en-IN" sz="1200" b="1" dirty="0"/>
                <a:t>Lakshmikanth</a:t>
              </a:r>
              <a:r>
                <a:rPr lang="en" sz="1100" b="1" i="0" dirty="0">
                  <a:solidFill>
                    <a:srgbClr val="111827"/>
                  </a:solidFill>
                  <a:latin typeface="Inter"/>
                  <a:ea typeface="Inter"/>
                  <a:cs typeface="Inter"/>
                  <a:sym typeface="Inter"/>
                </a:rPr>
                <a:t> Reddy &amp; Nikhil</a:t>
              </a:r>
              <a:endParaRPr sz="850" b="1" i="0" dirty="0">
                <a:solidFill>
                  <a:srgbClr val="F59E0B"/>
                </a:solidFill>
                <a:latin typeface="Roboto Mono"/>
                <a:ea typeface="Roboto Mono"/>
                <a:cs typeface="Roboto Mono"/>
                <a:sym typeface="Roboto Mono"/>
              </a:endParaRPr>
            </a:p>
            <a:p>
              <a:pPr marL="0" lvl="0" indent="0" algn="l" rtl="0">
                <a:spcBef>
                  <a:spcPts val="225"/>
                </a:spcBef>
                <a:spcAft>
                  <a:spcPts val="225"/>
                </a:spcAft>
                <a:buNone/>
              </a:pPr>
              <a:r>
                <a:rPr lang="en" sz="850" b="0" i="0" dirty="0">
                  <a:solidFill>
                    <a:srgbClr val="4B5563"/>
                  </a:solidFill>
                  <a:latin typeface="Inter Medium"/>
                  <a:ea typeface="Inter Medium"/>
                  <a:cs typeface="Inter Medium"/>
                  <a:sym typeface="Inter Medium"/>
                </a:rPr>
                <a:t>Enterprise PostgreSQL schema architecture and cloud integrations.</a:t>
              </a:r>
              <a:endParaRPr sz="850" b="1" i="0" dirty="0">
                <a:solidFill>
                  <a:srgbClr val="F59E0B"/>
                </a:solidFill>
                <a:latin typeface="Roboto Mono"/>
                <a:ea typeface="Roboto Mono"/>
                <a:cs typeface="Roboto Mono"/>
                <a:sym typeface="Roboto Mono"/>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6"/>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1" name="Google Shape;101;p16"/>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102" name="Google Shape;102;p16"/>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103" name="Google Shape;103;p16"/>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4" name="Google Shape;104;p16"/>
          <p:cNvGrpSpPr/>
          <p:nvPr/>
        </p:nvGrpSpPr>
        <p:grpSpPr>
          <a:xfrm>
            <a:off x="533400" y="381000"/>
            <a:ext cx="8229600" cy="552450"/>
            <a:chOff x="0" y="0"/>
            <a:chExt cx="8229600" cy="552450"/>
          </a:xfrm>
        </p:grpSpPr>
        <p:sp>
          <p:nvSpPr>
            <p:cNvPr id="105" name="Google Shape;105;p16"/>
            <p:cNvSpPr txBox="1"/>
            <p:nvPr/>
          </p:nvSpPr>
          <p:spPr>
            <a:xfrm>
              <a:off x="0" y="0"/>
              <a:ext cx="8229600" cy="30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1">
                  <a:solidFill>
                    <a:srgbClr val="111827"/>
                  </a:solidFill>
                  <a:latin typeface="Inter"/>
                  <a:ea typeface="Inter"/>
                  <a:cs typeface="Inter"/>
                  <a:sym typeface="Inter"/>
                </a:rPr>
                <a:t>AI Analysis Workflow &amp; Processing Stages</a:t>
              </a:r>
              <a:endParaRPr sz="1800" b="1">
                <a:solidFill>
                  <a:srgbClr val="111827"/>
                </a:solidFill>
                <a:latin typeface="Inter"/>
                <a:ea typeface="Inter"/>
                <a:cs typeface="Inter"/>
                <a:sym typeface="Inter"/>
              </a:endParaRPr>
            </a:p>
          </p:txBody>
        </p:sp>
        <p:sp>
          <p:nvSpPr>
            <p:cNvPr id="106" name="Google Shape;106;p16"/>
            <p:cNvSpPr txBox="1"/>
            <p:nvPr/>
          </p:nvSpPr>
          <p:spPr>
            <a:xfrm>
              <a:off x="0" y="323850"/>
              <a:ext cx="82296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a:solidFill>
                    <a:srgbClr val="4B5563"/>
                  </a:solidFill>
                  <a:latin typeface="Inter Medium"/>
                  <a:ea typeface="Inter Medium"/>
                  <a:cs typeface="Inter Medium"/>
                  <a:sym typeface="Inter Medium"/>
                </a:rPr>
                <a:t>A controlled 10-stage pipeline transforming raw workforce dataset inputs into validated HR decisions</a:t>
              </a:r>
              <a:endParaRPr sz="975" b="0">
                <a:solidFill>
                  <a:srgbClr val="4B5563"/>
                </a:solidFill>
                <a:latin typeface="Inter Medium"/>
                <a:ea typeface="Inter Medium"/>
                <a:cs typeface="Inter Medium"/>
                <a:sym typeface="Inter Medium"/>
              </a:endParaRPr>
            </a:p>
          </p:txBody>
        </p:sp>
      </p:grpSp>
      <p:sp>
        <p:nvSpPr>
          <p:cNvPr id="107" name="Google Shape;107;p16"/>
          <p:cNvSpPr txBox="1"/>
          <p:nvPr/>
        </p:nvSpPr>
        <p:spPr>
          <a:xfrm>
            <a:off x="381000" y="1171575"/>
            <a:ext cx="3619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750" b="1">
                <a:solidFill>
                  <a:srgbClr val="4B5563"/>
                </a:solidFill>
                <a:latin typeface="Roboto Mono"/>
                <a:ea typeface="Roboto Mono"/>
                <a:cs typeface="Roboto Mono"/>
                <a:sym typeface="Roboto Mono"/>
              </a:rPr>
              <a:t>Systematic Pipeline Index</a:t>
            </a:r>
            <a:endParaRPr/>
          </a:p>
        </p:txBody>
      </p:sp>
      <p:grpSp>
        <p:nvGrpSpPr>
          <p:cNvPr id="108" name="Google Shape;108;p16"/>
          <p:cNvGrpSpPr/>
          <p:nvPr/>
        </p:nvGrpSpPr>
        <p:grpSpPr>
          <a:xfrm>
            <a:off x="381000" y="1390650"/>
            <a:ext cx="3619500" cy="266700"/>
            <a:chOff x="0" y="0"/>
            <a:chExt cx="3619500" cy="266700"/>
          </a:xfrm>
        </p:grpSpPr>
        <p:cxnSp>
          <p:nvCxnSpPr>
            <p:cNvPr id="109" name="Google Shape;109;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10" name="Google Shape;110;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01</a:t>
              </a:r>
              <a:endParaRPr sz="713" b="0">
                <a:solidFill>
                  <a:srgbClr val="2563EB"/>
                </a:solidFill>
                <a:latin typeface="Roboto Mono SemiBold"/>
                <a:ea typeface="Roboto Mono SemiBold"/>
                <a:cs typeface="Roboto Mono SemiBold"/>
                <a:sym typeface="Roboto Mono SemiBold"/>
              </a:endParaRPr>
            </a:p>
          </p:txBody>
        </p:sp>
        <p:sp>
          <p:nvSpPr>
            <p:cNvPr id="111" name="Google Shape;111;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98" b="0">
                  <a:solidFill>
                    <a:srgbClr val="111827"/>
                  </a:solidFill>
                  <a:latin typeface="Inter SemiBold"/>
                  <a:ea typeface="Inter SemiBold"/>
                  <a:cs typeface="Inter SemiBold"/>
                  <a:sym typeface="Inter SemiBold"/>
                </a:rPr>
                <a:t>Workforce Dataset:</a:t>
              </a:r>
              <a:r>
                <a:rPr lang="en" sz="798" b="0">
                  <a:solidFill>
                    <a:srgbClr val="4B5563"/>
                  </a:solidFill>
                  <a:latin typeface="Inter"/>
                  <a:ea typeface="Inter"/>
                  <a:cs typeface="Inter"/>
                  <a:sym typeface="Inter"/>
                </a:rPr>
                <a:t> Approved records provided as primary input.</a:t>
              </a:r>
              <a:endParaRPr sz="798" b="0">
                <a:solidFill>
                  <a:srgbClr val="4B5563"/>
                </a:solidFill>
                <a:latin typeface="Inter"/>
                <a:ea typeface="Inter"/>
                <a:cs typeface="Inter"/>
                <a:sym typeface="Inter"/>
              </a:endParaRPr>
            </a:p>
          </p:txBody>
        </p:sp>
      </p:grpSp>
      <p:grpSp>
        <p:nvGrpSpPr>
          <p:cNvPr id="112" name="Google Shape;112;p16"/>
          <p:cNvGrpSpPr/>
          <p:nvPr/>
        </p:nvGrpSpPr>
        <p:grpSpPr>
          <a:xfrm>
            <a:off x="381000" y="1714500"/>
            <a:ext cx="3619500" cy="266700"/>
            <a:chOff x="0" y="0"/>
            <a:chExt cx="3619500" cy="266700"/>
          </a:xfrm>
        </p:grpSpPr>
        <p:cxnSp>
          <p:nvCxnSpPr>
            <p:cNvPr id="113" name="Google Shape;113;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14" name="Google Shape;114;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02</a:t>
              </a:r>
              <a:endParaRPr sz="713" b="0">
                <a:solidFill>
                  <a:srgbClr val="2563EB"/>
                </a:solidFill>
                <a:latin typeface="Roboto Mono SemiBold"/>
                <a:ea typeface="Roboto Mono SemiBold"/>
                <a:cs typeface="Roboto Mono SemiBold"/>
                <a:sym typeface="Roboto Mono SemiBold"/>
              </a:endParaRPr>
            </a:p>
          </p:txBody>
        </p:sp>
        <p:sp>
          <p:nvSpPr>
            <p:cNvPr id="115" name="Google Shape;115;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Data Quality Gate:</a:t>
              </a:r>
              <a:r>
                <a:rPr lang="en" sz="863" b="0">
                  <a:solidFill>
                    <a:srgbClr val="4B5563"/>
                  </a:solidFill>
                  <a:latin typeface="Inter"/>
                  <a:ea typeface="Inter"/>
                  <a:cs typeface="Inter"/>
                  <a:sym typeface="Inter"/>
                </a:rPr>
                <a:t> Schema, variables, and identifiers checked.</a:t>
              </a:r>
              <a:endParaRPr sz="863" b="0">
                <a:solidFill>
                  <a:srgbClr val="4B5563"/>
                </a:solidFill>
                <a:latin typeface="Inter"/>
                <a:ea typeface="Inter"/>
                <a:cs typeface="Inter"/>
                <a:sym typeface="Inter"/>
              </a:endParaRPr>
            </a:p>
          </p:txBody>
        </p:sp>
      </p:grpSp>
      <p:grpSp>
        <p:nvGrpSpPr>
          <p:cNvPr id="116" name="Google Shape;116;p16"/>
          <p:cNvGrpSpPr/>
          <p:nvPr/>
        </p:nvGrpSpPr>
        <p:grpSpPr>
          <a:xfrm>
            <a:off x="381000" y="2038350"/>
            <a:ext cx="3619500" cy="266700"/>
            <a:chOff x="0" y="0"/>
            <a:chExt cx="3619500" cy="266700"/>
          </a:xfrm>
        </p:grpSpPr>
        <p:cxnSp>
          <p:nvCxnSpPr>
            <p:cNvPr id="117" name="Google Shape;117;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18" name="Google Shape;118;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03</a:t>
              </a:r>
              <a:endParaRPr sz="713" b="0">
                <a:solidFill>
                  <a:srgbClr val="2563EB"/>
                </a:solidFill>
                <a:latin typeface="Roboto Mono SemiBold"/>
                <a:ea typeface="Roboto Mono SemiBold"/>
                <a:cs typeface="Roboto Mono SemiBold"/>
                <a:sym typeface="Roboto Mono SemiBold"/>
              </a:endParaRPr>
            </a:p>
          </p:txBody>
        </p:sp>
        <p:sp>
          <p:nvSpPr>
            <p:cNvPr id="119" name="Google Shape;119;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98" b="0">
                  <a:solidFill>
                    <a:srgbClr val="111827"/>
                  </a:solidFill>
                  <a:latin typeface="Inter SemiBold"/>
                  <a:ea typeface="Inter SemiBold"/>
                  <a:cs typeface="Inter SemiBold"/>
                  <a:sym typeface="Inter SemiBold"/>
                </a:rPr>
                <a:t>Preprocessing:</a:t>
              </a:r>
              <a:r>
                <a:rPr lang="en" sz="798" b="0">
                  <a:solidFill>
                    <a:srgbClr val="4B5563"/>
                  </a:solidFill>
                  <a:latin typeface="Inter"/>
                  <a:ea typeface="Inter"/>
                  <a:cs typeface="Inter"/>
                  <a:sym typeface="Inter"/>
                </a:rPr>
                <a:t> Data systematically cleaned and model-formatted.</a:t>
              </a:r>
              <a:endParaRPr sz="798" b="0">
                <a:solidFill>
                  <a:srgbClr val="4B5563"/>
                </a:solidFill>
                <a:latin typeface="Inter"/>
                <a:ea typeface="Inter"/>
                <a:cs typeface="Inter"/>
                <a:sym typeface="Inter"/>
              </a:endParaRPr>
            </a:p>
          </p:txBody>
        </p:sp>
      </p:grpSp>
      <p:grpSp>
        <p:nvGrpSpPr>
          <p:cNvPr id="120" name="Google Shape;120;p16"/>
          <p:cNvGrpSpPr/>
          <p:nvPr/>
        </p:nvGrpSpPr>
        <p:grpSpPr>
          <a:xfrm>
            <a:off x="381000" y="2362200"/>
            <a:ext cx="3619500" cy="266700"/>
            <a:chOff x="0" y="0"/>
            <a:chExt cx="3619500" cy="266700"/>
          </a:xfrm>
        </p:grpSpPr>
        <p:cxnSp>
          <p:nvCxnSpPr>
            <p:cNvPr id="121" name="Google Shape;121;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22" name="Google Shape;122;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04</a:t>
              </a:r>
              <a:endParaRPr sz="713" b="0">
                <a:solidFill>
                  <a:srgbClr val="2563EB"/>
                </a:solidFill>
                <a:latin typeface="Roboto Mono SemiBold"/>
                <a:ea typeface="Roboto Mono SemiBold"/>
                <a:cs typeface="Roboto Mono SemiBold"/>
                <a:sym typeface="Roboto Mono SemiBold"/>
              </a:endParaRPr>
            </a:p>
          </p:txBody>
        </p:sp>
        <p:sp>
          <p:nvSpPr>
            <p:cNvPr id="123" name="Google Shape;123;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Feature Engineering:</a:t>
              </a:r>
              <a:r>
                <a:rPr lang="en" sz="863" b="0">
                  <a:solidFill>
                    <a:srgbClr val="4B5563"/>
                  </a:solidFill>
                  <a:latin typeface="Inter"/>
                  <a:ea typeface="Inter"/>
                  <a:cs typeface="Inter"/>
                  <a:sym typeface="Inter"/>
                </a:rPr>
                <a:t> Machine learning features prepared.</a:t>
              </a:r>
              <a:endParaRPr sz="863" b="0">
                <a:solidFill>
                  <a:srgbClr val="4B5563"/>
                </a:solidFill>
                <a:latin typeface="Inter"/>
                <a:ea typeface="Inter"/>
                <a:cs typeface="Inter"/>
                <a:sym typeface="Inter"/>
              </a:endParaRPr>
            </a:p>
          </p:txBody>
        </p:sp>
      </p:grpSp>
      <p:grpSp>
        <p:nvGrpSpPr>
          <p:cNvPr id="124" name="Google Shape;124;p16"/>
          <p:cNvGrpSpPr/>
          <p:nvPr/>
        </p:nvGrpSpPr>
        <p:grpSpPr>
          <a:xfrm>
            <a:off x="381000" y="2686050"/>
            <a:ext cx="3619500" cy="266700"/>
            <a:chOff x="0" y="0"/>
            <a:chExt cx="3619500" cy="266700"/>
          </a:xfrm>
        </p:grpSpPr>
        <p:cxnSp>
          <p:nvCxnSpPr>
            <p:cNvPr id="125" name="Google Shape;125;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26" name="Google Shape;126;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05</a:t>
              </a:r>
              <a:endParaRPr sz="713" b="0">
                <a:solidFill>
                  <a:srgbClr val="2563EB"/>
                </a:solidFill>
                <a:latin typeface="Roboto Mono SemiBold"/>
                <a:ea typeface="Roboto Mono SemiBold"/>
                <a:cs typeface="Roboto Mono SemiBold"/>
                <a:sym typeface="Roboto Mono SemiBold"/>
              </a:endParaRPr>
            </a:p>
          </p:txBody>
        </p:sp>
        <p:sp>
          <p:nvSpPr>
            <p:cNvPr id="127" name="Google Shape;127;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Workforce Trends:</a:t>
              </a:r>
              <a:r>
                <a:rPr lang="en" sz="863" b="0">
                  <a:solidFill>
                    <a:srgbClr val="4B5563"/>
                  </a:solidFill>
                  <a:latin typeface="Inter"/>
                  <a:ea typeface="Inter"/>
                  <a:cs typeface="Inter"/>
                  <a:sym typeface="Inter"/>
                </a:rPr>
                <a:t> Core workforce KPIs and trends generated.</a:t>
              </a:r>
              <a:endParaRPr sz="863" b="0">
                <a:solidFill>
                  <a:srgbClr val="4B5563"/>
                </a:solidFill>
                <a:latin typeface="Inter"/>
                <a:ea typeface="Inter"/>
                <a:cs typeface="Inter"/>
                <a:sym typeface="Inter"/>
              </a:endParaRPr>
            </a:p>
          </p:txBody>
        </p:sp>
      </p:grpSp>
      <p:grpSp>
        <p:nvGrpSpPr>
          <p:cNvPr id="128" name="Google Shape;128;p16"/>
          <p:cNvGrpSpPr/>
          <p:nvPr/>
        </p:nvGrpSpPr>
        <p:grpSpPr>
          <a:xfrm>
            <a:off x="381000" y="3009900"/>
            <a:ext cx="3619500" cy="266700"/>
            <a:chOff x="0" y="0"/>
            <a:chExt cx="3619500" cy="266700"/>
          </a:xfrm>
        </p:grpSpPr>
        <p:cxnSp>
          <p:nvCxnSpPr>
            <p:cNvPr id="129" name="Google Shape;129;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30" name="Google Shape;130;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06</a:t>
              </a:r>
              <a:endParaRPr sz="713" b="0">
                <a:solidFill>
                  <a:srgbClr val="2563EB"/>
                </a:solidFill>
                <a:latin typeface="Roboto Mono SemiBold"/>
                <a:ea typeface="Roboto Mono SemiBold"/>
                <a:cs typeface="Roboto Mono SemiBold"/>
                <a:sym typeface="Roboto Mono SemiBold"/>
              </a:endParaRPr>
            </a:p>
          </p:txBody>
        </p:sp>
        <p:sp>
          <p:nvSpPr>
            <p:cNvPr id="131" name="Google Shape;131;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Attrition Prediction:</a:t>
              </a:r>
              <a:r>
                <a:rPr lang="en" sz="863" b="0">
                  <a:solidFill>
                    <a:srgbClr val="4B5563"/>
                  </a:solidFill>
                  <a:latin typeface="Inter"/>
                  <a:ea typeface="Inter"/>
                  <a:cs typeface="Inter"/>
                  <a:sym typeface="Inter"/>
                </a:rPr>
                <a:t> Model generates probability &amp; risk profiles.</a:t>
              </a:r>
              <a:endParaRPr sz="863" b="0">
                <a:solidFill>
                  <a:srgbClr val="4B5563"/>
                </a:solidFill>
                <a:latin typeface="Inter"/>
                <a:ea typeface="Inter"/>
                <a:cs typeface="Inter"/>
                <a:sym typeface="Inter"/>
              </a:endParaRPr>
            </a:p>
          </p:txBody>
        </p:sp>
      </p:grpSp>
      <p:grpSp>
        <p:nvGrpSpPr>
          <p:cNvPr id="132" name="Google Shape;132;p16"/>
          <p:cNvGrpSpPr/>
          <p:nvPr/>
        </p:nvGrpSpPr>
        <p:grpSpPr>
          <a:xfrm>
            <a:off x="381000" y="3333750"/>
            <a:ext cx="3619500" cy="266700"/>
            <a:chOff x="0" y="0"/>
            <a:chExt cx="3619500" cy="266700"/>
          </a:xfrm>
        </p:grpSpPr>
        <p:cxnSp>
          <p:nvCxnSpPr>
            <p:cNvPr id="133" name="Google Shape;133;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34" name="Google Shape;134;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10B981"/>
                  </a:solidFill>
                  <a:latin typeface="Roboto Mono SemiBold"/>
                  <a:ea typeface="Roboto Mono SemiBold"/>
                  <a:cs typeface="Roboto Mono SemiBold"/>
                  <a:sym typeface="Roboto Mono SemiBold"/>
                </a:rPr>
                <a:t>07</a:t>
              </a:r>
              <a:endParaRPr sz="713" b="0">
                <a:solidFill>
                  <a:srgbClr val="10B981"/>
                </a:solidFill>
                <a:latin typeface="Roboto Mono SemiBold"/>
                <a:ea typeface="Roboto Mono SemiBold"/>
                <a:cs typeface="Roboto Mono SemiBold"/>
                <a:sym typeface="Roboto Mono SemiBold"/>
              </a:endParaRPr>
            </a:p>
          </p:txBody>
        </p:sp>
        <p:sp>
          <p:nvSpPr>
            <p:cNvPr id="135" name="Google Shape;135;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Validation:</a:t>
              </a:r>
              <a:r>
                <a:rPr lang="en" sz="863" b="0">
                  <a:solidFill>
                    <a:srgbClr val="4B5563"/>
                  </a:solidFill>
                  <a:latin typeface="Inter"/>
                  <a:ea typeface="Inter"/>
                  <a:cs typeface="Inter"/>
                  <a:sym typeface="Inter"/>
                </a:rPr>
                <a:t> Predictions audited against historical outcomes.</a:t>
              </a:r>
              <a:endParaRPr sz="863" b="0">
                <a:solidFill>
                  <a:srgbClr val="4B5563"/>
                </a:solidFill>
                <a:latin typeface="Inter"/>
                <a:ea typeface="Inter"/>
                <a:cs typeface="Inter"/>
                <a:sym typeface="Inter"/>
              </a:endParaRPr>
            </a:p>
          </p:txBody>
        </p:sp>
      </p:grpSp>
      <p:grpSp>
        <p:nvGrpSpPr>
          <p:cNvPr id="136" name="Google Shape;136;p16"/>
          <p:cNvGrpSpPr/>
          <p:nvPr/>
        </p:nvGrpSpPr>
        <p:grpSpPr>
          <a:xfrm>
            <a:off x="381000" y="3657600"/>
            <a:ext cx="3619500" cy="266700"/>
            <a:chOff x="0" y="0"/>
            <a:chExt cx="3619500" cy="266700"/>
          </a:xfrm>
        </p:grpSpPr>
        <p:cxnSp>
          <p:nvCxnSpPr>
            <p:cNvPr id="137" name="Google Shape;137;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38" name="Google Shape;138;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08</a:t>
              </a:r>
              <a:endParaRPr sz="713" b="0">
                <a:solidFill>
                  <a:srgbClr val="2563EB"/>
                </a:solidFill>
                <a:latin typeface="Roboto Mono SemiBold"/>
                <a:ea typeface="Roboto Mono SemiBold"/>
                <a:cs typeface="Roboto Mono SemiBold"/>
                <a:sym typeface="Roboto Mono SemiBold"/>
              </a:endParaRPr>
            </a:p>
          </p:txBody>
        </p:sp>
        <p:sp>
          <p:nvSpPr>
            <p:cNvPr id="139" name="Google Shape;139;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Health Analysis:</a:t>
              </a:r>
              <a:r>
                <a:rPr lang="en" sz="863" b="0">
                  <a:solidFill>
                    <a:srgbClr val="4B5563"/>
                  </a:solidFill>
                  <a:latin typeface="Inter"/>
                  <a:ea typeface="Inter"/>
                  <a:cs typeface="Inter"/>
                  <a:sym typeface="Inter"/>
                </a:rPr>
                <a:t> Evaluation of satisfaction and stability markers.</a:t>
              </a:r>
              <a:endParaRPr sz="863" b="0">
                <a:solidFill>
                  <a:srgbClr val="4B5563"/>
                </a:solidFill>
                <a:latin typeface="Inter"/>
                <a:ea typeface="Inter"/>
                <a:cs typeface="Inter"/>
                <a:sym typeface="Inter"/>
              </a:endParaRPr>
            </a:p>
          </p:txBody>
        </p:sp>
      </p:grpSp>
      <p:grpSp>
        <p:nvGrpSpPr>
          <p:cNvPr id="140" name="Google Shape;140;p16"/>
          <p:cNvGrpSpPr/>
          <p:nvPr/>
        </p:nvGrpSpPr>
        <p:grpSpPr>
          <a:xfrm>
            <a:off x="381000" y="3981450"/>
            <a:ext cx="3619500" cy="266700"/>
            <a:chOff x="0" y="0"/>
            <a:chExt cx="3619500" cy="266700"/>
          </a:xfrm>
        </p:grpSpPr>
        <p:cxnSp>
          <p:nvCxnSpPr>
            <p:cNvPr id="141" name="Google Shape;141;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42" name="Google Shape;142;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09</a:t>
              </a:r>
              <a:endParaRPr sz="713" b="0">
                <a:solidFill>
                  <a:srgbClr val="2563EB"/>
                </a:solidFill>
                <a:latin typeface="Roboto Mono SemiBold"/>
                <a:ea typeface="Roboto Mono SemiBold"/>
                <a:cs typeface="Roboto Mono SemiBold"/>
                <a:sym typeface="Roboto Mono SemiBold"/>
              </a:endParaRPr>
            </a:p>
          </p:txBody>
        </p:sp>
        <p:sp>
          <p:nvSpPr>
            <p:cNvPr id="143" name="Google Shape;143;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Skill Gap:</a:t>
              </a:r>
              <a:r>
                <a:rPr lang="en" sz="863" b="0">
                  <a:solidFill>
                    <a:srgbClr val="4B5563"/>
                  </a:solidFill>
                  <a:latin typeface="Inter"/>
                  <a:ea typeface="Inter"/>
                  <a:cs typeface="Inter"/>
                  <a:sym typeface="Inter"/>
                </a:rPr>
                <a:t> Integrated analysis of organizational requirements.</a:t>
              </a:r>
              <a:endParaRPr sz="863" b="0">
                <a:solidFill>
                  <a:srgbClr val="4B5563"/>
                </a:solidFill>
                <a:latin typeface="Inter"/>
                <a:ea typeface="Inter"/>
                <a:cs typeface="Inter"/>
                <a:sym typeface="Inter"/>
              </a:endParaRPr>
            </a:p>
          </p:txBody>
        </p:sp>
      </p:grpSp>
      <p:grpSp>
        <p:nvGrpSpPr>
          <p:cNvPr id="144" name="Google Shape;144;p16"/>
          <p:cNvGrpSpPr/>
          <p:nvPr/>
        </p:nvGrpSpPr>
        <p:grpSpPr>
          <a:xfrm>
            <a:off x="381000" y="4305300"/>
            <a:ext cx="3619500" cy="266700"/>
            <a:chOff x="0" y="0"/>
            <a:chExt cx="3619500" cy="266700"/>
          </a:xfrm>
        </p:grpSpPr>
        <p:cxnSp>
          <p:nvCxnSpPr>
            <p:cNvPr id="145" name="Google Shape;145;p16"/>
            <p:cNvCxnSpPr/>
            <p:nvPr/>
          </p:nvCxnSpPr>
          <p:spPr>
            <a:xfrm>
              <a:off x="0" y="266700"/>
              <a:ext cx="3619500" cy="0"/>
            </a:xfrm>
            <a:prstGeom prst="straightConnector1">
              <a:avLst/>
            </a:prstGeom>
            <a:solidFill>
              <a:srgbClr val="FFFFFF"/>
            </a:solidFill>
            <a:ln w="7150" cap="flat" cmpd="sng">
              <a:solidFill>
                <a:srgbClr val="E5E7EB"/>
              </a:solidFill>
              <a:prstDash val="solid"/>
              <a:round/>
              <a:headEnd type="none" w="sm" len="sm"/>
              <a:tailEnd type="none" w="sm" len="sm"/>
            </a:ln>
          </p:spPr>
        </p:cxnSp>
        <p:sp>
          <p:nvSpPr>
            <p:cNvPr id="146" name="Google Shape;146;p16"/>
            <p:cNvSpPr txBox="1"/>
            <p:nvPr/>
          </p:nvSpPr>
          <p:spPr>
            <a:xfrm>
              <a:off x="0" y="0"/>
              <a:ext cx="2286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13" b="0">
                  <a:solidFill>
                    <a:srgbClr val="2563EB"/>
                  </a:solidFill>
                  <a:latin typeface="Roboto Mono SemiBold"/>
                  <a:ea typeface="Roboto Mono SemiBold"/>
                  <a:cs typeface="Roboto Mono SemiBold"/>
                  <a:sym typeface="Roboto Mono SemiBold"/>
                </a:rPr>
                <a:t>10</a:t>
              </a:r>
              <a:endParaRPr sz="713" b="0">
                <a:solidFill>
                  <a:srgbClr val="2563EB"/>
                </a:solidFill>
                <a:latin typeface="Roboto Mono SemiBold"/>
                <a:ea typeface="Roboto Mono SemiBold"/>
                <a:cs typeface="Roboto Mono SemiBold"/>
                <a:sym typeface="Roboto Mono SemiBold"/>
              </a:endParaRPr>
            </a:p>
          </p:txBody>
        </p:sp>
        <p:sp>
          <p:nvSpPr>
            <p:cNvPr id="147" name="Google Shape;147;p16"/>
            <p:cNvSpPr txBox="1"/>
            <p:nvPr/>
          </p:nvSpPr>
          <p:spPr>
            <a:xfrm>
              <a:off x="266700" y="0"/>
              <a:ext cx="3352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11827"/>
                  </a:solidFill>
                  <a:latin typeface="Inter SemiBold"/>
                  <a:ea typeface="Inter SemiBold"/>
                  <a:cs typeface="Inter SemiBold"/>
                  <a:sym typeface="Inter SemiBold"/>
                </a:rPr>
                <a:t>Dashboard / Reports:</a:t>
              </a:r>
              <a:r>
                <a:rPr lang="en" sz="863" b="0">
                  <a:solidFill>
                    <a:srgbClr val="4B5563"/>
                  </a:solidFill>
                  <a:latin typeface="Inter"/>
                  <a:ea typeface="Inter"/>
                  <a:cs typeface="Inter"/>
                  <a:sym typeface="Inter"/>
                </a:rPr>
                <a:t> Exposed business-readable analytics.</a:t>
              </a:r>
              <a:endParaRPr sz="863" b="0">
                <a:solidFill>
                  <a:srgbClr val="4B5563"/>
                </a:solidFill>
                <a:latin typeface="Inter"/>
                <a:ea typeface="Inter"/>
                <a:cs typeface="Inter"/>
                <a:sym typeface="Inter"/>
              </a:endParaRPr>
            </a:p>
          </p:txBody>
        </p:sp>
      </p:grpSp>
      <p:sp>
        <p:nvSpPr>
          <p:cNvPr id="148" name="Google Shape;148;p16"/>
          <p:cNvSpPr txBox="1"/>
          <p:nvPr/>
        </p:nvSpPr>
        <p:spPr>
          <a:xfrm>
            <a:off x="4381500" y="1171575"/>
            <a:ext cx="4381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750" b="1">
                <a:solidFill>
                  <a:srgbClr val="4B5563"/>
                </a:solidFill>
                <a:latin typeface="Roboto Mono"/>
                <a:ea typeface="Roboto Mono"/>
                <a:cs typeface="Roboto Mono"/>
                <a:sym typeface="Roboto Mono"/>
              </a:rPr>
              <a:t>Analytics Engine Architecture</a:t>
            </a:r>
            <a:endParaRPr/>
          </a:p>
        </p:txBody>
      </p:sp>
      <p:grpSp>
        <p:nvGrpSpPr>
          <p:cNvPr id="149" name="Google Shape;149;p16"/>
          <p:cNvGrpSpPr/>
          <p:nvPr/>
        </p:nvGrpSpPr>
        <p:grpSpPr>
          <a:xfrm>
            <a:off x="4381500" y="1352550"/>
            <a:ext cx="4381500" cy="3390900"/>
            <a:chOff x="4381500" y="1352550"/>
            <a:chExt cx="4381500" cy="3390900"/>
          </a:xfrm>
        </p:grpSpPr>
        <p:grpSp>
          <p:nvGrpSpPr>
            <p:cNvPr id="150" name="Google Shape;150;p16"/>
            <p:cNvGrpSpPr/>
            <p:nvPr/>
          </p:nvGrpSpPr>
          <p:grpSpPr>
            <a:xfrm>
              <a:off x="4381500" y="1352550"/>
              <a:ext cx="4381500" cy="628800"/>
              <a:chOff x="0" y="0"/>
              <a:chExt cx="4381500" cy="628800"/>
            </a:xfrm>
          </p:grpSpPr>
          <p:sp>
            <p:nvSpPr>
              <p:cNvPr id="151" name="Google Shape;151;p16"/>
              <p:cNvSpPr/>
              <p:nvPr/>
            </p:nvSpPr>
            <p:spPr>
              <a:xfrm>
                <a:off x="0" y="0"/>
                <a:ext cx="4381500" cy="628800"/>
              </a:xfrm>
              <a:prstGeom prst="roundRect">
                <a:avLst>
                  <a:gd name="adj" fmla="val 606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2" name="Google Shape;152;p16"/>
              <p:cNvSpPr/>
              <p:nvPr/>
            </p:nvSpPr>
            <p:spPr>
              <a:xfrm>
                <a:off x="0" y="0"/>
                <a:ext cx="57300" cy="6288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53" name="Google Shape;153;p16"/>
              <p:cNvGrpSpPr/>
              <p:nvPr/>
            </p:nvGrpSpPr>
            <p:grpSpPr>
              <a:xfrm>
                <a:off x="171450" y="95250"/>
                <a:ext cx="1714500" cy="438300"/>
                <a:chOff x="0" y="0"/>
                <a:chExt cx="1714500" cy="438300"/>
              </a:xfrm>
            </p:grpSpPr>
            <p:sp>
              <p:nvSpPr>
                <p:cNvPr id="154" name="Google Shape;154;p16"/>
                <p:cNvSpPr/>
                <p:nvPr/>
              </p:nvSpPr>
              <p:spPr>
                <a:xfrm>
                  <a:off x="0" y="0"/>
                  <a:ext cx="1714500" cy="438300"/>
                </a:xfrm>
                <a:prstGeom prst="roundRect">
                  <a:avLst>
                    <a:gd name="adj" fmla="val 6521"/>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5" name="Google Shape;155;p16"/>
                <p:cNvSpPr txBox="1"/>
                <p:nvPr/>
              </p:nvSpPr>
              <p:spPr>
                <a:xfrm>
                  <a:off x="95250" y="38100"/>
                  <a:ext cx="15240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2563EB"/>
                      </a:solidFill>
                      <a:latin typeface="Roboto Mono SemiBold"/>
                      <a:ea typeface="Roboto Mono SemiBold"/>
                      <a:cs typeface="Roboto Mono SemiBold"/>
                      <a:sym typeface="Roboto Mono SemiBold"/>
                    </a:rPr>
                    <a:t>STAGE 01</a:t>
                  </a:r>
                  <a:endParaRPr sz="600"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825" b="0">
                      <a:solidFill>
                        <a:srgbClr val="111827"/>
                      </a:solidFill>
                      <a:latin typeface="Inter SemiBold"/>
                      <a:ea typeface="Inter SemiBold"/>
                      <a:cs typeface="Inter SemiBold"/>
                      <a:sym typeface="Inter SemiBold"/>
                    </a:rPr>
                    <a:t>Workforce Dataset</a:t>
                  </a:r>
                  <a:endParaRPr sz="825" b="0">
                    <a:solidFill>
                      <a:srgbClr val="111827"/>
                    </a:solidFill>
                    <a:latin typeface="Inter SemiBold"/>
                    <a:ea typeface="Inter SemiBold"/>
                    <a:cs typeface="Inter SemiBold"/>
                    <a:sym typeface="Inter SemiBold"/>
                  </a:endParaRPr>
                </a:p>
              </p:txBody>
            </p:sp>
          </p:grpSp>
          <p:sp>
            <p:nvSpPr>
              <p:cNvPr id="156" name="Google Shape;156;p16"/>
              <p:cNvSpPr/>
              <p:nvPr/>
            </p:nvSpPr>
            <p:spPr>
              <a:xfrm>
                <a:off x="1962150" y="276225"/>
                <a:ext cx="171600" cy="76200"/>
              </a:xfrm>
              <a:custGeom>
                <a:avLst/>
                <a:gdLst/>
                <a:ahLst/>
                <a:cxnLst/>
                <a:rect l="l" t="t" r="r" b="b"/>
                <a:pathLst>
                  <a:path w="120000" h="120000" extrusionOk="0">
                    <a:moveTo>
                      <a:pt x="0" y="60000"/>
                    </a:moveTo>
                    <a:lnTo>
                      <a:pt x="120000" y="60000"/>
                    </a:lnTo>
                    <a:moveTo>
                      <a:pt x="86667" y="0"/>
                    </a:moveTo>
                    <a:lnTo>
                      <a:pt x="120000" y="60000"/>
                    </a:lnTo>
                    <a:lnTo>
                      <a:pt x="86667" y="120000"/>
                    </a:lnTo>
                  </a:path>
                </a:pathLst>
              </a:custGeom>
              <a:solidFill>
                <a:srgbClr val="000000">
                  <a:alpha val="0"/>
                </a:srgbClr>
              </a:solidFill>
              <a:ln w="14300" cap="rnd" cmpd="sng">
                <a:solidFill>
                  <a:srgbClr val="9CA3A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57" name="Google Shape;157;p16"/>
              <p:cNvGrpSpPr/>
              <p:nvPr/>
            </p:nvGrpSpPr>
            <p:grpSpPr>
              <a:xfrm>
                <a:off x="2495550" y="95250"/>
                <a:ext cx="1714500" cy="438300"/>
                <a:chOff x="0" y="0"/>
                <a:chExt cx="1714500" cy="438300"/>
              </a:xfrm>
            </p:grpSpPr>
            <p:sp>
              <p:nvSpPr>
                <p:cNvPr id="158" name="Google Shape;158;p16"/>
                <p:cNvSpPr/>
                <p:nvPr/>
              </p:nvSpPr>
              <p:spPr>
                <a:xfrm>
                  <a:off x="0" y="0"/>
                  <a:ext cx="1714500" cy="438300"/>
                </a:xfrm>
                <a:prstGeom prst="roundRect">
                  <a:avLst>
                    <a:gd name="adj" fmla="val 6521"/>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9" name="Google Shape;159;p16"/>
                <p:cNvSpPr txBox="1"/>
                <p:nvPr/>
              </p:nvSpPr>
              <p:spPr>
                <a:xfrm>
                  <a:off x="95250" y="38100"/>
                  <a:ext cx="15240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2563EB"/>
                      </a:solidFill>
                      <a:latin typeface="Roboto Mono SemiBold"/>
                      <a:ea typeface="Roboto Mono SemiBold"/>
                      <a:cs typeface="Roboto Mono SemiBold"/>
                      <a:sym typeface="Roboto Mono SemiBold"/>
                    </a:rPr>
                    <a:t>STAGE 02</a:t>
                  </a:r>
                  <a:endParaRPr sz="600"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825" b="0">
                      <a:solidFill>
                        <a:srgbClr val="111827"/>
                      </a:solidFill>
                      <a:latin typeface="Inter SemiBold"/>
                      <a:ea typeface="Inter SemiBold"/>
                      <a:cs typeface="Inter SemiBold"/>
                      <a:sym typeface="Inter SemiBold"/>
                    </a:rPr>
                    <a:t>Data Quality Gate</a:t>
                  </a:r>
                  <a:endParaRPr sz="825" b="0">
                    <a:solidFill>
                      <a:srgbClr val="111827"/>
                    </a:solidFill>
                    <a:latin typeface="Inter SemiBold"/>
                    <a:ea typeface="Inter SemiBold"/>
                    <a:cs typeface="Inter SemiBold"/>
                    <a:sym typeface="Inter SemiBold"/>
                  </a:endParaRPr>
                </a:p>
              </p:txBody>
            </p:sp>
          </p:grpSp>
        </p:grpSp>
        <p:grpSp>
          <p:nvGrpSpPr>
            <p:cNvPr id="160" name="Google Shape;160;p16"/>
            <p:cNvGrpSpPr/>
            <p:nvPr/>
          </p:nvGrpSpPr>
          <p:grpSpPr>
            <a:xfrm>
              <a:off x="4381500" y="2190750"/>
              <a:ext cx="4381500" cy="628800"/>
              <a:chOff x="0" y="0"/>
              <a:chExt cx="4381500" cy="628800"/>
            </a:xfrm>
          </p:grpSpPr>
          <p:sp>
            <p:nvSpPr>
              <p:cNvPr id="161" name="Google Shape;161;p16"/>
              <p:cNvSpPr/>
              <p:nvPr/>
            </p:nvSpPr>
            <p:spPr>
              <a:xfrm>
                <a:off x="0" y="0"/>
                <a:ext cx="4381500" cy="628800"/>
              </a:xfrm>
              <a:prstGeom prst="roundRect">
                <a:avLst>
                  <a:gd name="adj" fmla="val 606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2" name="Google Shape;162;p16"/>
              <p:cNvSpPr/>
              <p:nvPr/>
            </p:nvSpPr>
            <p:spPr>
              <a:xfrm>
                <a:off x="0" y="0"/>
                <a:ext cx="57300" cy="6288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63" name="Google Shape;163;p16"/>
              <p:cNvGrpSpPr/>
              <p:nvPr/>
            </p:nvGrpSpPr>
            <p:grpSpPr>
              <a:xfrm>
                <a:off x="171450" y="95250"/>
                <a:ext cx="1714500" cy="438300"/>
                <a:chOff x="0" y="0"/>
                <a:chExt cx="1714500" cy="438300"/>
              </a:xfrm>
            </p:grpSpPr>
            <p:sp>
              <p:nvSpPr>
                <p:cNvPr id="164" name="Google Shape;164;p16"/>
                <p:cNvSpPr/>
                <p:nvPr/>
              </p:nvSpPr>
              <p:spPr>
                <a:xfrm>
                  <a:off x="0" y="0"/>
                  <a:ext cx="1714500" cy="438300"/>
                </a:xfrm>
                <a:prstGeom prst="roundRect">
                  <a:avLst>
                    <a:gd name="adj" fmla="val 6521"/>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5" name="Google Shape;165;p16"/>
                <p:cNvSpPr txBox="1"/>
                <p:nvPr/>
              </p:nvSpPr>
              <p:spPr>
                <a:xfrm>
                  <a:off x="95250" y="38100"/>
                  <a:ext cx="15240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2563EB"/>
                      </a:solidFill>
                      <a:latin typeface="Roboto Mono SemiBold"/>
                      <a:ea typeface="Roboto Mono SemiBold"/>
                      <a:cs typeface="Roboto Mono SemiBold"/>
                      <a:sym typeface="Roboto Mono SemiBold"/>
                    </a:rPr>
                    <a:t>STAGE 03</a:t>
                  </a:r>
                  <a:endParaRPr sz="600"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825" b="0">
                      <a:solidFill>
                        <a:srgbClr val="111827"/>
                      </a:solidFill>
                      <a:latin typeface="Inter SemiBold"/>
                      <a:ea typeface="Inter SemiBold"/>
                      <a:cs typeface="Inter SemiBold"/>
                      <a:sym typeface="Inter SemiBold"/>
                    </a:rPr>
                    <a:t>Preprocessing</a:t>
                  </a:r>
                  <a:endParaRPr sz="825" b="0">
                    <a:solidFill>
                      <a:srgbClr val="111827"/>
                    </a:solidFill>
                    <a:latin typeface="Inter SemiBold"/>
                    <a:ea typeface="Inter SemiBold"/>
                    <a:cs typeface="Inter SemiBold"/>
                    <a:sym typeface="Inter SemiBold"/>
                  </a:endParaRPr>
                </a:p>
              </p:txBody>
            </p:sp>
          </p:grpSp>
          <p:sp>
            <p:nvSpPr>
              <p:cNvPr id="166" name="Google Shape;166;p16"/>
              <p:cNvSpPr/>
              <p:nvPr/>
            </p:nvSpPr>
            <p:spPr>
              <a:xfrm>
                <a:off x="1962150" y="276225"/>
                <a:ext cx="171600" cy="76200"/>
              </a:xfrm>
              <a:custGeom>
                <a:avLst/>
                <a:gdLst/>
                <a:ahLst/>
                <a:cxnLst/>
                <a:rect l="l" t="t" r="r" b="b"/>
                <a:pathLst>
                  <a:path w="120000" h="120000" extrusionOk="0">
                    <a:moveTo>
                      <a:pt x="0" y="60000"/>
                    </a:moveTo>
                    <a:lnTo>
                      <a:pt x="120000" y="60000"/>
                    </a:lnTo>
                    <a:moveTo>
                      <a:pt x="86667" y="0"/>
                    </a:moveTo>
                    <a:lnTo>
                      <a:pt x="120000" y="60000"/>
                    </a:lnTo>
                    <a:lnTo>
                      <a:pt x="86667" y="120000"/>
                    </a:lnTo>
                  </a:path>
                </a:pathLst>
              </a:custGeom>
              <a:solidFill>
                <a:srgbClr val="000000">
                  <a:alpha val="0"/>
                </a:srgbClr>
              </a:solidFill>
              <a:ln w="14300" cap="rnd" cmpd="sng">
                <a:solidFill>
                  <a:srgbClr val="9CA3A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67" name="Google Shape;167;p16"/>
              <p:cNvGrpSpPr/>
              <p:nvPr/>
            </p:nvGrpSpPr>
            <p:grpSpPr>
              <a:xfrm>
                <a:off x="2495550" y="95250"/>
                <a:ext cx="1714500" cy="438300"/>
                <a:chOff x="0" y="0"/>
                <a:chExt cx="1714500" cy="438300"/>
              </a:xfrm>
            </p:grpSpPr>
            <p:sp>
              <p:nvSpPr>
                <p:cNvPr id="168" name="Google Shape;168;p16"/>
                <p:cNvSpPr/>
                <p:nvPr/>
              </p:nvSpPr>
              <p:spPr>
                <a:xfrm>
                  <a:off x="0" y="0"/>
                  <a:ext cx="1714500" cy="438300"/>
                </a:xfrm>
                <a:prstGeom prst="roundRect">
                  <a:avLst>
                    <a:gd name="adj" fmla="val 6521"/>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9" name="Google Shape;169;p16"/>
                <p:cNvSpPr txBox="1"/>
                <p:nvPr/>
              </p:nvSpPr>
              <p:spPr>
                <a:xfrm>
                  <a:off x="95250" y="38100"/>
                  <a:ext cx="15240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2563EB"/>
                      </a:solidFill>
                      <a:latin typeface="Roboto Mono SemiBold"/>
                      <a:ea typeface="Roboto Mono SemiBold"/>
                      <a:cs typeface="Roboto Mono SemiBold"/>
                      <a:sym typeface="Roboto Mono SemiBold"/>
                    </a:rPr>
                    <a:t>STAGE 04</a:t>
                  </a:r>
                  <a:endParaRPr sz="600"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825" b="0">
                      <a:solidFill>
                        <a:srgbClr val="111827"/>
                      </a:solidFill>
                      <a:latin typeface="Inter SemiBold"/>
                      <a:ea typeface="Inter SemiBold"/>
                      <a:cs typeface="Inter SemiBold"/>
                      <a:sym typeface="Inter SemiBold"/>
                    </a:rPr>
                    <a:t>Feature Engineering</a:t>
                  </a:r>
                  <a:endParaRPr sz="825" b="0">
                    <a:solidFill>
                      <a:srgbClr val="111827"/>
                    </a:solidFill>
                    <a:latin typeface="Inter SemiBold"/>
                    <a:ea typeface="Inter SemiBold"/>
                    <a:cs typeface="Inter SemiBold"/>
                    <a:sym typeface="Inter SemiBold"/>
                  </a:endParaRPr>
                </a:p>
              </p:txBody>
            </p:sp>
          </p:grpSp>
        </p:grpSp>
        <p:grpSp>
          <p:nvGrpSpPr>
            <p:cNvPr id="170" name="Google Shape;170;p16"/>
            <p:cNvGrpSpPr/>
            <p:nvPr/>
          </p:nvGrpSpPr>
          <p:grpSpPr>
            <a:xfrm>
              <a:off x="4381500" y="3028950"/>
              <a:ext cx="4381500" cy="628800"/>
              <a:chOff x="0" y="0"/>
              <a:chExt cx="4381500" cy="628800"/>
            </a:xfrm>
          </p:grpSpPr>
          <p:sp>
            <p:nvSpPr>
              <p:cNvPr id="171" name="Google Shape;171;p16"/>
              <p:cNvSpPr/>
              <p:nvPr/>
            </p:nvSpPr>
            <p:spPr>
              <a:xfrm>
                <a:off x="0" y="0"/>
                <a:ext cx="4381500" cy="628800"/>
              </a:xfrm>
              <a:prstGeom prst="roundRect">
                <a:avLst>
                  <a:gd name="adj" fmla="val 606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2" name="Google Shape;172;p16"/>
              <p:cNvSpPr/>
              <p:nvPr/>
            </p:nvSpPr>
            <p:spPr>
              <a:xfrm>
                <a:off x="0" y="0"/>
                <a:ext cx="57300" cy="6288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73" name="Google Shape;173;p16"/>
              <p:cNvGrpSpPr/>
              <p:nvPr/>
            </p:nvGrpSpPr>
            <p:grpSpPr>
              <a:xfrm>
                <a:off x="171450" y="95250"/>
                <a:ext cx="1714500" cy="438300"/>
                <a:chOff x="0" y="0"/>
                <a:chExt cx="1714500" cy="438300"/>
              </a:xfrm>
            </p:grpSpPr>
            <p:sp>
              <p:nvSpPr>
                <p:cNvPr id="174" name="Google Shape;174;p16"/>
                <p:cNvSpPr/>
                <p:nvPr/>
              </p:nvSpPr>
              <p:spPr>
                <a:xfrm>
                  <a:off x="0" y="0"/>
                  <a:ext cx="1714500" cy="438300"/>
                </a:xfrm>
                <a:prstGeom prst="roundRect">
                  <a:avLst>
                    <a:gd name="adj" fmla="val 6521"/>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16"/>
                <p:cNvSpPr txBox="1"/>
                <p:nvPr/>
              </p:nvSpPr>
              <p:spPr>
                <a:xfrm>
                  <a:off x="95250" y="38100"/>
                  <a:ext cx="15240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2563EB"/>
                      </a:solidFill>
                      <a:latin typeface="Roboto Mono SemiBold"/>
                      <a:ea typeface="Roboto Mono SemiBold"/>
                      <a:cs typeface="Roboto Mono SemiBold"/>
                      <a:sym typeface="Roboto Mono SemiBold"/>
                    </a:rPr>
                    <a:t>STAGE 05</a:t>
                  </a:r>
                  <a:endParaRPr sz="600"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825" b="0">
                      <a:solidFill>
                        <a:srgbClr val="111827"/>
                      </a:solidFill>
                      <a:latin typeface="Inter SemiBold"/>
                      <a:ea typeface="Inter SemiBold"/>
                      <a:cs typeface="Inter SemiBold"/>
                      <a:sym typeface="Inter SemiBold"/>
                    </a:rPr>
                    <a:t>Workforce Trends</a:t>
                  </a:r>
                  <a:endParaRPr sz="825" b="0">
                    <a:solidFill>
                      <a:srgbClr val="111827"/>
                    </a:solidFill>
                    <a:latin typeface="Inter SemiBold"/>
                    <a:ea typeface="Inter SemiBold"/>
                    <a:cs typeface="Inter SemiBold"/>
                    <a:sym typeface="Inter SemiBold"/>
                  </a:endParaRPr>
                </a:p>
              </p:txBody>
            </p:sp>
          </p:grpSp>
          <p:sp>
            <p:nvSpPr>
              <p:cNvPr id="176" name="Google Shape;176;p16"/>
              <p:cNvSpPr/>
              <p:nvPr/>
            </p:nvSpPr>
            <p:spPr>
              <a:xfrm>
                <a:off x="1962150" y="276225"/>
                <a:ext cx="171600" cy="76200"/>
              </a:xfrm>
              <a:custGeom>
                <a:avLst/>
                <a:gdLst/>
                <a:ahLst/>
                <a:cxnLst/>
                <a:rect l="l" t="t" r="r" b="b"/>
                <a:pathLst>
                  <a:path w="120000" h="120000" extrusionOk="0">
                    <a:moveTo>
                      <a:pt x="0" y="60000"/>
                    </a:moveTo>
                    <a:lnTo>
                      <a:pt x="120000" y="60000"/>
                    </a:lnTo>
                    <a:moveTo>
                      <a:pt x="86667" y="0"/>
                    </a:moveTo>
                    <a:lnTo>
                      <a:pt x="120000" y="60000"/>
                    </a:lnTo>
                    <a:lnTo>
                      <a:pt x="86667" y="120000"/>
                    </a:lnTo>
                  </a:path>
                </a:pathLst>
              </a:custGeom>
              <a:solidFill>
                <a:srgbClr val="000000">
                  <a:alpha val="0"/>
                </a:srgbClr>
              </a:solidFill>
              <a:ln w="14300" cap="rnd" cmpd="sng">
                <a:solidFill>
                  <a:srgbClr val="9CA3A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77" name="Google Shape;177;p16"/>
              <p:cNvGrpSpPr/>
              <p:nvPr/>
            </p:nvGrpSpPr>
            <p:grpSpPr>
              <a:xfrm>
                <a:off x="2495550" y="95250"/>
                <a:ext cx="1714500" cy="438300"/>
                <a:chOff x="0" y="0"/>
                <a:chExt cx="1714500" cy="438300"/>
              </a:xfrm>
            </p:grpSpPr>
            <p:sp>
              <p:nvSpPr>
                <p:cNvPr id="178" name="Google Shape;178;p16"/>
                <p:cNvSpPr/>
                <p:nvPr/>
              </p:nvSpPr>
              <p:spPr>
                <a:xfrm>
                  <a:off x="0" y="0"/>
                  <a:ext cx="1714500" cy="438300"/>
                </a:xfrm>
                <a:prstGeom prst="roundRect">
                  <a:avLst>
                    <a:gd name="adj" fmla="val 6521"/>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16"/>
                <p:cNvSpPr txBox="1"/>
                <p:nvPr/>
              </p:nvSpPr>
              <p:spPr>
                <a:xfrm>
                  <a:off x="95250" y="38100"/>
                  <a:ext cx="15240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2563EB"/>
                      </a:solidFill>
                      <a:latin typeface="Roboto Mono SemiBold"/>
                      <a:ea typeface="Roboto Mono SemiBold"/>
                      <a:cs typeface="Roboto Mono SemiBold"/>
                      <a:sym typeface="Roboto Mono SemiBold"/>
                    </a:rPr>
                    <a:t>STAGE 06</a:t>
                  </a:r>
                  <a:endParaRPr sz="600"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825" b="0">
                      <a:solidFill>
                        <a:srgbClr val="111827"/>
                      </a:solidFill>
                      <a:latin typeface="Inter SemiBold"/>
                      <a:ea typeface="Inter SemiBold"/>
                      <a:cs typeface="Inter SemiBold"/>
                      <a:sym typeface="Inter SemiBold"/>
                    </a:rPr>
                    <a:t>Attrition Prediction</a:t>
                  </a:r>
                  <a:endParaRPr sz="825" b="0">
                    <a:solidFill>
                      <a:srgbClr val="111827"/>
                    </a:solidFill>
                    <a:latin typeface="Inter SemiBold"/>
                    <a:ea typeface="Inter SemiBold"/>
                    <a:cs typeface="Inter SemiBold"/>
                    <a:sym typeface="Inter SemiBold"/>
                  </a:endParaRPr>
                </a:p>
              </p:txBody>
            </p:sp>
          </p:grpSp>
        </p:grpSp>
        <p:grpSp>
          <p:nvGrpSpPr>
            <p:cNvPr id="180" name="Google Shape;180;p16"/>
            <p:cNvGrpSpPr/>
            <p:nvPr/>
          </p:nvGrpSpPr>
          <p:grpSpPr>
            <a:xfrm>
              <a:off x="4381500" y="3867150"/>
              <a:ext cx="4381500" cy="876300"/>
              <a:chOff x="0" y="0"/>
              <a:chExt cx="4381500" cy="876300"/>
            </a:xfrm>
          </p:grpSpPr>
          <p:sp>
            <p:nvSpPr>
              <p:cNvPr id="181" name="Google Shape;181;p16"/>
              <p:cNvSpPr/>
              <p:nvPr/>
            </p:nvSpPr>
            <p:spPr>
              <a:xfrm>
                <a:off x="0" y="0"/>
                <a:ext cx="4381500" cy="876300"/>
              </a:xfrm>
              <a:prstGeom prst="roundRect">
                <a:avLst>
                  <a:gd name="adj" fmla="val 4347"/>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2" name="Google Shape;182;p16"/>
              <p:cNvSpPr/>
              <p:nvPr/>
            </p:nvSpPr>
            <p:spPr>
              <a:xfrm>
                <a:off x="0" y="0"/>
                <a:ext cx="57300" cy="876300"/>
              </a:xfrm>
              <a:prstGeom prst="roundRect">
                <a:avLst>
                  <a:gd name="adj" fmla="val 16666"/>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3" name="Google Shape;183;p16"/>
              <p:cNvGrpSpPr/>
              <p:nvPr/>
            </p:nvGrpSpPr>
            <p:grpSpPr>
              <a:xfrm>
                <a:off x="171450" y="95250"/>
                <a:ext cx="1276500" cy="324000"/>
                <a:chOff x="0" y="0"/>
                <a:chExt cx="1276500" cy="324000"/>
              </a:xfrm>
            </p:grpSpPr>
            <p:sp>
              <p:nvSpPr>
                <p:cNvPr id="184" name="Google Shape;184;p16"/>
                <p:cNvSpPr/>
                <p:nvPr/>
              </p:nvSpPr>
              <p:spPr>
                <a:xfrm>
                  <a:off x="0" y="0"/>
                  <a:ext cx="1276500" cy="324000"/>
                </a:xfrm>
                <a:prstGeom prst="roundRect">
                  <a:avLst>
                    <a:gd name="adj" fmla="val 8823"/>
                  </a:avLst>
                </a:prstGeom>
                <a:solidFill>
                  <a:srgbClr val="ECFDF5"/>
                </a:solidFill>
                <a:ln w="9525" cap="flat" cmpd="sng">
                  <a:solidFill>
                    <a:srgbClr val="A7F3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16"/>
                <p:cNvSpPr txBox="1"/>
                <p:nvPr/>
              </p:nvSpPr>
              <p:spPr>
                <a:xfrm>
                  <a:off x="57150" y="19050"/>
                  <a:ext cx="11622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563" b="0">
                      <a:solidFill>
                        <a:srgbClr val="059669"/>
                      </a:solidFill>
                      <a:latin typeface="Roboto Mono SemiBold"/>
                      <a:ea typeface="Roboto Mono SemiBold"/>
                      <a:cs typeface="Roboto Mono SemiBold"/>
                      <a:sym typeface="Roboto Mono SemiBold"/>
                    </a:rPr>
                    <a:t>STAGE 07</a:t>
                  </a:r>
                  <a:endParaRPr sz="563" b="0">
                    <a:solidFill>
                      <a:srgbClr val="059669"/>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750" b="0">
                      <a:solidFill>
                        <a:srgbClr val="065F46"/>
                      </a:solidFill>
                      <a:latin typeface="Inter SemiBold"/>
                      <a:ea typeface="Inter SemiBold"/>
                      <a:cs typeface="Inter SemiBold"/>
                      <a:sym typeface="Inter SemiBold"/>
                    </a:rPr>
                    <a:t>07. Validation</a:t>
                  </a:r>
                  <a:endParaRPr sz="750" b="0">
                    <a:solidFill>
                      <a:srgbClr val="065F46"/>
                    </a:solidFill>
                    <a:latin typeface="Inter SemiBold"/>
                    <a:ea typeface="Inter SemiBold"/>
                    <a:cs typeface="Inter SemiBold"/>
                    <a:sym typeface="Inter SemiBold"/>
                  </a:endParaRPr>
                </a:p>
              </p:txBody>
            </p:sp>
          </p:grpSp>
          <p:grpSp>
            <p:nvGrpSpPr>
              <p:cNvPr id="186" name="Google Shape;186;p16"/>
              <p:cNvGrpSpPr/>
              <p:nvPr/>
            </p:nvGrpSpPr>
            <p:grpSpPr>
              <a:xfrm>
                <a:off x="1533525" y="95250"/>
                <a:ext cx="1276500" cy="324000"/>
                <a:chOff x="0" y="0"/>
                <a:chExt cx="1276500" cy="324000"/>
              </a:xfrm>
            </p:grpSpPr>
            <p:sp>
              <p:nvSpPr>
                <p:cNvPr id="187" name="Google Shape;187;p16"/>
                <p:cNvSpPr/>
                <p:nvPr/>
              </p:nvSpPr>
              <p:spPr>
                <a:xfrm>
                  <a:off x="0" y="0"/>
                  <a:ext cx="1276500" cy="324000"/>
                </a:xfrm>
                <a:prstGeom prst="roundRect">
                  <a:avLst>
                    <a:gd name="adj" fmla="val 8823"/>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8" name="Google Shape;188;p16"/>
                <p:cNvSpPr txBox="1"/>
                <p:nvPr/>
              </p:nvSpPr>
              <p:spPr>
                <a:xfrm>
                  <a:off x="57150" y="19050"/>
                  <a:ext cx="11622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563" b="0">
                      <a:solidFill>
                        <a:srgbClr val="2563EB"/>
                      </a:solidFill>
                      <a:latin typeface="Roboto Mono SemiBold"/>
                      <a:ea typeface="Roboto Mono SemiBold"/>
                      <a:cs typeface="Roboto Mono SemiBold"/>
                      <a:sym typeface="Roboto Mono SemiBold"/>
                    </a:rPr>
                    <a:t>STAGE 08</a:t>
                  </a:r>
                  <a:endParaRPr sz="563"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750" b="0">
                      <a:solidFill>
                        <a:srgbClr val="111827"/>
                      </a:solidFill>
                      <a:latin typeface="Inter SemiBold"/>
                      <a:ea typeface="Inter SemiBold"/>
                      <a:cs typeface="Inter SemiBold"/>
                      <a:sym typeface="Inter SemiBold"/>
                    </a:rPr>
                    <a:t>08. Health Analysis</a:t>
                  </a:r>
                  <a:endParaRPr sz="750" b="0">
                    <a:solidFill>
                      <a:srgbClr val="111827"/>
                    </a:solidFill>
                    <a:latin typeface="Inter SemiBold"/>
                    <a:ea typeface="Inter SemiBold"/>
                    <a:cs typeface="Inter SemiBold"/>
                    <a:sym typeface="Inter SemiBold"/>
                  </a:endParaRPr>
                </a:p>
              </p:txBody>
            </p:sp>
          </p:grpSp>
          <p:grpSp>
            <p:nvGrpSpPr>
              <p:cNvPr id="189" name="Google Shape;189;p16"/>
              <p:cNvGrpSpPr/>
              <p:nvPr/>
            </p:nvGrpSpPr>
            <p:grpSpPr>
              <a:xfrm>
                <a:off x="2895600" y="95250"/>
                <a:ext cx="1314600" cy="324000"/>
                <a:chOff x="0" y="0"/>
                <a:chExt cx="1314600" cy="324000"/>
              </a:xfrm>
            </p:grpSpPr>
            <p:sp>
              <p:nvSpPr>
                <p:cNvPr id="190" name="Google Shape;190;p16"/>
                <p:cNvSpPr/>
                <p:nvPr/>
              </p:nvSpPr>
              <p:spPr>
                <a:xfrm>
                  <a:off x="0" y="0"/>
                  <a:ext cx="1314600" cy="324000"/>
                </a:xfrm>
                <a:prstGeom prst="roundRect">
                  <a:avLst>
                    <a:gd name="adj" fmla="val 8823"/>
                  </a:avLst>
                </a:prstGeom>
                <a:solidFill>
                  <a:srgbClr val="F9FAFB"/>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1" name="Google Shape;191;p16"/>
                <p:cNvSpPr txBox="1"/>
                <p:nvPr/>
              </p:nvSpPr>
              <p:spPr>
                <a:xfrm>
                  <a:off x="57150" y="19050"/>
                  <a:ext cx="12003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563" b="0">
                      <a:solidFill>
                        <a:srgbClr val="2563EB"/>
                      </a:solidFill>
                      <a:latin typeface="Roboto Mono SemiBold"/>
                      <a:ea typeface="Roboto Mono SemiBold"/>
                      <a:cs typeface="Roboto Mono SemiBold"/>
                      <a:sym typeface="Roboto Mono SemiBold"/>
                    </a:rPr>
                    <a:t>STAGE 09</a:t>
                  </a:r>
                  <a:endParaRPr sz="563" b="0">
                    <a:solidFill>
                      <a:srgbClr val="2563EB"/>
                    </a:solidFill>
                    <a:latin typeface="Roboto Mono SemiBold"/>
                    <a:ea typeface="Roboto Mono SemiBold"/>
                    <a:cs typeface="Roboto Mono SemiBold"/>
                    <a:sym typeface="Roboto Mono SemiBold"/>
                  </a:endParaRPr>
                </a:p>
                <a:p>
                  <a:pPr marL="0" lvl="0" indent="0" algn="l" rtl="0">
                    <a:spcBef>
                      <a:spcPts val="0"/>
                    </a:spcBef>
                    <a:spcAft>
                      <a:spcPts val="0"/>
                    </a:spcAft>
                    <a:buNone/>
                  </a:pPr>
                  <a:r>
                    <a:rPr lang="en" sz="750" b="0">
                      <a:solidFill>
                        <a:srgbClr val="111827"/>
                      </a:solidFill>
                      <a:latin typeface="Inter SemiBold"/>
                      <a:ea typeface="Inter SemiBold"/>
                      <a:cs typeface="Inter SemiBold"/>
                      <a:sym typeface="Inter SemiBold"/>
                    </a:rPr>
                    <a:t>09. Skill Gap</a:t>
                  </a:r>
                  <a:endParaRPr sz="750" b="0">
                    <a:solidFill>
                      <a:srgbClr val="111827"/>
                    </a:solidFill>
                    <a:latin typeface="Inter SemiBold"/>
                    <a:ea typeface="Inter SemiBold"/>
                    <a:cs typeface="Inter SemiBold"/>
                    <a:sym typeface="Inter SemiBold"/>
                  </a:endParaRPr>
                </a:p>
              </p:txBody>
            </p:sp>
          </p:grpSp>
          <p:cxnSp>
            <p:nvCxnSpPr>
              <p:cNvPr id="192" name="Google Shape;192;p16"/>
              <p:cNvCxnSpPr/>
              <p:nvPr/>
            </p:nvCxnSpPr>
            <p:spPr>
              <a:xfrm>
                <a:off x="809625" y="419100"/>
                <a:ext cx="0" cy="38100"/>
              </a:xfrm>
              <a:prstGeom prst="straightConnector1">
                <a:avLst/>
              </a:prstGeom>
              <a:solidFill>
                <a:srgbClr val="FFFFFF"/>
              </a:solidFill>
              <a:ln w="9525" cap="flat" cmpd="sng">
                <a:solidFill>
                  <a:srgbClr val="9CA3AF"/>
                </a:solidFill>
                <a:prstDash val="solid"/>
                <a:round/>
                <a:headEnd type="none" w="sm" len="sm"/>
                <a:tailEnd type="none" w="sm" len="sm"/>
              </a:ln>
            </p:spPr>
          </p:cxnSp>
          <p:cxnSp>
            <p:nvCxnSpPr>
              <p:cNvPr id="193" name="Google Shape;193;p16"/>
              <p:cNvCxnSpPr/>
              <p:nvPr/>
            </p:nvCxnSpPr>
            <p:spPr>
              <a:xfrm>
                <a:off x="2171700" y="419100"/>
                <a:ext cx="0" cy="38100"/>
              </a:xfrm>
              <a:prstGeom prst="straightConnector1">
                <a:avLst/>
              </a:prstGeom>
              <a:solidFill>
                <a:srgbClr val="FFFFFF"/>
              </a:solidFill>
              <a:ln w="9525" cap="flat" cmpd="sng">
                <a:solidFill>
                  <a:srgbClr val="9CA3AF"/>
                </a:solidFill>
                <a:prstDash val="solid"/>
                <a:round/>
                <a:headEnd type="none" w="sm" len="sm"/>
                <a:tailEnd type="none" w="sm" len="sm"/>
              </a:ln>
            </p:spPr>
          </p:cxnSp>
          <p:cxnSp>
            <p:nvCxnSpPr>
              <p:cNvPr id="194" name="Google Shape;194;p16"/>
              <p:cNvCxnSpPr/>
              <p:nvPr/>
            </p:nvCxnSpPr>
            <p:spPr>
              <a:xfrm>
                <a:off x="3552825" y="419100"/>
                <a:ext cx="0" cy="38100"/>
              </a:xfrm>
              <a:prstGeom prst="straightConnector1">
                <a:avLst/>
              </a:prstGeom>
              <a:solidFill>
                <a:srgbClr val="FFFFFF"/>
              </a:solidFill>
              <a:ln w="9525" cap="flat" cmpd="sng">
                <a:solidFill>
                  <a:srgbClr val="9CA3AF"/>
                </a:solidFill>
                <a:prstDash val="solid"/>
                <a:round/>
                <a:headEnd type="none" w="sm" len="sm"/>
                <a:tailEnd type="none" w="sm" len="sm"/>
              </a:ln>
            </p:spPr>
          </p:cxnSp>
          <p:cxnSp>
            <p:nvCxnSpPr>
              <p:cNvPr id="195" name="Google Shape;195;p16"/>
              <p:cNvCxnSpPr/>
              <p:nvPr/>
            </p:nvCxnSpPr>
            <p:spPr>
              <a:xfrm>
                <a:off x="809625" y="457200"/>
                <a:ext cx="2743200" cy="0"/>
              </a:xfrm>
              <a:prstGeom prst="straightConnector1">
                <a:avLst/>
              </a:prstGeom>
              <a:solidFill>
                <a:srgbClr val="FFFFFF"/>
              </a:solidFill>
              <a:ln w="9525" cap="flat" cmpd="sng">
                <a:solidFill>
                  <a:srgbClr val="9CA3AF"/>
                </a:solidFill>
                <a:prstDash val="solid"/>
                <a:round/>
                <a:headEnd type="none" w="sm" len="sm"/>
                <a:tailEnd type="none" w="sm" len="sm"/>
              </a:ln>
            </p:spPr>
          </p:cxnSp>
          <p:cxnSp>
            <p:nvCxnSpPr>
              <p:cNvPr id="196" name="Google Shape;196;p16"/>
              <p:cNvCxnSpPr/>
              <p:nvPr/>
            </p:nvCxnSpPr>
            <p:spPr>
              <a:xfrm>
                <a:off x="2171700" y="457200"/>
                <a:ext cx="0" cy="38100"/>
              </a:xfrm>
              <a:prstGeom prst="straightConnector1">
                <a:avLst/>
              </a:prstGeom>
              <a:solidFill>
                <a:srgbClr val="FFFFFF"/>
              </a:solidFill>
              <a:ln w="9525" cap="flat" cmpd="sng">
                <a:solidFill>
                  <a:srgbClr val="9CA3AF"/>
                </a:solidFill>
                <a:prstDash val="solid"/>
                <a:round/>
                <a:headEnd type="none" w="sm" len="sm"/>
                <a:tailEnd type="none" w="sm" len="sm"/>
              </a:ln>
            </p:spPr>
          </p:cxnSp>
          <p:sp>
            <p:nvSpPr>
              <p:cNvPr id="197" name="Google Shape;197;p16"/>
              <p:cNvSpPr/>
              <p:nvPr/>
            </p:nvSpPr>
            <p:spPr>
              <a:xfrm>
                <a:off x="2171700" y="476250"/>
                <a:ext cx="0" cy="28500"/>
              </a:xfrm>
              <a:custGeom>
                <a:avLst/>
                <a:gdLst/>
                <a:ahLst/>
                <a:cxnLst/>
                <a:rect l="l" t="t" r="r" b="b"/>
                <a:pathLst>
                  <a:path w="120000" h="120000" fill="none" extrusionOk="0">
                    <a:moveTo>
                      <a:pt x="0" y="0"/>
                    </a:moveTo>
                    <a:lnTo>
                      <a:pt x="0" y="120000"/>
                    </a:lnTo>
                  </a:path>
                </a:pathLst>
              </a:custGeom>
              <a:solidFill>
                <a:srgbClr val="FFFFFF"/>
              </a:solidFill>
              <a:ln w="14300" cap="rnd" cmpd="sng">
                <a:solidFill>
                  <a:srgbClr val="9CA3A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98" name="Google Shape;198;p16"/>
              <p:cNvGrpSpPr/>
              <p:nvPr/>
            </p:nvGrpSpPr>
            <p:grpSpPr>
              <a:xfrm>
                <a:off x="171450" y="504825"/>
                <a:ext cx="4038600" cy="295200"/>
                <a:chOff x="0" y="0"/>
                <a:chExt cx="4038600" cy="295200"/>
              </a:xfrm>
            </p:grpSpPr>
            <p:sp>
              <p:nvSpPr>
                <p:cNvPr id="199" name="Google Shape;199;p16"/>
                <p:cNvSpPr/>
                <p:nvPr/>
              </p:nvSpPr>
              <p:spPr>
                <a:xfrm>
                  <a:off x="0" y="0"/>
                  <a:ext cx="4038600" cy="295200"/>
                </a:xfrm>
                <a:prstGeom prst="roundRect">
                  <a:avLst>
                    <a:gd name="adj" fmla="val 9677"/>
                  </a:avLst>
                </a:prstGeom>
                <a:solidFill>
                  <a:srgbClr val="EFF6FF"/>
                </a:solidFill>
                <a:ln w="9525" cap="flat" cmpd="sng">
                  <a:solidFill>
                    <a:srgbClr val="BFDB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0" name="Google Shape;200;p16"/>
                <p:cNvSpPr txBox="1"/>
                <p:nvPr/>
              </p:nvSpPr>
              <p:spPr>
                <a:xfrm>
                  <a:off x="95250" y="9525"/>
                  <a:ext cx="3848100" cy="276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13" b="1">
                      <a:solidFill>
                        <a:srgbClr val="2563EB"/>
                      </a:solidFill>
                      <a:latin typeface="Roboto Mono"/>
                      <a:ea typeface="Roboto Mono"/>
                      <a:cs typeface="Roboto Mono"/>
                      <a:sym typeface="Roboto Mono"/>
                    </a:rPr>
                    <a:t>10. Dashboard &amp; Strategic Reports (Access Layer)</a:t>
                  </a:r>
                  <a:endParaRPr sz="713" b="1">
                    <a:solidFill>
                      <a:srgbClr val="2563EB"/>
                    </a:solidFill>
                    <a:latin typeface="Roboto Mono"/>
                    <a:ea typeface="Roboto Mono"/>
                    <a:cs typeface="Roboto Mono"/>
                    <a:sym typeface="Roboto Mono"/>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7"/>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06" name="Google Shape;206;p17"/>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207" name="Google Shape;207;p17"/>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208" name="Google Shape;208;p17"/>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p17"/>
          <p:cNvSpPr txBox="1"/>
          <p:nvPr/>
        </p:nvSpPr>
        <p:spPr>
          <a:xfrm>
            <a:off x="533400" y="342900"/>
            <a:ext cx="8229600" cy="66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50" b="1">
                <a:solidFill>
                  <a:srgbClr val="111827"/>
                </a:solidFill>
                <a:latin typeface="Inter"/>
                <a:ea typeface="Inter"/>
                <a:cs typeface="Inter"/>
                <a:sym typeface="Inter"/>
              </a:rPr>
              <a:t>Data Ingestion Layer &amp; PostgreSQL Database Schema Foundations</a:t>
            </a:r>
            <a:endParaRPr sz="1650" b="1">
              <a:solidFill>
                <a:srgbClr val="111827"/>
              </a:solidFill>
              <a:latin typeface="Inter"/>
              <a:ea typeface="Inter"/>
              <a:cs typeface="Inter"/>
              <a:sym typeface="Inter"/>
            </a:endParaRPr>
          </a:p>
          <a:p>
            <a:pPr marL="0" lvl="0" indent="0" algn="l" rtl="0">
              <a:spcBef>
                <a:spcPts val="300"/>
              </a:spcBef>
              <a:spcAft>
                <a:spcPts val="0"/>
              </a:spcAft>
              <a:buNone/>
            </a:pPr>
            <a:r>
              <a:rPr lang="en" sz="975" b="0">
                <a:solidFill>
                  <a:srgbClr val="4B5563"/>
                </a:solidFill>
                <a:latin typeface="Inter Medium"/>
                <a:ea typeface="Inter Medium"/>
                <a:cs typeface="Inter Medium"/>
                <a:sym typeface="Inter Medium"/>
              </a:rPr>
              <a:t>Secure Enterprise HR Integrations &amp; Relational Data Architecture</a:t>
            </a:r>
            <a:endParaRPr sz="975" b="0">
              <a:solidFill>
                <a:srgbClr val="4B5563"/>
              </a:solidFill>
              <a:latin typeface="Inter Medium"/>
              <a:ea typeface="Inter Medium"/>
              <a:cs typeface="Inter Medium"/>
              <a:sym typeface="Inter Medium"/>
            </a:endParaRPr>
          </a:p>
        </p:txBody>
      </p:sp>
      <p:grpSp>
        <p:nvGrpSpPr>
          <p:cNvPr id="210" name="Google Shape;210;p17"/>
          <p:cNvGrpSpPr/>
          <p:nvPr/>
        </p:nvGrpSpPr>
        <p:grpSpPr>
          <a:xfrm>
            <a:off x="514350" y="1333500"/>
            <a:ext cx="3905400" cy="2952825"/>
            <a:chOff x="0" y="0"/>
            <a:chExt cx="3905400" cy="2952825"/>
          </a:xfrm>
        </p:grpSpPr>
        <p:sp>
          <p:nvSpPr>
            <p:cNvPr id="211" name="Google Shape;211;p17"/>
            <p:cNvSpPr txBox="1"/>
            <p:nvPr/>
          </p:nvSpPr>
          <p:spPr>
            <a:xfrm>
              <a:off x="0" y="0"/>
              <a:ext cx="39054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DATA INGESTION LAYER</a:t>
              </a:r>
              <a:endParaRPr sz="750" b="0">
                <a:solidFill>
                  <a:srgbClr val="2563EB"/>
                </a:solidFill>
                <a:latin typeface="Roboto Mono SemiBold"/>
                <a:ea typeface="Roboto Mono SemiBold"/>
                <a:cs typeface="Roboto Mono SemiBold"/>
                <a:sym typeface="Roboto Mono SemiBold"/>
              </a:endParaRPr>
            </a:p>
            <a:p>
              <a:pPr marL="0" lvl="0" indent="0" algn="l" rtl="0">
                <a:spcBef>
                  <a:spcPts val="450"/>
                </a:spcBef>
                <a:spcAft>
                  <a:spcPts val="900"/>
                </a:spcAft>
                <a:buNone/>
              </a:pPr>
              <a:r>
                <a:rPr lang="en" sz="900" b="0">
                  <a:solidFill>
                    <a:srgbClr val="4B5563"/>
                  </a:solidFill>
                  <a:latin typeface="Inter"/>
                  <a:ea typeface="Inter"/>
                  <a:cs typeface="Inter"/>
                  <a:sym typeface="Inter"/>
                </a:rPr>
                <a:t>The platform integrates workforce data from enterprise HR systems using secure connectivity mechanisms.</a:t>
              </a:r>
              <a:endParaRPr sz="900" b="0">
                <a:solidFill>
                  <a:srgbClr val="4B5563"/>
                </a:solidFill>
                <a:latin typeface="Inter"/>
                <a:ea typeface="Inter"/>
                <a:cs typeface="Inter"/>
                <a:sym typeface="Inter"/>
              </a:endParaRPr>
            </a:p>
          </p:txBody>
        </p:sp>
        <p:grpSp>
          <p:nvGrpSpPr>
            <p:cNvPr id="212" name="Google Shape;212;p17"/>
            <p:cNvGrpSpPr/>
            <p:nvPr/>
          </p:nvGrpSpPr>
          <p:grpSpPr>
            <a:xfrm>
              <a:off x="0" y="809625"/>
              <a:ext cx="3905400" cy="1000200"/>
              <a:chOff x="0" y="0"/>
              <a:chExt cx="3905400" cy="1000200"/>
            </a:xfrm>
          </p:grpSpPr>
          <p:sp>
            <p:nvSpPr>
              <p:cNvPr id="213" name="Google Shape;213;p17"/>
              <p:cNvSpPr/>
              <p:nvPr/>
            </p:nvSpPr>
            <p:spPr>
              <a:xfrm>
                <a:off x="0" y="0"/>
                <a:ext cx="3905400" cy="1000200"/>
              </a:xfrm>
              <a:prstGeom prst="roundRect">
                <a:avLst>
                  <a:gd name="adj" fmla="val 3809"/>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4" name="Google Shape;214;p17"/>
              <p:cNvSpPr/>
              <p:nvPr/>
            </p:nvSpPr>
            <p:spPr>
              <a:xfrm>
                <a:off x="0" y="0"/>
                <a:ext cx="38100" cy="10002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p17"/>
              <p:cNvSpPr txBox="1"/>
              <p:nvPr/>
            </p:nvSpPr>
            <p:spPr>
              <a:xfrm>
                <a:off x="152400" y="114300"/>
                <a:ext cx="3600600" cy="77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2563EB"/>
                    </a:solidFill>
                    <a:latin typeface="Inter"/>
                    <a:ea typeface="Inter"/>
                    <a:cs typeface="Inter"/>
                    <a:sym typeface="Inter"/>
                  </a:rPr>
                  <a:t>SAP SuccessFactors Integration</a:t>
                </a:r>
                <a:endParaRPr sz="900" b="1">
                  <a:solidFill>
                    <a:srgbClr val="2563EB"/>
                  </a:solidFill>
                  <a:latin typeface="Inter"/>
                  <a:ea typeface="Inter"/>
                  <a:cs typeface="Inter"/>
                  <a:sym typeface="Inter"/>
                </a:endParaRPr>
              </a:p>
              <a:p>
                <a:pPr marL="0" lvl="0" indent="0" algn="l" rtl="0">
                  <a:spcBef>
                    <a:spcPts val="450"/>
                  </a:spcBef>
                  <a:spcAft>
                    <a:spcPts val="0"/>
                  </a:spcAft>
                  <a:buNone/>
                </a:pPr>
                <a:r>
                  <a:rPr lang="en" sz="750" b="0">
                    <a:solidFill>
                      <a:srgbClr val="4B5563"/>
                    </a:solidFill>
                    <a:latin typeface="Inter"/>
                    <a:ea typeface="Inter"/>
                    <a:cs typeface="Inter"/>
                    <a:sym typeface="Inter"/>
                  </a:rPr>
                  <a:t>The dashboard retrieves workforce information from SAP SuccessFactors using secure REST APIs with OAuth 2.0 authentication, ensuring all communication occurs over HTTPS with JSON data exchange.</a:t>
                </a:r>
                <a:endParaRPr sz="750" b="0">
                  <a:solidFill>
                    <a:srgbClr val="4B5563"/>
                  </a:solidFill>
                  <a:latin typeface="Inter"/>
                  <a:ea typeface="Inter"/>
                  <a:cs typeface="Inter"/>
                  <a:sym typeface="Inter"/>
                </a:endParaRPr>
              </a:p>
            </p:txBody>
          </p:sp>
        </p:grpSp>
        <p:grpSp>
          <p:nvGrpSpPr>
            <p:cNvPr id="216" name="Google Shape;216;p17"/>
            <p:cNvGrpSpPr/>
            <p:nvPr/>
          </p:nvGrpSpPr>
          <p:grpSpPr>
            <a:xfrm>
              <a:off x="0" y="1952625"/>
              <a:ext cx="3905400" cy="1000200"/>
              <a:chOff x="0" y="0"/>
              <a:chExt cx="3905400" cy="1000200"/>
            </a:xfrm>
          </p:grpSpPr>
          <p:sp>
            <p:nvSpPr>
              <p:cNvPr id="217" name="Google Shape;217;p17"/>
              <p:cNvSpPr/>
              <p:nvPr/>
            </p:nvSpPr>
            <p:spPr>
              <a:xfrm>
                <a:off x="0" y="0"/>
                <a:ext cx="3905400" cy="1000200"/>
              </a:xfrm>
              <a:prstGeom prst="roundRect">
                <a:avLst>
                  <a:gd name="adj" fmla="val 3809"/>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8" name="Google Shape;218;p17"/>
              <p:cNvSpPr/>
              <p:nvPr/>
            </p:nvSpPr>
            <p:spPr>
              <a:xfrm>
                <a:off x="0" y="0"/>
                <a:ext cx="38100" cy="10002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17"/>
              <p:cNvSpPr txBox="1"/>
              <p:nvPr/>
            </p:nvSpPr>
            <p:spPr>
              <a:xfrm>
                <a:off x="152400" y="114300"/>
                <a:ext cx="3600600" cy="77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1">
                    <a:solidFill>
                      <a:srgbClr val="10B981"/>
                    </a:solidFill>
                    <a:latin typeface="Inter"/>
                    <a:ea typeface="Inter"/>
                    <a:cs typeface="Inter"/>
                    <a:sym typeface="Inter"/>
                  </a:rPr>
                  <a:t>Workday Enterprise Integration</a:t>
                </a:r>
                <a:endParaRPr sz="900" b="1">
                  <a:solidFill>
                    <a:srgbClr val="10B981"/>
                  </a:solidFill>
                  <a:latin typeface="Inter"/>
                  <a:ea typeface="Inter"/>
                  <a:cs typeface="Inter"/>
                  <a:sym typeface="Inter"/>
                </a:endParaRPr>
              </a:p>
              <a:p>
                <a:pPr marL="0" lvl="0" indent="0" algn="l" rtl="0">
                  <a:spcBef>
                    <a:spcPts val="450"/>
                  </a:spcBef>
                  <a:spcAft>
                    <a:spcPts val="0"/>
                  </a:spcAft>
                  <a:buNone/>
                </a:pPr>
                <a:r>
                  <a:rPr lang="en" sz="750" b="0">
                    <a:solidFill>
                      <a:srgbClr val="4B5563"/>
                    </a:solidFill>
                    <a:latin typeface="Inter"/>
                    <a:ea typeface="Inter"/>
                    <a:cs typeface="Inter"/>
                    <a:sym typeface="Inter"/>
                  </a:rPr>
                  <a:t>The system also supports Workday integration using SOAP APIs, REST APIs, and Workday RaaS services with scheduled data extraction.</a:t>
                </a:r>
                <a:endParaRPr sz="750" b="0">
                  <a:solidFill>
                    <a:srgbClr val="4B5563"/>
                  </a:solidFill>
                  <a:latin typeface="Inter"/>
                  <a:ea typeface="Inter"/>
                  <a:cs typeface="Inter"/>
                  <a:sym typeface="Inter"/>
                </a:endParaRPr>
              </a:p>
            </p:txBody>
          </p:sp>
        </p:grpSp>
      </p:grpSp>
      <p:sp>
        <p:nvSpPr>
          <p:cNvPr id="220" name="Google Shape;220;p17"/>
          <p:cNvSpPr/>
          <p:nvPr/>
        </p:nvSpPr>
        <p:spPr>
          <a:xfrm>
            <a:off x="4429125" y="2809875"/>
            <a:ext cx="304800" cy="95400"/>
          </a:xfrm>
          <a:custGeom>
            <a:avLst/>
            <a:gdLst/>
            <a:ahLst/>
            <a:cxnLst/>
            <a:rect l="l" t="t" r="r" b="b"/>
            <a:pathLst>
              <a:path w="120000" h="120000" extrusionOk="0">
                <a:moveTo>
                  <a:pt x="0" y="60000"/>
                </a:moveTo>
                <a:lnTo>
                  <a:pt x="112500" y="60000"/>
                </a:lnTo>
                <a:moveTo>
                  <a:pt x="93750" y="0"/>
                </a:moveTo>
                <a:lnTo>
                  <a:pt x="120000" y="60000"/>
                </a:lnTo>
                <a:lnTo>
                  <a:pt x="93750" y="120000"/>
                </a:lnTo>
              </a:path>
            </a:pathLst>
          </a:custGeom>
          <a:solidFill>
            <a:srgbClr val="000000">
              <a:alpha val="0"/>
            </a:srgbClr>
          </a:solidFill>
          <a:ln w="19050" cap="rnd" cmpd="sng">
            <a:solidFill>
              <a:srgbClr val="9CA3A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21" name="Google Shape;221;p17"/>
          <p:cNvGrpSpPr/>
          <p:nvPr/>
        </p:nvGrpSpPr>
        <p:grpSpPr>
          <a:xfrm>
            <a:off x="4762500" y="1333500"/>
            <a:ext cx="3905400" cy="3238500"/>
            <a:chOff x="0" y="0"/>
            <a:chExt cx="3905400" cy="3238500"/>
          </a:xfrm>
        </p:grpSpPr>
        <p:sp>
          <p:nvSpPr>
            <p:cNvPr id="222" name="Google Shape;222;p17"/>
            <p:cNvSpPr/>
            <p:nvPr/>
          </p:nvSpPr>
          <p:spPr>
            <a:xfrm>
              <a:off x="0" y="0"/>
              <a:ext cx="3905400" cy="3238500"/>
            </a:xfrm>
            <a:prstGeom prst="roundRect">
              <a:avLst>
                <a:gd name="adj" fmla="val 1764"/>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3" name="Google Shape;223;p17"/>
            <p:cNvSpPr/>
            <p:nvPr/>
          </p:nvSpPr>
          <p:spPr>
            <a:xfrm>
              <a:off x="0" y="0"/>
              <a:ext cx="3905400" cy="381000"/>
            </a:xfrm>
            <a:custGeom>
              <a:avLst/>
              <a:gdLst/>
              <a:ahLst/>
              <a:cxnLst/>
              <a:rect l="l" t="t" r="r" b="b"/>
              <a:pathLst>
                <a:path w="120000" h="120000" extrusionOk="0">
                  <a:moveTo>
                    <a:pt x="0" y="18000"/>
                  </a:moveTo>
                  <a:quadBezTo>
                    <a:pt x="0" y="0"/>
                    <a:pt x="1756" y="0"/>
                  </a:quadBezTo>
                  <a:lnTo>
                    <a:pt x="118244" y="0"/>
                  </a:lnTo>
                  <a:quadBezTo>
                    <a:pt x="120000" y="0"/>
                    <a:pt x="120000" y="18000"/>
                  </a:quadBezTo>
                  <a:lnTo>
                    <a:pt x="120000" y="120000"/>
                  </a:lnTo>
                  <a:lnTo>
                    <a:pt x="0" y="120000"/>
                  </a:lnTo>
                  <a:close/>
                </a:path>
              </a:pathLst>
            </a:custGeom>
            <a:solidFill>
              <a:srgbClr val="11182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4" name="Google Shape;224;p17"/>
            <p:cNvSpPr txBox="1"/>
            <p:nvPr/>
          </p:nvSpPr>
          <p:spPr>
            <a:xfrm>
              <a:off x="152400" y="95250"/>
              <a:ext cx="3600600" cy="238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750" b="0">
                  <a:solidFill>
                    <a:srgbClr val="FFFFFF"/>
                  </a:solidFill>
                  <a:latin typeface="Roboto Mono SemiBold"/>
                  <a:ea typeface="Roboto Mono SemiBold"/>
                  <a:cs typeface="Roboto Mono SemiBold"/>
                  <a:sym typeface="Roboto Mono SemiBold"/>
                </a:rPr>
                <a:t>DATABASE SCHEMA: CENTRAL POSTGRESQL</a:t>
              </a:r>
              <a:endParaRPr/>
            </a:p>
          </p:txBody>
        </p:sp>
        <p:sp>
          <p:nvSpPr>
            <p:cNvPr id="225" name="Google Shape;225;p17"/>
            <p:cNvSpPr txBox="1"/>
            <p:nvPr/>
          </p:nvSpPr>
          <p:spPr>
            <a:xfrm>
              <a:off x="152400" y="495300"/>
              <a:ext cx="36006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0">
                  <a:solidFill>
                    <a:srgbClr val="4B5563"/>
                  </a:solidFill>
                  <a:latin typeface="Inter"/>
                  <a:ea typeface="Inter"/>
                  <a:cs typeface="Inter"/>
                  <a:sym typeface="Inter"/>
                </a:rPr>
                <a:t>The centralized PostgreSQL database schema stores workforce information using interconnected tables to maintain data integrity. Major database tables include:</a:t>
              </a:r>
              <a:endParaRPr sz="825" b="0">
                <a:solidFill>
                  <a:srgbClr val="4B5563"/>
                </a:solidFill>
                <a:latin typeface="Inter"/>
                <a:ea typeface="Inter"/>
                <a:cs typeface="Inter"/>
                <a:sym typeface="Inter"/>
              </a:endParaRPr>
            </a:p>
          </p:txBody>
        </p:sp>
        <p:cxnSp>
          <p:nvCxnSpPr>
            <p:cNvPr id="226" name="Google Shape;226;p17"/>
            <p:cNvCxnSpPr/>
            <p:nvPr/>
          </p:nvCxnSpPr>
          <p:spPr>
            <a:xfrm>
              <a:off x="152400" y="1000125"/>
              <a:ext cx="36006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227" name="Google Shape;227;p17"/>
            <p:cNvSpPr txBox="1"/>
            <p:nvPr/>
          </p:nvSpPr>
          <p:spPr>
            <a:xfrm>
              <a:off x="152400" y="1066800"/>
              <a:ext cx="36006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TBL_01</a:t>
              </a:r>
              <a:r>
                <a:rPr lang="en"/>
                <a:t> </a:t>
              </a:r>
              <a:r>
                <a:rPr lang="en" sz="825" b="0">
                  <a:solidFill>
                    <a:srgbClr val="111827"/>
                  </a:solidFill>
                  <a:latin typeface="Inter Medium"/>
                  <a:ea typeface="Inter Medium"/>
                  <a:cs typeface="Inter Medium"/>
                  <a:sym typeface="Inter Medium"/>
                </a:rPr>
                <a:t>Organization and Department</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TBL_02</a:t>
              </a:r>
              <a:r>
                <a:rPr lang="en"/>
                <a:t> </a:t>
              </a:r>
              <a:r>
                <a:rPr lang="en" sz="825" b="0">
                  <a:solidFill>
                    <a:srgbClr val="111827"/>
                  </a:solidFill>
                  <a:latin typeface="Inter Medium"/>
                  <a:ea typeface="Inter Medium"/>
                  <a:cs typeface="Inter Medium"/>
                  <a:sym typeface="Inter Medium"/>
                </a:rPr>
                <a:t>Employee and Job Position</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TBL_03</a:t>
              </a:r>
              <a:r>
                <a:rPr lang="en"/>
                <a:t> </a:t>
              </a:r>
              <a:r>
                <a:rPr lang="en" sz="825" b="0">
                  <a:solidFill>
                    <a:srgbClr val="111827"/>
                  </a:solidFill>
                  <a:latin typeface="Inter Medium"/>
                  <a:ea typeface="Inter Medium"/>
                  <a:cs typeface="Inter Medium"/>
                  <a:sym typeface="Inter Medium"/>
                </a:rPr>
                <a:t>Performance Review and Performance Goal</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TBL_04</a:t>
              </a:r>
              <a:r>
                <a:rPr lang="en"/>
                <a:t> </a:t>
              </a:r>
              <a:r>
                <a:rPr lang="en" sz="825" b="0">
                  <a:solidFill>
                    <a:srgbClr val="111827"/>
                  </a:solidFill>
                  <a:latin typeface="Inter Medium"/>
                  <a:ea typeface="Inter Medium"/>
                  <a:cs typeface="Inter Medium"/>
                  <a:sym typeface="Inter Medium"/>
                </a:rPr>
                <a:t>Attrition Record and Engagement Survey</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TBL_05</a:t>
              </a:r>
              <a:r>
                <a:rPr lang="en"/>
                <a:t> </a:t>
              </a:r>
              <a:r>
                <a:rPr lang="en" sz="825" b="0">
                  <a:solidFill>
                    <a:srgbClr val="111827"/>
                  </a:solidFill>
                  <a:latin typeface="Inter Medium"/>
                  <a:ea typeface="Inter Medium"/>
                  <a:cs typeface="Inter Medium"/>
                  <a:sym typeface="Inter Medium"/>
                </a:rPr>
                <a:t>Skills and Learning Records</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TBL_06</a:t>
              </a:r>
              <a:r>
                <a:rPr lang="en"/>
                <a:t> </a:t>
              </a:r>
              <a:r>
                <a:rPr lang="en" sz="825" b="0">
                  <a:solidFill>
                    <a:srgbClr val="111827"/>
                  </a:solidFill>
                  <a:latin typeface="Inter Medium"/>
                  <a:ea typeface="Inter Medium"/>
                  <a:cs typeface="Inter Medium"/>
                  <a:sym typeface="Inter Medium"/>
                </a:rPr>
                <a:t>Recruitment and Candidate</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TBL_07</a:t>
              </a:r>
              <a:r>
                <a:rPr lang="en"/>
                <a:t> </a:t>
              </a:r>
              <a:r>
                <a:rPr lang="en" sz="825" b="0">
                  <a:solidFill>
                    <a:srgbClr val="111827"/>
                  </a:solidFill>
                  <a:latin typeface="Inter Medium"/>
                  <a:ea typeface="Inter Medium"/>
                  <a:cs typeface="Inter Medium"/>
                  <a:sym typeface="Inter Medium"/>
                </a:rPr>
                <a:t>Data Source and Data Ingestion Log</a:t>
              </a:r>
              <a:endParaRPr/>
            </a:p>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TBL_08</a:t>
              </a:r>
              <a:r>
                <a:rPr lang="en"/>
                <a:t> </a:t>
              </a:r>
              <a:r>
                <a:rPr lang="en" sz="825" b="0">
                  <a:solidFill>
                    <a:srgbClr val="111827"/>
                  </a:solidFill>
                  <a:latin typeface="Inter Medium"/>
                  <a:ea typeface="Inter Medium"/>
                  <a:cs typeface="Inter Medium"/>
                  <a:sym typeface="Inter Medium"/>
                </a:rPr>
                <a:t>Workforce Metrics and System User</a:t>
              </a:r>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62747-8065-AF04-C346-B98328E257B6}"/>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23B8255-B03E-C394-248E-B1C80265D9F2}"/>
              </a:ext>
            </a:extLst>
          </p:cNvPr>
          <p:cNvSpPr>
            <a:spLocks noGrp="1"/>
          </p:cNvSpPr>
          <p:nvPr>
            <p:ph type="subTitle" idx="1"/>
          </p:nvPr>
        </p:nvSpPr>
        <p:spPr/>
        <p:txBody>
          <a:bodyPr/>
          <a:lstStyle/>
          <a:p>
            <a:endParaRPr lang="en-IN"/>
          </a:p>
        </p:txBody>
      </p:sp>
      <p:pic>
        <p:nvPicPr>
          <p:cNvPr id="7" name="Picture 6">
            <a:extLst>
              <a:ext uri="{FF2B5EF4-FFF2-40B4-BE49-F238E27FC236}">
                <a16:creationId xmlns:a16="http://schemas.microsoft.com/office/drawing/2014/main" id="{D9149306-6177-5ABB-48D8-DE076A8D81D3}"/>
              </a:ext>
            </a:extLst>
          </p:cNvPr>
          <p:cNvPicPr>
            <a:picLocks noChangeAspect="1"/>
          </p:cNvPicPr>
          <p:nvPr/>
        </p:nvPicPr>
        <p:blipFill>
          <a:blip r:embed="rId2"/>
          <a:stretch>
            <a:fillRect/>
          </a:stretch>
        </p:blipFill>
        <p:spPr>
          <a:xfrm>
            <a:off x="0" y="33337"/>
            <a:ext cx="9144000" cy="5076825"/>
          </a:xfrm>
          <a:prstGeom prst="rect">
            <a:avLst/>
          </a:prstGeom>
        </p:spPr>
      </p:pic>
    </p:spTree>
    <p:extLst>
      <p:ext uri="{BB962C8B-B14F-4D97-AF65-F5344CB8AC3E}">
        <p14:creationId xmlns:p14="http://schemas.microsoft.com/office/powerpoint/2010/main" val="1614328629"/>
      </p:ext>
    </p:extLst>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259" name="Google Shape;259;p19"/>
          <p:cNvGrpSpPr/>
          <p:nvPr/>
        </p:nvGrpSpPr>
        <p:grpSpPr>
          <a:xfrm>
            <a:off x="0" y="0"/>
            <a:ext cx="9144000" cy="5143500"/>
            <a:chOff x="0" y="0"/>
            <a:chExt cx="9144000" cy="5143500"/>
          </a:xfrm>
        </p:grpSpPr>
        <p:sp>
          <p:nvSpPr>
            <p:cNvPr id="260" name="Google Shape;260;p19"/>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61" name="Google Shape;261;p19"/>
            <p:cNvPicPr preferRelativeResize="0"/>
            <p:nvPr/>
          </p:nvPicPr>
          <p:blipFill rotWithShape="1">
            <a:blip r:embed="rId3">
              <a:alphaModFix/>
            </a:blip>
            <a:srcRect/>
            <a:stretch/>
          </p:blipFill>
          <p:spPr>
            <a:xfrm>
              <a:off x="2676525" y="0"/>
              <a:ext cx="6467400" cy="5143500"/>
            </a:xfrm>
            <a:prstGeom prst="rect">
              <a:avLst/>
            </a:prstGeom>
            <a:noFill/>
            <a:ln>
              <a:noFill/>
            </a:ln>
          </p:spPr>
        </p:pic>
        <p:sp>
          <p:nvSpPr>
            <p:cNvPr id="262" name="Google Shape;262;p19"/>
            <p:cNvSpPr/>
            <p:nvPr/>
          </p:nvSpPr>
          <p:spPr>
            <a:xfrm>
              <a:off x="0" y="0"/>
              <a:ext cx="2667000" cy="5143500"/>
            </a:xfrm>
            <a:prstGeom prst="rect">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63" name="Google Shape;263;p19"/>
            <p:cNvCxnSpPr/>
            <p:nvPr/>
          </p:nvCxnSpPr>
          <p:spPr>
            <a:xfrm>
              <a:off x="2667000" y="0"/>
              <a:ext cx="0" cy="514350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264" name="Google Shape;264;p19"/>
            <p:cNvSpPr/>
            <p:nvPr/>
          </p:nvSpPr>
          <p:spPr>
            <a:xfrm>
              <a:off x="3048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65" name="Google Shape;265;p19"/>
          <p:cNvSpPr txBox="1"/>
          <p:nvPr/>
        </p:nvSpPr>
        <p:spPr>
          <a:xfrm>
            <a:off x="285750" y="381000"/>
            <a:ext cx="20955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75" b="0">
                <a:solidFill>
                  <a:srgbClr val="2563EB"/>
                </a:solidFill>
                <a:latin typeface="Roboto Mono SemiBold"/>
                <a:ea typeface="Roboto Mono SemiBold"/>
                <a:cs typeface="Roboto Mono SemiBold"/>
                <a:sym typeface="Roboto Mono SemiBold"/>
              </a:rPr>
              <a:t>SYSTEM ARCHITECTURE</a:t>
            </a:r>
            <a:endParaRPr sz="675" b="0">
              <a:solidFill>
                <a:srgbClr val="2563EB"/>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200" b="0">
                <a:solidFill>
                  <a:srgbClr val="111827"/>
                </a:solidFill>
                <a:latin typeface="Inter SemiBold"/>
                <a:ea typeface="Inter SemiBold"/>
                <a:cs typeface="Inter SemiBold"/>
                <a:sym typeface="Inter SemiBold"/>
              </a:rPr>
              <a:t>KPI Engine</a:t>
            </a:r>
            <a:endParaRPr sz="1200" b="0">
              <a:solidFill>
                <a:srgbClr val="111827"/>
              </a:solidFill>
              <a:latin typeface="Inter SemiBold"/>
              <a:ea typeface="Inter SemiBold"/>
              <a:cs typeface="Inter SemiBold"/>
              <a:sym typeface="Inter SemiBold"/>
            </a:endParaRPr>
          </a:p>
        </p:txBody>
      </p:sp>
      <p:sp>
        <p:nvSpPr>
          <p:cNvPr id="266" name="Google Shape;266;p19"/>
          <p:cNvSpPr txBox="1"/>
          <p:nvPr/>
        </p:nvSpPr>
        <p:spPr>
          <a:xfrm>
            <a:off x="285750" y="1047750"/>
            <a:ext cx="2095500" cy="3714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a:solidFill>
                  <a:srgbClr val="111827"/>
                </a:solidFill>
                <a:latin typeface="Inter SemiBold"/>
                <a:ea typeface="Inter SemiBold"/>
                <a:cs typeface="Inter SemiBold"/>
                <a:sym typeface="Inter SemiBold"/>
              </a:rPr>
              <a:t>System Objectives</a:t>
            </a:r>
            <a:endParaRPr sz="975" b="0">
              <a:solidFill>
                <a:srgbClr val="111827"/>
              </a:solidFill>
              <a:latin typeface="Inter SemiBold"/>
              <a:ea typeface="Inter SemiBold"/>
              <a:cs typeface="Inter SemiBold"/>
              <a:sym typeface="Inter SemiBold"/>
            </a:endParaRPr>
          </a:p>
          <a:p>
            <a:pPr marL="0" lvl="0" indent="0" algn="l" rtl="0">
              <a:spcBef>
                <a:spcPts val="600"/>
              </a:spcBef>
              <a:spcAft>
                <a:spcPts val="0"/>
              </a:spcAft>
              <a:buNone/>
            </a:pPr>
            <a:r>
              <a:rPr lang="en" sz="825" b="0">
                <a:solidFill>
                  <a:srgbClr val="4B5563"/>
                </a:solidFill>
                <a:latin typeface="Inter"/>
                <a:ea typeface="Inter"/>
                <a:cs typeface="Inter"/>
                <a:sym typeface="Inter"/>
              </a:rPr>
              <a:t>Our automated implementation extracts and monitors critical monthly workforce metrics to provide continuous, data-driven visibility into organizational vitality.</a:t>
            </a:r>
            <a:endParaRPr sz="825" b="0">
              <a:solidFill>
                <a:srgbClr val="4B5563"/>
              </a:solidFill>
              <a:latin typeface="Inter"/>
              <a:ea typeface="Inter"/>
              <a:cs typeface="Inter"/>
              <a:sym typeface="Inter"/>
            </a:endParaRPr>
          </a:p>
          <a:p>
            <a:pPr marL="0" lvl="0" indent="0" algn="l" rtl="0">
              <a:spcBef>
                <a:spcPts val="1500"/>
              </a:spcBef>
              <a:spcAft>
                <a:spcPts val="0"/>
              </a:spcAft>
              <a:buNone/>
            </a:pPr>
            <a:r>
              <a:rPr lang="en" sz="900" b="0">
                <a:solidFill>
                  <a:srgbClr val="111827"/>
                </a:solidFill>
                <a:latin typeface="Inter SemiBold"/>
                <a:ea typeface="Inter SemiBold"/>
                <a:cs typeface="Inter SemiBold"/>
                <a:sym typeface="Inter SemiBold"/>
              </a:rPr>
              <a:t>Key Capabilities</a:t>
            </a:r>
            <a:endParaRPr sz="900" b="0">
              <a:solidFill>
                <a:srgbClr val="111827"/>
              </a:solidFill>
              <a:latin typeface="Inter SemiBold"/>
              <a:ea typeface="Inter SemiBold"/>
              <a:cs typeface="Inter SemiBold"/>
              <a:sym typeface="Inter SemiBold"/>
            </a:endParaRPr>
          </a:p>
          <a:p>
            <a:pPr marL="0" lvl="0" indent="0" algn="l" rtl="0">
              <a:spcBef>
                <a:spcPts val="900"/>
              </a:spcBef>
              <a:spcAft>
                <a:spcPts val="0"/>
              </a:spcAft>
              <a:buNone/>
            </a:pPr>
            <a:r>
              <a:rPr lang="en" sz="825" b="0">
                <a:solidFill>
                  <a:srgbClr val="111827"/>
                </a:solidFill>
                <a:latin typeface="Inter SemiBold"/>
                <a:ea typeface="Inter SemiBold"/>
                <a:cs typeface="Inter SemiBold"/>
                <a:sym typeface="Inter SemiBold"/>
              </a:rPr>
              <a:t>Continuous Monitoring</a:t>
            </a:r>
            <a:endParaRPr sz="825" b="0">
              <a:solidFill>
                <a:srgbClr val="111827"/>
              </a:solidFill>
              <a:latin typeface="Inter SemiBold"/>
              <a:ea typeface="Inter SemiBold"/>
              <a:cs typeface="Inter SemiBold"/>
              <a:sym typeface="Inter SemiBold"/>
            </a:endParaRPr>
          </a:p>
          <a:p>
            <a:pPr marL="0" lvl="0" indent="0" algn="l" rtl="0">
              <a:spcBef>
                <a:spcPts val="150"/>
              </a:spcBef>
              <a:spcAft>
                <a:spcPts val="0"/>
              </a:spcAft>
              <a:buNone/>
            </a:pPr>
            <a:r>
              <a:rPr lang="en" sz="750" b="0">
                <a:solidFill>
                  <a:srgbClr val="4B5563"/>
                </a:solidFill>
                <a:latin typeface="Inter"/>
                <a:ea typeface="Inter"/>
                <a:cs typeface="Inter"/>
                <a:sym typeface="Inter"/>
              </a:rPr>
              <a:t>Instant calculation of core workforce metrics each cycle.</a:t>
            </a:r>
            <a:endParaRPr sz="750" b="0">
              <a:solidFill>
                <a:srgbClr val="4B5563"/>
              </a:solidFill>
              <a:latin typeface="Inter"/>
              <a:ea typeface="Inter"/>
              <a:cs typeface="Inter"/>
              <a:sym typeface="Inter"/>
            </a:endParaRPr>
          </a:p>
          <a:p>
            <a:pPr marL="0" lvl="0" indent="0" algn="l" rtl="0">
              <a:spcBef>
                <a:spcPts val="900"/>
              </a:spcBef>
              <a:spcAft>
                <a:spcPts val="0"/>
              </a:spcAft>
              <a:buNone/>
            </a:pPr>
            <a:r>
              <a:rPr lang="en" sz="825" b="0">
                <a:solidFill>
                  <a:srgbClr val="111827"/>
                </a:solidFill>
                <a:latin typeface="Inter SemiBold"/>
                <a:ea typeface="Inter SemiBold"/>
                <a:cs typeface="Inter SemiBold"/>
                <a:sym typeface="Inter SemiBold"/>
              </a:rPr>
              <a:t>Granular Segments</a:t>
            </a:r>
            <a:endParaRPr sz="825" b="0">
              <a:solidFill>
                <a:srgbClr val="111827"/>
              </a:solidFill>
              <a:latin typeface="Inter SemiBold"/>
              <a:ea typeface="Inter SemiBold"/>
              <a:cs typeface="Inter SemiBold"/>
              <a:sym typeface="Inter SemiBold"/>
            </a:endParaRPr>
          </a:p>
          <a:p>
            <a:pPr marL="0" lvl="0" indent="0" algn="l" rtl="0">
              <a:spcBef>
                <a:spcPts val="150"/>
              </a:spcBef>
              <a:spcAft>
                <a:spcPts val="0"/>
              </a:spcAft>
              <a:buNone/>
            </a:pPr>
            <a:r>
              <a:rPr lang="en" sz="750" b="0">
                <a:solidFill>
                  <a:srgbClr val="4B5563"/>
                </a:solidFill>
                <a:latin typeface="Inter"/>
                <a:ea typeface="Inter"/>
                <a:cs typeface="Inter"/>
                <a:sym typeface="Inter"/>
              </a:rPr>
              <a:t>Deep-dive comparisons across specialized departments.</a:t>
            </a:r>
            <a:endParaRPr sz="750" b="0">
              <a:solidFill>
                <a:srgbClr val="4B5563"/>
              </a:solidFill>
              <a:latin typeface="Inter"/>
              <a:ea typeface="Inter"/>
              <a:cs typeface="Inter"/>
              <a:sym typeface="Inter"/>
            </a:endParaRPr>
          </a:p>
          <a:p>
            <a:pPr marL="0" lvl="0" indent="0" algn="l" rtl="0">
              <a:spcBef>
                <a:spcPts val="900"/>
              </a:spcBef>
              <a:spcAft>
                <a:spcPts val="0"/>
              </a:spcAft>
              <a:buNone/>
            </a:pPr>
            <a:r>
              <a:rPr lang="en" sz="825" b="0">
                <a:solidFill>
                  <a:srgbClr val="111827"/>
                </a:solidFill>
                <a:latin typeface="Inter SemiBold"/>
                <a:ea typeface="Inter SemiBold"/>
                <a:cs typeface="Inter SemiBold"/>
                <a:sym typeface="Inter SemiBold"/>
              </a:rPr>
              <a:t>Trend Analysis</a:t>
            </a:r>
            <a:endParaRPr sz="825" b="0">
              <a:solidFill>
                <a:srgbClr val="111827"/>
              </a:solidFill>
              <a:latin typeface="Inter SemiBold"/>
              <a:ea typeface="Inter SemiBold"/>
              <a:cs typeface="Inter SemiBold"/>
              <a:sym typeface="Inter SemiBold"/>
            </a:endParaRPr>
          </a:p>
          <a:p>
            <a:pPr marL="0" lvl="0" indent="0" algn="l" rtl="0">
              <a:spcBef>
                <a:spcPts val="150"/>
              </a:spcBef>
              <a:spcAft>
                <a:spcPts val="900"/>
              </a:spcAft>
              <a:buNone/>
            </a:pPr>
            <a:r>
              <a:rPr lang="en" sz="750" b="0">
                <a:solidFill>
                  <a:srgbClr val="4B5563"/>
                </a:solidFill>
                <a:latin typeface="Inter"/>
                <a:ea typeface="Inter"/>
                <a:cs typeface="Inter"/>
                <a:sym typeface="Inter"/>
              </a:rPr>
              <a:t>Track historical trajectories to detect attrition risks early.</a:t>
            </a:r>
            <a:endParaRPr sz="750" b="0">
              <a:solidFill>
                <a:srgbClr val="4B5563"/>
              </a:solidFill>
              <a:latin typeface="Inter"/>
              <a:ea typeface="Inter"/>
              <a:cs typeface="Inter"/>
              <a:sym typeface="Inter"/>
            </a:endParaRPr>
          </a:p>
        </p:txBody>
      </p:sp>
      <p:sp>
        <p:nvSpPr>
          <p:cNvPr id="267" name="Google Shape;267;p19"/>
          <p:cNvSpPr txBox="1"/>
          <p:nvPr/>
        </p:nvSpPr>
        <p:spPr>
          <a:xfrm>
            <a:off x="3190875" y="361950"/>
            <a:ext cx="39054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50" b="1">
                <a:solidFill>
                  <a:srgbClr val="111827"/>
                </a:solidFill>
                <a:latin typeface="Inter"/>
                <a:ea typeface="Inter"/>
                <a:cs typeface="Inter"/>
                <a:sym typeface="Inter"/>
              </a:rPr>
              <a:t>Workforce Trend &amp; KPI Monitoring</a:t>
            </a:r>
            <a:endParaRPr sz="1650" b="1">
              <a:solidFill>
                <a:srgbClr val="111827"/>
              </a:solidFill>
              <a:latin typeface="Inter"/>
              <a:ea typeface="Inter"/>
              <a:cs typeface="Inter"/>
              <a:sym typeface="Inter"/>
            </a:endParaRPr>
          </a:p>
          <a:p>
            <a:pPr marL="0" lvl="0" indent="0" algn="l" rtl="0">
              <a:spcBef>
                <a:spcPts val="300"/>
              </a:spcBef>
              <a:spcAft>
                <a:spcPts val="0"/>
              </a:spcAft>
              <a:buNone/>
            </a:pPr>
            <a:r>
              <a:rPr lang="en" sz="900" b="0">
                <a:solidFill>
                  <a:srgbClr val="4B5563"/>
                </a:solidFill>
                <a:latin typeface="Inter Medium"/>
                <a:ea typeface="Inter Medium"/>
                <a:cs typeface="Inter Medium"/>
                <a:sym typeface="Inter Medium"/>
              </a:rPr>
              <a:t>Automated monthly metrics calculation for real-time organizational health</a:t>
            </a:r>
            <a:endParaRPr sz="900" b="0">
              <a:solidFill>
                <a:srgbClr val="4B5563"/>
              </a:solidFill>
              <a:latin typeface="Inter Medium"/>
              <a:ea typeface="Inter Medium"/>
              <a:cs typeface="Inter Medium"/>
              <a:sym typeface="Inter Medium"/>
            </a:endParaRPr>
          </a:p>
        </p:txBody>
      </p:sp>
      <p:grpSp>
        <p:nvGrpSpPr>
          <p:cNvPr id="268" name="Google Shape;268;p19"/>
          <p:cNvGrpSpPr/>
          <p:nvPr/>
        </p:nvGrpSpPr>
        <p:grpSpPr>
          <a:xfrm>
            <a:off x="7334250" y="400050"/>
            <a:ext cx="1428900" cy="285900"/>
            <a:chOff x="0" y="0"/>
            <a:chExt cx="1428900" cy="285900"/>
          </a:xfrm>
        </p:grpSpPr>
        <p:sp>
          <p:nvSpPr>
            <p:cNvPr id="269" name="Google Shape;269;p19"/>
            <p:cNvSpPr/>
            <p:nvPr/>
          </p:nvSpPr>
          <p:spPr>
            <a:xfrm>
              <a:off x="0" y="0"/>
              <a:ext cx="1428900" cy="285900"/>
            </a:xfrm>
            <a:prstGeom prst="roundRect">
              <a:avLst>
                <a:gd name="adj" fmla="val 13333"/>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0" name="Google Shape;270;p19"/>
            <p:cNvSpPr/>
            <p:nvPr/>
          </p:nvSpPr>
          <p:spPr>
            <a:xfrm>
              <a:off x="1238250" y="123825"/>
              <a:ext cx="76200" cy="38100"/>
            </a:xfrm>
            <a:custGeom>
              <a:avLst/>
              <a:gdLst/>
              <a:ahLst/>
              <a:cxnLst/>
              <a:rect l="l" t="t" r="r" b="b"/>
              <a:pathLst>
                <a:path w="120000" h="120000" extrusionOk="0">
                  <a:moveTo>
                    <a:pt x="0" y="0"/>
                  </a:moveTo>
                  <a:lnTo>
                    <a:pt x="60000" y="120000"/>
                  </a:lnTo>
                  <a:lnTo>
                    <a:pt x="120000" y="0"/>
                  </a:lnTo>
                </a:path>
              </a:pathLst>
            </a:custGeom>
            <a:solidFill>
              <a:srgbClr val="000000">
                <a:alpha val="0"/>
              </a:srgbClr>
            </a:solidFill>
            <a:ln w="14300" cap="rnd" cmpd="sng">
              <a:solidFill>
                <a:srgbClr val="4B5563"/>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19"/>
            <p:cNvSpPr txBox="1"/>
            <p:nvPr/>
          </p:nvSpPr>
          <p:spPr>
            <a:xfrm>
              <a:off x="95250" y="0"/>
              <a:ext cx="1047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75" b="0">
                  <a:solidFill>
                    <a:srgbClr val="4B5563"/>
                  </a:solidFill>
                  <a:latin typeface="Roboto Mono SemiBold"/>
                  <a:ea typeface="Roboto Mono SemiBold"/>
                  <a:cs typeface="Roboto Mono SemiBold"/>
                  <a:sym typeface="Roboto Mono SemiBold"/>
                </a:rPr>
                <a:t>PERIOD: </a:t>
              </a:r>
              <a:r>
                <a:rPr lang="en" sz="675" b="1">
                  <a:solidFill>
                    <a:srgbClr val="2563EB"/>
                  </a:solidFill>
                  <a:latin typeface="Roboto Mono"/>
                  <a:ea typeface="Roboto Mono"/>
                  <a:cs typeface="Roboto Mono"/>
                  <a:sym typeface="Roboto Mono"/>
                </a:rPr>
                <a:t>AUG 2026</a:t>
              </a:r>
              <a:endParaRPr sz="675" b="0">
                <a:solidFill>
                  <a:srgbClr val="4B5563"/>
                </a:solidFill>
                <a:latin typeface="Roboto Mono SemiBold"/>
                <a:ea typeface="Roboto Mono SemiBold"/>
                <a:cs typeface="Roboto Mono SemiBold"/>
                <a:sym typeface="Roboto Mono SemiBold"/>
              </a:endParaRPr>
            </a:p>
          </p:txBody>
        </p:sp>
      </p:grpSp>
      <p:grpSp>
        <p:nvGrpSpPr>
          <p:cNvPr id="272" name="Google Shape;272;p19"/>
          <p:cNvGrpSpPr/>
          <p:nvPr/>
        </p:nvGrpSpPr>
        <p:grpSpPr>
          <a:xfrm>
            <a:off x="3048000" y="1285875"/>
            <a:ext cx="1047900" cy="762000"/>
            <a:chOff x="0" y="0"/>
            <a:chExt cx="1047900" cy="762000"/>
          </a:xfrm>
        </p:grpSpPr>
        <p:sp>
          <p:nvSpPr>
            <p:cNvPr id="273" name="Google Shape;273;p19"/>
            <p:cNvSpPr/>
            <p:nvPr/>
          </p:nvSpPr>
          <p:spPr>
            <a:xfrm>
              <a:off x="0" y="0"/>
              <a:ext cx="1047900" cy="762000"/>
            </a:xfrm>
            <a:prstGeom prst="roundRect">
              <a:avLst>
                <a:gd name="adj" fmla="val 5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 name="Google Shape;274;p19"/>
            <p:cNvSpPr/>
            <p:nvPr/>
          </p:nvSpPr>
          <p:spPr>
            <a:xfrm>
              <a:off x="0" y="0"/>
              <a:ext cx="28500" cy="7620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 name="Google Shape;275;p19"/>
            <p:cNvSpPr txBox="1"/>
            <p:nvPr/>
          </p:nvSpPr>
          <p:spPr>
            <a:xfrm>
              <a:off x="95250" y="95250"/>
              <a:ext cx="904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ACTIVE HEADCOUNT</a:t>
              </a:r>
              <a:endParaRPr sz="600"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500" b="1">
                  <a:solidFill>
                    <a:srgbClr val="111827"/>
                  </a:solidFill>
                  <a:latin typeface="Inter"/>
                  <a:ea typeface="Inter"/>
                  <a:cs typeface="Inter"/>
                  <a:sym typeface="Inter"/>
                </a:rPr>
                <a:t>305</a:t>
              </a:r>
              <a:endParaRPr sz="1500" b="1">
                <a:solidFill>
                  <a:srgbClr val="111827"/>
                </a:solidFill>
                <a:latin typeface="Inter"/>
                <a:ea typeface="Inter"/>
                <a:cs typeface="Inter"/>
                <a:sym typeface="Inter"/>
              </a:endParaRPr>
            </a:p>
          </p:txBody>
        </p:sp>
      </p:grpSp>
      <p:grpSp>
        <p:nvGrpSpPr>
          <p:cNvPr id="276" name="Google Shape;276;p19"/>
          <p:cNvGrpSpPr/>
          <p:nvPr/>
        </p:nvGrpSpPr>
        <p:grpSpPr>
          <a:xfrm>
            <a:off x="4191000" y="1285875"/>
            <a:ext cx="1047900" cy="762000"/>
            <a:chOff x="0" y="0"/>
            <a:chExt cx="1047900" cy="762000"/>
          </a:xfrm>
        </p:grpSpPr>
        <p:sp>
          <p:nvSpPr>
            <p:cNvPr id="277" name="Google Shape;277;p19"/>
            <p:cNvSpPr/>
            <p:nvPr/>
          </p:nvSpPr>
          <p:spPr>
            <a:xfrm>
              <a:off x="0" y="0"/>
              <a:ext cx="1047900" cy="762000"/>
            </a:xfrm>
            <a:prstGeom prst="roundRect">
              <a:avLst>
                <a:gd name="adj" fmla="val 5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8" name="Google Shape;278;p19"/>
            <p:cNvSpPr/>
            <p:nvPr/>
          </p:nvSpPr>
          <p:spPr>
            <a:xfrm>
              <a:off x="0" y="0"/>
              <a:ext cx="28500" cy="7620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9" name="Google Shape;279;p19"/>
            <p:cNvSpPr txBox="1"/>
            <p:nvPr/>
          </p:nvSpPr>
          <p:spPr>
            <a:xfrm>
              <a:off x="95250" y="95250"/>
              <a:ext cx="904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ATTRITION RATE</a:t>
              </a:r>
              <a:endParaRPr sz="600"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500" b="1">
                  <a:solidFill>
                    <a:srgbClr val="111827"/>
                  </a:solidFill>
                  <a:latin typeface="Inter"/>
                  <a:ea typeface="Inter"/>
                  <a:cs typeface="Inter"/>
                  <a:sym typeface="Inter"/>
                </a:rPr>
                <a:t>11.6%</a:t>
              </a:r>
              <a:endParaRPr sz="1500" b="1">
                <a:solidFill>
                  <a:srgbClr val="111827"/>
                </a:solidFill>
                <a:latin typeface="Inter"/>
                <a:ea typeface="Inter"/>
                <a:cs typeface="Inter"/>
                <a:sym typeface="Inter"/>
              </a:endParaRPr>
            </a:p>
          </p:txBody>
        </p:sp>
      </p:grpSp>
      <p:grpSp>
        <p:nvGrpSpPr>
          <p:cNvPr id="280" name="Google Shape;280;p19"/>
          <p:cNvGrpSpPr/>
          <p:nvPr/>
        </p:nvGrpSpPr>
        <p:grpSpPr>
          <a:xfrm>
            <a:off x="3048000" y="2143125"/>
            <a:ext cx="1047900" cy="762000"/>
            <a:chOff x="0" y="0"/>
            <a:chExt cx="1047900" cy="762000"/>
          </a:xfrm>
        </p:grpSpPr>
        <p:sp>
          <p:nvSpPr>
            <p:cNvPr id="281" name="Google Shape;281;p19"/>
            <p:cNvSpPr/>
            <p:nvPr/>
          </p:nvSpPr>
          <p:spPr>
            <a:xfrm>
              <a:off x="0" y="0"/>
              <a:ext cx="1047900" cy="762000"/>
            </a:xfrm>
            <a:prstGeom prst="roundRect">
              <a:avLst>
                <a:gd name="adj" fmla="val 5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2" name="Google Shape;282;p19"/>
            <p:cNvSpPr/>
            <p:nvPr/>
          </p:nvSpPr>
          <p:spPr>
            <a:xfrm>
              <a:off x="0" y="0"/>
              <a:ext cx="28500" cy="762000"/>
            </a:xfrm>
            <a:prstGeom prst="roundRect">
              <a:avLst>
                <a:gd name="adj" fmla="val 50000"/>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3" name="Google Shape;283;p19"/>
            <p:cNvSpPr txBox="1"/>
            <p:nvPr/>
          </p:nvSpPr>
          <p:spPr>
            <a:xfrm>
              <a:off x="95250" y="95250"/>
              <a:ext cx="904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TURNOVER COUNT</a:t>
              </a:r>
              <a:endParaRPr sz="600"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500" b="1">
                  <a:solidFill>
                    <a:srgbClr val="111827"/>
                  </a:solidFill>
                  <a:latin typeface="Inter"/>
                  <a:ea typeface="Inter"/>
                  <a:cs typeface="Inter"/>
                  <a:sym typeface="Inter"/>
                </a:rPr>
                <a:t>35</a:t>
              </a:r>
              <a:endParaRPr sz="1500" b="1">
                <a:solidFill>
                  <a:srgbClr val="111827"/>
                </a:solidFill>
                <a:latin typeface="Inter"/>
                <a:ea typeface="Inter"/>
                <a:cs typeface="Inter"/>
                <a:sym typeface="Inter"/>
              </a:endParaRPr>
            </a:p>
          </p:txBody>
        </p:sp>
      </p:grpSp>
      <p:grpSp>
        <p:nvGrpSpPr>
          <p:cNvPr id="284" name="Google Shape;284;p19"/>
          <p:cNvGrpSpPr/>
          <p:nvPr/>
        </p:nvGrpSpPr>
        <p:grpSpPr>
          <a:xfrm>
            <a:off x="4191000" y="2143125"/>
            <a:ext cx="1047900" cy="762000"/>
            <a:chOff x="0" y="0"/>
            <a:chExt cx="1047900" cy="762000"/>
          </a:xfrm>
        </p:grpSpPr>
        <p:sp>
          <p:nvSpPr>
            <p:cNvPr id="285" name="Google Shape;285;p19"/>
            <p:cNvSpPr/>
            <p:nvPr/>
          </p:nvSpPr>
          <p:spPr>
            <a:xfrm>
              <a:off x="0" y="0"/>
              <a:ext cx="1047900" cy="762000"/>
            </a:xfrm>
            <a:prstGeom prst="roundRect">
              <a:avLst>
                <a:gd name="adj" fmla="val 5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19"/>
            <p:cNvSpPr/>
            <p:nvPr/>
          </p:nvSpPr>
          <p:spPr>
            <a:xfrm>
              <a:off x="0" y="0"/>
              <a:ext cx="28500" cy="7620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7" name="Google Shape;287;p19"/>
            <p:cNvSpPr txBox="1"/>
            <p:nvPr/>
          </p:nvSpPr>
          <p:spPr>
            <a:xfrm>
              <a:off x="95250" y="95250"/>
              <a:ext cx="904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AVERAGE TENURE</a:t>
              </a:r>
              <a:endParaRPr sz="600"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500" b="1">
                  <a:solidFill>
                    <a:srgbClr val="111827"/>
                  </a:solidFill>
                  <a:latin typeface="Inter"/>
                  <a:ea typeface="Inter"/>
                  <a:cs typeface="Inter"/>
                  <a:sym typeface="Inter"/>
                </a:rPr>
                <a:t>4.2 Yrs</a:t>
              </a:r>
              <a:endParaRPr sz="1500" b="1">
                <a:solidFill>
                  <a:srgbClr val="111827"/>
                </a:solidFill>
                <a:latin typeface="Inter"/>
                <a:ea typeface="Inter"/>
                <a:cs typeface="Inter"/>
                <a:sym typeface="Inter"/>
              </a:endParaRPr>
            </a:p>
          </p:txBody>
        </p:sp>
      </p:grpSp>
      <p:grpSp>
        <p:nvGrpSpPr>
          <p:cNvPr id="288" name="Google Shape;288;p19"/>
          <p:cNvGrpSpPr/>
          <p:nvPr/>
        </p:nvGrpSpPr>
        <p:grpSpPr>
          <a:xfrm>
            <a:off x="3048000" y="3000375"/>
            <a:ext cx="1047900" cy="762000"/>
            <a:chOff x="0" y="0"/>
            <a:chExt cx="1047900" cy="762000"/>
          </a:xfrm>
        </p:grpSpPr>
        <p:sp>
          <p:nvSpPr>
            <p:cNvPr id="289" name="Google Shape;289;p19"/>
            <p:cNvSpPr/>
            <p:nvPr/>
          </p:nvSpPr>
          <p:spPr>
            <a:xfrm>
              <a:off x="0" y="0"/>
              <a:ext cx="1047900" cy="762000"/>
            </a:xfrm>
            <a:prstGeom prst="roundRect">
              <a:avLst>
                <a:gd name="adj" fmla="val 5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0" name="Google Shape;290;p19"/>
            <p:cNvSpPr/>
            <p:nvPr/>
          </p:nvSpPr>
          <p:spPr>
            <a:xfrm>
              <a:off x="0" y="0"/>
              <a:ext cx="28500" cy="7620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1" name="Google Shape;291;p19"/>
            <p:cNvSpPr txBox="1"/>
            <p:nvPr/>
          </p:nvSpPr>
          <p:spPr>
            <a:xfrm>
              <a:off x="95250" y="95250"/>
              <a:ext cx="904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AVG PERFORMANCE</a:t>
              </a:r>
              <a:endParaRPr sz="600"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500" b="1">
                  <a:solidFill>
                    <a:srgbClr val="111827"/>
                  </a:solidFill>
                  <a:latin typeface="Inter"/>
                  <a:ea typeface="Inter"/>
                  <a:cs typeface="Inter"/>
                  <a:sym typeface="Inter"/>
                </a:rPr>
                <a:t>87.4%</a:t>
              </a:r>
              <a:endParaRPr sz="1500" b="1">
                <a:solidFill>
                  <a:srgbClr val="111827"/>
                </a:solidFill>
                <a:latin typeface="Inter"/>
                <a:ea typeface="Inter"/>
                <a:cs typeface="Inter"/>
                <a:sym typeface="Inter"/>
              </a:endParaRPr>
            </a:p>
          </p:txBody>
        </p:sp>
      </p:grpSp>
      <p:grpSp>
        <p:nvGrpSpPr>
          <p:cNvPr id="292" name="Google Shape;292;p19"/>
          <p:cNvGrpSpPr/>
          <p:nvPr/>
        </p:nvGrpSpPr>
        <p:grpSpPr>
          <a:xfrm>
            <a:off x="4191000" y="3000375"/>
            <a:ext cx="1047900" cy="762000"/>
            <a:chOff x="0" y="0"/>
            <a:chExt cx="1047900" cy="762000"/>
          </a:xfrm>
        </p:grpSpPr>
        <p:sp>
          <p:nvSpPr>
            <p:cNvPr id="293" name="Google Shape;293;p19"/>
            <p:cNvSpPr/>
            <p:nvPr/>
          </p:nvSpPr>
          <p:spPr>
            <a:xfrm>
              <a:off x="0" y="0"/>
              <a:ext cx="1047900" cy="762000"/>
            </a:xfrm>
            <a:prstGeom prst="roundRect">
              <a:avLst>
                <a:gd name="adj" fmla="val 5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4" name="Google Shape;294;p19"/>
            <p:cNvSpPr/>
            <p:nvPr/>
          </p:nvSpPr>
          <p:spPr>
            <a:xfrm>
              <a:off x="0" y="0"/>
              <a:ext cx="28500" cy="7620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5" name="Google Shape;295;p19"/>
            <p:cNvSpPr txBox="1"/>
            <p:nvPr/>
          </p:nvSpPr>
          <p:spPr>
            <a:xfrm>
              <a:off x="95250" y="95250"/>
              <a:ext cx="904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TRAINING / EMP</a:t>
              </a:r>
              <a:endParaRPr sz="600"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1500" b="1">
                  <a:solidFill>
                    <a:srgbClr val="111827"/>
                  </a:solidFill>
                  <a:latin typeface="Inter"/>
                  <a:ea typeface="Inter"/>
                  <a:cs typeface="Inter"/>
                  <a:sym typeface="Inter"/>
                </a:rPr>
                <a:t>24.5 Hrs</a:t>
              </a:r>
              <a:endParaRPr sz="1500" b="1">
                <a:solidFill>
                  <a:srgbClr val="111827"/>
                </a:solidFill>
                <a:latin typeface="Inter"/>
                <a:ea typeface="Inter"/>
                <a:cs typeface="Inter"/>
                <a:sym typeface="Inter"/>
              </a:endParaRPr>
            </a:p>
          </p:txBody>
        </p:sp>
      </p:grpSp>
      <p:grpSp>
        <p:nvGrpSpPr>
          <p:cNvPr id="296" name="Google Shape;296;p19"/>
          <p:cNvGrpSpPr/>
          <p:nvPr/>
        </p:nvGrpSpPr>
        <p:grpSpPr>
          <a:xfrm>
            <a:off x="5334000" y="1285875"/>
            <a:ext cx="3429000" cy="2619300"/>
            <a:chOff x="0" y="0"/>
            <a:chExt cx="3429000" cy="2619300"/>
          </a:xfrm>
        </p:grpSpPr>
        <p:sp>
          <p:nvSpPr>
            <p:cNvPr id="297" name="Google Shape;297;p19"/>
            <p:cNvSpPr/>
            <p:nvPr/>
          </p:nvSpPr>
          <p:spPr>
            <a:xfrm>
              <a:off x="0" y="0"/>
              <a:ext cx="3429000" cy="2619300"/>
            </a:xfrm>
            <a:prstGeom prst="roundRect">
              <a:avLst>
                <a:gd name="adj" fmla="val 1454"/>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98" name="Google Shape;298;p19"/>
            <p:cNvPicPr preferRelativeResize="0"/>
            <p:nvPr/>
          </p:nvPicPr>
          <p:blipFill rotWithShape="1">
            <a:blip r:embed="rId4">
              <a:alphaModFix/>
            </a:blip>
            <a:srcRect/>
            <a:stretch/>
          </p:blipFill>
          <p:spPr>
            <a:xfrm>
              <a:off x="95250" y="95250"/>
              <a:ext cx="3238500" cy="24288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grpSp>
        <p:nvGrpSpPr>
          <p:cNvPr id="303" name="Google Shape;303;p20"/>
          <p:cNvGrpSpPr/>
          <p:nvPr/>
        </p:nvGrpSpPr>
        <p:grpSpPr>
          <a:xfrm>
            <a:off x="0" y="0"/>
            <a:ext cx="9144000" cy="5143500"/>
            <a:chOff x="0" y="0"/>
            <a:chExt cx="9144000" cy="5143500"/>
          </a:xfrm>
        </p:grpSpPr>
        <p:grpSp>
          <p:nvGrpSpPr>
            <p:cNvPr id="304" name="Google Shape;304;p20"/>
            <p:cNvGrpSpPr/>
            <p:nvPr/>
          </p:nvGrpSpPr>
          <p:grpSpPr>
            <a:xfrm>
              <a:off x="0" y="0"/>
              <a:ext cx="9144000" cy="5143500"/>
              <a:chOff x="0" y="0"/>
              <a:chExt cx="9144000" cy="5143500"/>
            </a:xfrm>
          </p:grpSpPr>
          <p:sp>
            <p:nvSpPr>
              <p:cNvPr id="305" name="Google Shape;305;p20"/>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6" name="Google Shape;306;p20"/>
              <p:cNvSpPr/>
              <p:nvPr/>
            </p:nvSpPr>
            <p:spPr>
              <a:xfrm>
                <a:off x="0" y="0"/>
                <a:ext cx="9144000" cy="5143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cxnSp>
          <p:nvCxnSpPr>
            <p:cNvPr id="307" name="Google Shape;307;p20"/>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308" name="Google Shape;308;p20"/>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309" name="Google Shape;309;p20"/>
          <p:cNvSpPr txBox="1"/>
          <p:nvPr/>
        </p:nvSpPr>
        <p:spPr>
          <a:xfrm>
            <a:off x="523875" y="361950"/>
            <a:ext cx="82392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1">
                <a:solidFill>
                  <a:srgbClr val="111827"/>
                </a:solidFill>
                <a:latin typeface="Inter"/>
                <a:ea typeface="Inter"/>
                <a:cs typeface="Inter"/>
                <a:sym typeface="Inter"/>
              </a:rPr>
              <a:t>Automated Anomaly Alerts &amp; Attrition Threshold Monitoring</a:t>
            </a:r>
            <a:endParaRPr sz="1800" b="1">
              <a:solidFill>
                <a:srgbClr val="111827"/>
              </a:solidFill>
              <a:latin typeface="Inter"/>
              <a:ea typeface="Inter"/>
              <a:cs typeface="Inter"/>
              <a:sym typeface="Inter"/>
            </a:endParaRPr>
          </a:p>
          <a:p>
            <a:pPr marL="0" lvl="0" indent="0" algn="l" rtl="0">
              <a:spcBef>
                <a:spcPts val="300"/>
              </a:spcBef>
              <a:spcAft>
                <a:spcPts val="0"/>
              </a:spcAft>
              <a:buNone/>
            </a:pPr>
            <a:r>
              <a:rPr lang="en" sz="1050" b="0">
                <a:solidFill>
                  <a:srgbClr val="4B5563"/>
                </a:solidFill>
                <a:latin typeface="Inter Medium"/>
                <a:ea typeface="Inter Medium"/>
                <a:cs typeface="Inter Medium"/>
                <a:sym typeface="Inter Medium"/>
              </a:rPr>
              <a:t>Configurable threshold-based monitoring system designed to proactively alert HR leadership</a:t>
            </a:r>
            <a:endParaRPr sz="1050" b="0">
              <a:solidFill>
                <a:srgbClr val="4B5563"/>
              </a:solidFill>
              <a:latin typeface="Inter Medium"/>
              <a:ea typeface="Inter Medium"/>
              <a:cs typeface="Inter Medium"/>
              <a:sym typeface="Inter Medium"/>
            </a:endParaRPr>
          </a:p>
        </p:txBody>
      </p:sp>
      <p:grpSp>
        <p:nvGrpSpPr>
          <p:cNvPr id="310" name="Google Shape;310;p20"/>
          <p:cNvGrpSpPr/>
          <p:nvPr/>
        </p:nvGrpSpPr>
        <p:grpSpPr>
          <a:xfrm>
            <a:off x="381000" y="1333500"/>
            <a:ext cx="4000500" cy="3238500"/>
            <a:chOff x="381000" y="1333500"/>
            <a:chExt cx="4000500" cy="3238500"/>
          </a:xfrm>
        </p:grpSpPr>
        <p:sp>
          <p:nvSpPr>
            <p:cNvPr id="311" name="Google Shape;311;p20"/>
            <p:cNvSpPr/>
            <p:nvPr/>
          </p:nvSpPr>
          <p:spPr>
            <a:xfrm>
              <a:off x="381000" y="1333500"/>
              <a:ext cx="4000500" cy="3238500"/>
            </a:xfrm>
            <a:prstGeom prst="roundRect">
              <a:avLst>
                <a:gd name="adj" fmla="val 1176"/>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2" name="Google Shape;312;p20"/>
            <p:cNvSpPr/>
            <p:nvPr/>
          </p:nvSpPr>
          <p:spPr>
            <a:xfrm>
              <a:off x="381000" y="1333500"/>
              <a:ext cx="4000500" cy="381000"/>
            </a:xfrm>
            <a:prstGeom prst="roundRect">
              <a:avLst>
                <a:gd name="adj" fmla="val 10000"/>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3" name="Google Shape;313;p20"/>
            <p:cNvSpPr txBox="1"/>
            <p:nvPr/>
          </p:nvSpPr>
          <p:spPr>
            <a:xfrm>
              <a:off x="571500" y="1447800"/>
              <a:ext cx="3619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4B5563"/>
                  </a:solidFill>
                  <a:latin typeface="Roboto Mono SemiBold"/>
                  <a:ea typeface="Roboto Mono SemiBold"/>
                  <a:cs typeface="Roboto Mono SemiBold"/>
                  <a:sym typeface="Roboto Mono SemiBold"/>
                </a:rPr>
                <a:t>MONITORING SYSTEM CONCEPT</a:t>
              </a:r>
              <a:endParaRPr sz="750" b="0">
                <a:solidFill>
                  <a:srgbClr val="4B5563"/>
                </a:solidFill>
                <a:latin typeface="Roboto Mono SemiBold"/>
                <a:ea typeface="Roboto Mono SemiBold"/>
                <a:cs typeface="Roboto Mono SemiBold"/>
                <a:sym typeface="Roboto Mono SemiBold"/>
              </a:endParaRPr>
            </a:p>
          </p:txBody>
        </p:sp>
        <p:sp>
          <p:nvSpPr>
            <p:cNvPr id="314" name="Google Shape;314;p20"/>
            <p:cNvSpPr txBox="1"/>
            <p:nvPr/>
          </p:nvSpPr>
          <p:spPr>
            <a:xfrm>
              <a:off x="571500" y="1857375"/>
              <a:ext cx="3619500" cy="257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50" b="0">
                  <a:solidFill>
                    <a:srgbClr val="111827"/>
                  </a:solidFill>
                  <a:latin typeface="Inter SemiBold"/>
                  <a:ea typeface="Inter SemiBold"/>
                  <a:cs typeface="Inter SemiBold"/>
                  <a:sym typeface="Inter SemiBold"/>
                </a:rPr>
                <a:t>Proactive Trend Detection</a:t>
              </a:r>
              <a:endParaRPr sz="1050" b="0">
                <a:solidFill>
                  <a:srgbClr val="111827"/>
                </a:solidFill>
                <a:latin typeface="Inter SemiBold"/>
                <a:ea typeface="Inter SemiBold"/>
                <a:cs typeface="Inter SemiBold"/>
                <a:sym typeface="Inter SemiBold"/>
              </a:endParaRPr>
            </a:p>
            <a:p>
              <a:pPr marL="0" lvl="0" indent="0" algn="l" rtl="0">
                <a:spcBef>
                  <a:spcPts val="600"/>
                </a:spcBef>
                <a:spcAft>
                  <a:spcPts val="0"/>
                </a:spcAft>
                <a:buNone/>
              </a:pPr>
              <a:r>
                <a:rPr lang="en" sz="900" b="0">
                  <a:solidFill>
                    <a:srgbClr val="4B5563"/>
                  </a:solidFill>
                  <a:latin typeface="Inter"/>
                  <a:ea typeface="Inter"/>
                  <a:cs typeface="Inter"/>
                  <a:sym typeface="Inter"/>
                </a:rPr>
                <a:t>The system features a highly configurable threshold-based monitoring system designed to proactively alert HR leadership to concerning workforce trends.</a:t>
              </a:r>
              <a:endParaRPr sz="900" b="0">
                <a:solidFill>
                  <a:srgbClr val="4B5563"/>
                </a:solidFill>
                <a:latin typeface="Inter"/>
                <a:ea typeface="Inter"/>
                <a:cs typeface="Inter"/>
                <a:sym typeface="Inter"/>
              </a:endParaRPr>
            </a:p>
            <a:p>
              <a:pPr marL="0" lvl="0" indent="0" algn="l" rtl="0">
                <a:spcBef>
                  <a:spcPts val="1200"/>
                </a:spcBef>
                <a:spcAft>
                  <a:spcPts val="0"/>
                </a:spcAft>
                <a:buNone/>
              </a:pPr>
              <a:r>
                <a:rPr lang="en" sz="900" b="0">
                  <a:solidFill>
                    <a:srgbClr val="4B5563"/>
                  </a:solidFill>
                  <a:latin typeface="Inter"/>
                  <a:ea typeface="Inter"/>
                  <a:cs typeface="Inter"/>
                  <a:sym typeface="Inter"/>
                </a:rPr>
                <a:t>This mechanism converts a standard KPI into a reviewable alert, completely eliminating the need for manual inspection during every reporting period.</a:t>
              </a:r>
              <a:endParaRPr sz="900" b="0">
                <a:solidFill>
                  <a:srgbClr val="4B5563"/>
                </a:solidFill>
                <a:latin typeface="Inter"/>
                <a:ea typeface="Inter"/>
                <a:cs typeface="Inter"/>
                <a:sym typeface="Inter"/>
              </a:endParaRPr>
            </a:p>
            <a:p>
              <a:pPr marL="0" lvl="0" indent="0" algn="l" rtl="0">
                <a:spcBef>
                  <a:spcPts val="1200"/>
                </a:spcBef>
                <a:spcAft>
                  <a:spcPts val="0"/>
                </a:spcAft>
                <a:buNone/>
              </a:pPr>
              <a:r>
                <a:rPr lang="en" sz="675" b="0">
                  <a:solidFill>
                    <a:srgbClr val="10B981"/>
                  </a:solidFill>
                  <a:latin typeface="Roboto Mono SemiBold"/>
                  <a:ea typeface="Roboto Mono SemiBold"/>
                  <a:cs typeface="Roboto Mono SemiBold"/>
                  <a:sym typeface="Roboto Mono SemiBold"/>
                </a:rPr>
                <a:t>VALIDATION PASSED</a:t>
              </a:r>
              <a:r>
                <a:rPr lang="en" sz="900" b="0">
                  <a:solidFill>
                    <a:srgbClr val="4B5563"/>
                  </a:solidFill>
                  <a:latin typeface="Inter"/>
                  <a:ea typeface="Inter"/>
                  <a:cs typeface="Inter"/>
                  <a:sym typeface="Inter"/>
                </a:rPr>
                <a:t> </a:t>
              </a:r>
              <a:r>
                <a:rPr lang="en" sz="825" b="0">
                  <a:solidFill>
                    <a:srgbClr val="4B5563"/>
                  </a:solidFill>
                  <a:latin typeface="Inter"/>
                  <a:ea typeface="Inter"/>
                  <a:cs typeface="Inter"/>
                  <a:sym typeface="Inter"/>
                </a:rPr>
                <a:t>Verified via automated pipeline tests</a:t>
              </a:r>
              <a:endParaRPr sz="900" b="0">
                <a:solidFill>
                  <a:srgbClr val="4B5563"/>
                </a:solidFill>
                <a:latin typeface="Inter"/>
                <a:ea typeface="Inter"/>
                <a:cs typeface="Inter"/>
                <a:sym typeface="Inter"/>
              </a:endParaRPr>
            </a:p>
          </p:txBody>
        </p:sp>
      </p:grpSp>
      <p:grpSp>
        <p:nvGrpSpPr>
          <p:cNvPr id="315" name="Google Shape;315;p20"/>
          <p:cNvGrpSpPr/>
          <p:nvPr/>
        </p:nvGrpSpPr>
        <p:grpSpPr>
          <a:xfrm>
            <a:off x="4667250" y="1333500"/>
            <a:ext cx="1905000" cy="952500"/>
            <a:chOff x="4667250" y="1333500"/>
            <a:chExt cx="1905000" cy="952500"/>
          </a:xfrm>
        </p:grpSpPr>
        <p:sp>
          <p:nvSpPr>
            <p:cNvPr id="316" name="Google Shape;316;p20"/>
            <p:cNvSpPr/>
            <p:nvPr/>
          </p:nvSpPr>
          <p:spPr>
            <a:xfrm>
              <a:off x="4667250" y="1333500"/>
              <a:ext cx="1905000" cy="952500"/>
            </a:xfrm>
            <a:prstGeom prst="roundRect">
              <a:avLst>
                <a:gd name="adj" fmla="val 4000"/>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7" name="Google Shape;317;p20"/>
            <p:cNvSpPr txBox="1"/>
            <p:nvPr/>
          </p:nvSpPr>
          <p:spPr>
            <a:xfrm>
              <a:off x="4857750" y="1476375"/>
              <a:ext cx="15240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75" b="0">
                  <a:solidFill>
                    <a:srgbClr val="4B5563"/>
                  </a:solidFill>
                  <a:latin typeface="Roboto Mono SemiBold"/>
                  <a:ea typeface="Roboto Mono SemiBold"/>
                  <a:cs typeface="Roboto Mono SemiBold"/>
                  <a:sym typeface="Roboto Mono SemiBold"/>
                </a:rPr>
                <a:t>Baseline Threshold</a:t>
              </a:r>
              <a:endParaRPr sz="675" b="0">
                <a:solidFill>
                  <a:srgbClr val="4B5563"/>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2400" b="1">
                  <a:solidFill>
                    <a:srgbClr val="111827"/>
                  </a:solidFill>
                  <a:latin typeface="Inter"/>
                  <a:ea typeface="Inter"/>
                  <a:cs typeface="Inter"/>
                  <a:sym typeface="Inter"/>
                </a:rPr>
                <a:t>5.0%</a:t>
              </a:r>
              <a:endParaRPr sz="2400" b="1">
                <a:solidFill>
                  <a:srgbClr val="111827"/>
                </a:solidFill>
                <a:latin typeface="Inter"/>
                <a:ea typeface="Inter"/>
                <a:cs typeface="Inter"/>
                <a:sym typeface="Inter"/>
              </a:endParaRPr>
            </a:p>
            <a:p>
              <a:pPr marL="0" lvl="0" indent="0" algn="l" rtl="0">
                <a:spcBef>
                  <a:spcPts val="0"/>
                </a:spcBef>
                <a:spcAft>
                  <a:spcPts val="0"/>
                </a:spcAft>
                <a:buNone/>
              </a:pPr>
              <a:r>
                <a:rPr lang="en" sz="750" b="0">
                  <a:solidFill>
                    <a:srgbClr val="9CA3AF"/>
                  </a:solidFill>
                  <a:latin typeface="Inter Medium"/>
                  <a:ea typeface="Inter Medium"/>
                  <a:cs typeface="Inter Medium"/>
                  <a:sym typeface="Inter Medium"/>
                </a:rPr>
                <a:t>Configured Limit</a:t>
              </a:r>
              <a:endParaRPr sz="750" b="0">
                <a:solidFill>
                  <a:srgbClr val="9CA3AF"/>
                </a:solidFill>
                <a:latin typeface="Inter Medium"/>
                <a:ea typeface="Inter Medium"/>
                <a:cs typeface="Inter Medium"/>
                <a:sym typeface="Inter Medium"/>
              </a:endParaRPr>
            </a:p>
          </p:txBody>
        </p:sp>
      </p:grpSp>
      <p:grpSp>
        <p:nvGrpSpPr>
          <p:cNvPr id="318" name="Google Shape;318;p20"/>
          <p:cNvGrpSpPr/>
          <p:nvPr/>
        </p:nvGrpSpPr>
        <p:grpSpPr>
          <a:xfrm>
            <a:off x="6848475" y="1323975"/>
            <a:ext cx="1924200" cy="971700"/>
            <a:chOff x="6848475" y="1323975"/>
            <a:chExt cx="1924200" cy="971700"/>
          </a:xfrm>
        </p:grpSpPr>
        <p:pic>
          <p:nvPicPr>
            <p:cNvPr id="319" name="Google Shape;319;p20"/>
            <p:cNvPicPr preferRelativeResize="0"/>
            <p:nvPr/>
          </p:nvPicPr>
          <p:blipFill rotWithShape="1">
            <a:blip r:embed="rId3">
              <a:alphaModFix/>
            </a:blip>
            <a:srcRect/>
            <a:stretch/>
          </p:blipFill>
          <p:spPr>
            <a:xfrm>
              <a:off x="6848475" y="1323975"/>
              <a:ext cx="1924200" cy="971700"/>
            </a:xfrm>
            <a:prstGeom prst="rect">
              <a:avLst/>
            </a:prstGeom>
            <a:noFill/>
            <a:ln>
              <a:noFill/>
            </a:ln>
          </p:spPr>
        </p:pic>
        <p:sp>
          <p:nvSpPr>
            <p:cNvPr id="320" name="Google Shape;320;p20"/>
            <p:cNvSpPr txBox="1"/>
            <p:nvPr/>
          </p:nvSpPr>
          <p:spPr>
            <a:xfrm>
              <a:off x="7048500" y="1476375"/>
              <a:ext cx="15240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75" b="0">
                  <a:solidFill>
                    <a:srgbClr val="EF4444"/>
                  </a:solidFill>
                  <a:latin typeface="Roboto Mono SemiBold"/>
                  <a:ea typeface="Roboto Mono SemiBold"/>
                  <a:cs typeface="Roboto Mono SemiBold"/>
                  <a:sym typeface="Roboto Mono SemiBold"/>
                </a:rPr>
                <a:t>Current Attrition</a:t>
              </a:r>
              <a:endParaRPr sz="675" b="0">
                <a:solidFill>
                  <a:srgbClr val="EF4444"/>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2400" b="1">
                  <a:solidFill>
                    <a:srgbClr val="EF4444"/>
                  </a:solidFill>
                  <a:latin typeface="Inter"/>
                  <a:ea typeface="Inter"/>
                  <a:cs typeface="Inter"/>
                  <a:sym typeface="Inter"/>
                </a:rPr>
                <a:t>6.0%</a:t>
              </a:r>
              <a:endParaRPr sz="2400" b="1">
                <a:solidFill>
                  <a:srgbClr val="EF4444"/>
                </a:solidFill>
                <a:latin typeface="Inter"/>
                <a:ea typeface="Inter"/>
                <a:cs typeface="Inter"/>
                <a:sym typeface="Inter"/>
              </a:endParaRPr>
            </a:p>
            <a:p>
              <a:pPr marL="0" lvl="0" indent="0" algn="l" rtl="0">
                <a:spcBef>
                  <a:spcPts val="0"/>
                </a:spcBef>
                <a:spcAft>
                  <a:spcPts val="0"/>
                </a:spcAft>
                <a:buNone/>
              </a:pPr>
              <a:r>
                <a:rPr lang="en" sz="750" b="0">
                  <a:solidFill>
                    <a:srgbClr val="EF4444"/>
                  </a:solidFill>
                  <a:latin typeface="Inter Medium"/>
                  <a:ea typeface="Inter Medium"/>
                  <a:cs typeface="Inter Medium"/>
                  <a:sym typeface="Inter Medium"/>
                </a:rPr>
                <a:t>Simulated Period</a:t>
              </a:r>
              <a:endParaRPr sz="750" b="0">
                <a:solidFill>
                  <a:srgbClr val="EF4444"/>
                </a:solidFill>
                <a:latin typeface="Inter Medium"/>
                <a:ea typeface="Inter Medium"/>
                <a:cs typeface="Inter Medium"/>
                <a:sym typeface="Inter Medium"/>
              </a:endParaRPr>
            </a:p>
          </p:txBody>
        </p:sp>
      </p:grpSp>
      <p:grpSp>
        <p:nvGrpSpPr>
          <p:cNvPr id="321" name="Google Shape;321;p20"/>
          <p:cNvGrpSpPr/>
          <p:nvPr/>
        </p:nvGrpSpPr>
        <p:grpSpPr>
          <a:xfrm>
            <a:off x="4667250" y="2476500"/>
            <a:ext cx="4095900" cy="2095500"/>
            <a:chOff x="4667250" y="2476500"/>
            <a:chExt cx="4095900" cy="2095500"/>
          </a:xfrm>
        </p:grpSpPr>
        <p:sp>
          <p:nvSpPr>
            <p:cNvPr id="322" name="Google Shape;322;p20"/>
            <p:cNvSpPr/>
            <p:nvPr/>
          </p:nvSpPr>
          <p:spPr>
            <a:xfrm>
              <a:off x="4667250" y="2476500"/>
              <a:ext cx="4095900" cy="2095500"/>
            </a:xfrm>
            <a:prstGeom prst="roundRect">
              <a:avLst>
                <a:gd name="adj" fmla="val 1818"/>
              </a:avLst>
            </a:prstGeom>
            <a:solidFill>
              <a:srgbClr val="FEF2F2"/>
            </a:solidFill>
            <a:ln w="9525" cap="flat" cmpd="sng">
              <a:solidFill>
                <a:srgbClr val="FECAC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3" name="Google Shape;323;p20"/>
            <p:cNvSpPr/>
            <p:nvPr/>
          </p:nvSpPr>
          <p:spPr>
            <a:xfrm>
              <a:off x="4857750" y="2667000"/>
              <a:ext cx="762000" cy="190500"/>
            </a:xfrm>
            <a:prstGeom prst="roundRect">
              <a:avLst>
                <a:gd name="adj" fmla="val 50000"/>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4" name="Google Shape;324;p20"/>
            <p:cNvSpPr txBox="1"/>
            <p:nvPr/>
          </p:nvSpPr>
          <p:spPr>
            <a:xfrm>
              <a:off x="4857750" y="2667000"/>
              <a:ext cx="7620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CRITICAL</a:t>
              </a:r>
              <a:endParaRPr sz="750" b="1">
                <a:solidFill>
                  <a:srgbClr val="FFFFFF"/>
                </a:solidFill>
                <a:latin typeface="Roboto Mono"/>
                <a:ea typeface="Roboto Mono"/>
                <a:cs typeface="Roboto Mono"/>
                <a:sym typeface="Roboto Mono"/>
              </a:endParaRPr>
            </a:p>
          </p:txBody>
        </p:sp>
        <p:sp>
          <p:nvSpPr>
            <p:cNvPr id="325" name="Google Shape;325;p20"/>
            <p:cNvSpPr txBox="1"/>
            <p:nvPr/>
          </p:nvSpPr>
          <p:spPr>
            <a:xfrm>
              <a:off x="5715000" y="2695575"/>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75" b="0">
                  <a:solidFill>
                    <a:srgbClr val="EF4444"/>
                  </a:solidFill>
                  <a:latin typeface="Roboto Mono SemiBold"/>
                  <a:ea typeface="Roboto Mono SemiBold"/>
                  <a:cs typeface="Roboto Mono SemiBold"/>
                  <a:sym typeface="Roboto Mono SemiBold"/>
                </a:rPr>
                <a:t>RULE_BREACH: ATTR_GT_THRESHOLD</a:t>
              </a:r>
              <a:endParaRPr sz="675" b="0">
                <a:solidFill>
                  <a:srgbClr val="EF4444"/>
                </a:solidFill>
                <a:latin typeface="Roboto Mono SemiBold"/>
                <a:ea typeface="Roboto Mono SemiBold"/>
                <a:cs typeface="Roboto Mono SemiBold"/>
                <a:sym typeface="Roboto Mono SemiBold"/>
              </a:endParaRPr>
            </a:p>
          </p:txBody>
        </p:sp>
        <p:sp>
          <p:nvSpPr>
            <p:cNvPr id="326" name="Google Shape;326;p20"/>
            <p:cNvSpPr txBox="1"/>
            <p:nvPr/>
          </p:nvSpPr>
          <p:spPr>
            <a:xfrm>
              <a:off x="4857750" y="3000375"/>
              <a:ext cx="37149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a:solidFill>
                    <a:srgbClr val="991B1B"/>
                  </a:solidFill>
                  <a:latin typeface="Inter SemiBold"/>
                  <a:ea typeface="Inter SemiBold"/>
                  <a:cs typeface="Inter SemiBold"/>
                  <a:sym typeface="Inter SemiBold"/>
                </a:rPr>
                <a:t>Threshold Breach Detected</a:t>
              </a:r>
              <a:endParaRPr sz="975" b="0">
                <a:solidFill>
                  <a:srgbClr val="991B1B"/>
                </a:solidFill>
                <a:latin typeface="Inter SemiBold"/>
                <a:ea typeface="Inter SemiBold"/>
                <a:cs typeface="Inter SemiBold"/>
                <a:sym typeface="Inter SemiBold"/>
              </a:endParaRPr>
            </a:p>
            <a:p>
              <a:pPr marL="0" lvl="0" indent="0" algn="l" rtl="0">
                <a:spcBef>
                  <a:spcPts val="450"/>
                </a:spcBef>
                <a:spcAft>
                  <a:spcPts val="0"/>
                </a:spcAft>
                <a:buNone/>
              </a:pPr>
              <a:r>
                <a:rPr lang="en" sz="825">
                  <a:solidFill>
                    <a:srgbClr val="991B1B"/>
                  </a:solidFill>
                  <a:latin typeface="Inter"/>
                  <a:ea typeface="Inter"/>
                  <a:cs typeface="Inter"/>
                  <a:sym typeface="Inter"/>
                </a:rPr>
                <a:t>The system recorded an actual attrition rate of 6.0%, which exceeded the configured organizational baseline threshold of 5.0%. The automated alert successfully flagged the anomaly.</a:t>
              </a:r>
              <a:endParaRPr sz="825">
                <a:solidFill>
                  <a:srgbClr val="991B1B"/>
                </a:solidFill>
                <a:latin typeface="Inter"/>
                <a:ea typeface="Inter"/>
                <a:cs typeface="Inter"/>
                <a:sym typeface="Inter"/>
              </a:endParaRPr>
            </a:p>
            <a:p>
              <a:pPr marL="0" lvl="0" indent="0" algn="l" rtl="0">
                <a:spcBef>
                  <a:spcPts val="900"/>
                </a:spcBef>
                <a:spcAft>
                  <a:spcPts val="0"/>
                </a:spcAft>
                <a:buNone/>
              </a:pPr>
              <a:r>
                <a:rPr lang="en" sz="675">
                  <a:solidFill>
                    <a:srgbClr val="B91C1C"/>
                  </a:solidFill>
                  <a:highlight>
                    <a:srgbClr val="FFF5F5"/>
                  </a:highlight>
                  <a:latin typeface="Roboto Mono"/>
                  <a:ea typeface="Roboto Mono"/>
                  <a:cs typeface="Roboto Mono"/>
                  <a:sym typeface="Roboto Mono"/>
                </a:rPr>
                <a:t>RULE_PARAM : ACTUAL (6.0%) &gt; THRESHOLD (5.0%)</a:t>
              </a:r>
              <a:endParaRPr sz="675">
                <a:solidFill>
                  <a:srgbClr val="B91C1C"/>
                </a:solidFill>
                <a:highlight>
                  <a:srgbClr val="FFF5F5"/>
                </a:highlight>
                <a:latin typeface="Roboto Mono"/>
                <a:ea typeface="Roboto Mono"/>
                <a:cs typeface="Roboto Mono"/>
                <a:sym typeface="Roboto Mono"/>
              </a:endParaRPr>
            </a:p>
            <a:p>
              <a:pPr marL="0" lvl="0" indent="0" algn="l" rtl="0">
                <a:spcBef>
                  <a:spcPts val="300"/>
                </a:spcBef>
                <a:spcAft>
                  <a:spcPts val="0"/>
                </a:spcAft>
                <a:buNone/>
              </a:pPr>
              <a:r>
                <a:rPr lang="en" sz="675">
                  <a:solidFill>
                    <a:srgbClr val="B91C1C"/>
                  </a:solidFill>
                  <a:highlight>
                    <a:srgbClr val="FFF5F5"/>
                  </a:highlight>
                  <a:latin typeface="Roboto Mono"/>
                  <a:ea typeface="Roboto Mono"/>
                  <a:cs typeface="Roboto Mono"/>
                  <a:sym typeface="Roboto Mono"/>
                </a:rPr>
                <a:t>SYS_ACTION : CRITICAL_ALERT_DISPATCH</a:t>
              </a:r>
              <a:endParaRPr sz="675">
                <a:solidFill>
                  <a:srgbClr val="B91C1C"/>
                </a:solidFill>
                <a:highlight>
                  <a:srgbClr val="FFF5F5"/>
                </a:highlight>
                <a:latin typeface="Roboto Mono"/>
                <a:ea typeface="Roboto Mono"/>
                <a:cs typeface="Roboto Mono"/>
                <a:sym typeface="Roboto Mono"/>
              </a:endParaRPr>
            </a:p>
            <a:p>
              <a:pPr marL="0" lvl="0" indent="0" algn="l" rtl="0">
                <a:spcBef>
                  <a:spcPts val="300"/>
                </a:spcBef>
                <a:spcAft>
                  <a:spcPts val="0"/>
                </a:spcAft>
                <a:buNone/>
              </a:pPr>
              <a:r>
                <a:rPr lang="en" sz="675">
                  <a:solidFill>
                    <a:srgbClr val="B91C1C"/>
                  </a:solidFill>
                  <a:highlight>
                    <a:srgbClr val="FFF5F5"/>
                  </a:highlight>
                  <a:latin typeface="Roboto Mono"/>
                  <a:ea typeface="Roboto Mono"/>
                  <a:cs typeface="Roboto Mono"/>
                  <a:sym typeface="Roboto Mono"/>
                </a:rPr>
                <a:t>TEST_STATE : SUCCESSFUL_PIPELINE_VALIDATION</a:t>
              </a:r>
              <a:endParaRPr sz="675">
                <a:solidFill>
                  <a:srgbClr val="B91C1C"/>
                </a:solidFill>
                <a:highlight>
                  <a:srgbClr val="FFF5F5"/>
                </a:highlight>
                <a:latin typeface="Roboto Mono"/>
                <a:ea typeface="Roboto Mono"/>
                <a:cs typeface="Roboto Mono"/>
                <a:sym typeface="Roboto Mono"/>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330"/>
        <p:cNvGrpSpPr/>
        <p:nvPr/>
      </p:nvGrpSpPr>
      <p:grpSpPr>
        <a:xfrm>
          <a:off x="0" y="0"/>
          <a:ext cx="0" cy="0"/>
          <a:chOff x="0" y="0"/>
          <a:chExt cx="0" cy="0"/>
        </a:xfrm>
      </p:grpSpPr>
      <p:pic>
        <p:nvPicPr>
          <p:cNvPr id="331" name="Google Shape;331;p21"/>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332" name="Google Shape;332;p21"/>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333" name="Google Shape;333;p21"/>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4" name="Google Shape;334;p21"/>
          <p:cNvSpPr txBox="1"/>
          <p:nvPr/>
        </p:nvSpPr>
        <p:spPr>
          <a:xfrm>
            <a:off x="571500" y="361950"/>
            <a:ext cx="8191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1">
                <a:solidFill>
                  <a:srgbClr val="111827"/>
                </a:solidFill>
                <a:latin typeface="Inter"/>
                <a:ea typeface="Inter"/>
                <a:cs typeface="Inter"/>
                <a:sym typeface="Inter"/>
              </a:rPr>
              <a:t>Attrition Prediction: Random Forest Model Configuration</a:t>
            </a:r>
            <a:endParaRPr sz="2100" b="1">
              <a:solidFill>
                <a:srgbClr val="111827"/>
              </a:solidFill>
              <a:latin typeface="Inter"/>
              <a:ea typeface="Inter"/>
              <a:cs typeface="Inter"/>
              <a:sym typeface="Inter"/>
            </a:endParaRPr>
          </a:p>
        </p:txBody>
      </p:sp>
      <p:grpSp>
        <p:nvGrpSpPr>
          <p:cNvPr id="335" name="Google Shape;335;p21"/>
          <p:cNvGrpSpPr/>
          <p:nvPr/>
        </p:nvGrpSpPr>
        <p:grpSpPr>
          <a:xfrm>
            <a:off x="381000" y="1333500"/>
            <a:ext cx="4095900" cy="3429000"/>
            <a:chOff x="381000" y="1333500"/>
            <a:chExt cx="4095900" cy="3429000"/>
          </a:xfrm>
        </p:grpSpPr>
        <p:sp>
          <p:nvSpPr>
            <p:cNvPr id="336" name="Google Shape;336;p21"/>
            <p:cNvSpPr/>
            <p:nvPr/>
          </p:nvSpPr>
          <p:spPr>
            <a:xfrm>
              <a:off x="381000" y="1333500"/>
              <a:ext cx="4095900" cy="3429000"/>
            </a:xfrm>
            <a:prstGeom prst="roundRect">
              <a:avLst>
                <a:gd name="adj" fmla="val 111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7" name="Google Shape;337;p21"/>
            <p:cNvSpPr txBox="1"/>
            <p:nvPr/>
          </p:nvSpPr>
          <p:spPr>
            <a:xfrm>
              <a:off x="571500" y="1524000"/>
              <a:ext cx="3714900" cy="304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MODEL METHODOLOGY</a:t>
              </a:r>
              <a:endParaRPr sz="750" b="0">
                <a:solidFill>
                  <a:srgbClr val="2563EB"/>
                </a:solidFill>
                <a:latin typeface="Roboto Mono SemiBold"/>
                <a:ea typeface="Roboto Mono SemiBold"/>
                <a:cs typeface="Roboto Mono SemiBold"/>
                <a:sym typeface="Roboto Mono SemiBold"/>
              </a:endParaRPr>
            </a:p>
            <a:p>
              <a:pPr marL="0" lvl="0" indent="0" algn="l" rtl="0">
                <a:spcBef>
                  <a:spcPts val="450"/>
                </a:spcBef>
                <a:spcAft>
                  <a:spcPts val="0"/>
                </a:spcAft>
                <a:buNone/>
              </a:pPr>
              <a:r>
                <a:rPr lang="en" sz="900" b="0">
                  <a:solidFill>
                    <a:srgbClr val="4B5563"/>
                  </a:solidFill>
                  <a:latin typeface="Inter"/>
                  <a:ea typeface="Inter"/>
                  <a:cs typeface="Inter"/>
                  <a:sym typeface="Inter"/>
                </a:rPr>
                <a:t>The predictive analytics engine utilizes a machine learning approach to identify employees with elevated attrition risk, providing an analytical input for HR review and workforce planning.</a:t>
              </a:r>
              <a:endParaRPr sz="900" b="0">
                <a:solidFill>
                  <a:srgbClr val="4B5563"/>
                </a:solidFill>
                <a:latin typeface="Inter"/>
                <a:ea typeface="Inter"/>
                <a:cs typeface="Inter"/>
                <a:sym typeface="Inter"/>
              </a:endParaRPr>
            </a:p>
            <a:p>
              <a:pPr marL="0" lvl="0" indent="0" algn="l" rtl="0">
                <a:spcBef>
                  <a:spcPts val="750"/>
                </a:spcBef>
                <a:spcAft>
                  <a:spcPts val="0"/>
                </a:spcAft>
                <a:buNone/>
              </a:pPr>
              <a:r>
                <a:rPr lang="en" sz="900" b="0">
                  <a:solidFill>
                    <a:srgbClr val="4B5563"/>
                  </a:solidFill>
                  <a:latin typeface="Inter"/>
                  <a:ea typeface="Inter"/>
                  <a:cs typeface="Inter"/>
                  <a:sym typeface="Inter"/>
                </a:rPr>
                <a:t>The implementation uses the historical </a:t>
              </a:r>
              <a:r>
                <a:rPr lang="en" sz="900" b="0">
                  <a:solidFill>
                    <a:srgbClr val="2563EB"/>
                  </a:solidFill>
                  <a:latin typeface="Inter SemiBold"/>
                  <a:ea typeface="Inter SemiBold"/>
                  <a:cs typeface="Inter SemiBold"/>
                  <a:sym typeface="Inter SemiBold"/>
                </a:rPr>
                <a:t>Attrition</a:t>
              </a:r>
              <a:r>
                <a:rPr lang="en" sz="900" b="0">
                  <a:solidFill>
                    <a:srgbClr val="4B5563"/>
                  </a:solidFill>
                  <a:latin typeface="Inter"/>
                  <a:ea typeface="Inter"/>
                  <a:cs typeface="Inter"/>
                  <a:sym typeface="Inter"/>
                </a:rPr>
                <a:t> field as the target, converting Yes/No responses into a binary format.</a:t>
              </a:r>
              <a:endParaRPr sz="900" b="0">
                <a:solidFill>
                  <a:srgbClr val="4B5563"/>
                </a:solidFill>
                <a:latin typeface="Inter"/>
                <a:ea typeface="Inter"/>
                <a:cs typeface="Inter"/>
                <a:sym typeface="Inter"/>
              </a:endParaRPr>
            </a:p>
            <a:p>
              <a:pPr marL="0" lvl="0" indent="0" algn="l" rtl="0">
                <a:spcBef>
                  <a:spcPts val="900"/>
                </a:spcBef>
                <a:spcAft>
                  <a:spcPts val="0"/>
                </a:spcAft>
                <a:buNone/>
              </a:pPr>
              <a:r>
                <a:rPr lang="en" sz="750" b="0">
                  <a:solidFill>
                    <a:srgbClr val="2563EB"/>
                  </a:solidFill>
                  <a:latin typeface="Roboto Mono SemiBold"/>
                  <a:ea typeface="Roboto Mono SemiBold"/>
                  <a:cs typeface="Roboto Mono SemiBold"/>
                  <a:sym typeface="Roboto Mono SemiBold"/>
                </a:rPr>
                <a:t>PRIMARY MODEL OUTPUTS</a:t>
              </a:r>
              <a:endParaRPr sz="750" b="0">
                <a:solidFill>
                  <a:srgbClr val="2563EB"/>
                </a:solidFill>
                <a:latin typeface="Roboto Mono SemiBold"/>
                <a:ea typeface="Roboto Mono SemiBold"/>
                <a:cs typeface="Roboto Mono SemiBold"/>
                <a:sym typeface="Roboto Mono SemiBold"/>
              </a:endParaRPr>
            </a:p>
            <a:p>
              <a:pPr marL="0" lvl="0" indent="0" algn="l" rtl="0">
                <a:spcBef>
                  <a:spcPts val="750"/>
                </a:spcBef>
                <a:spcAft>
                  <a:spcPts val="0"/>
                </a:spcAft>
                <a:buNone/>
              </a:pPr>
              <a:r>
                <a:rPr lang="en" sz="900" b="0">
                  <a:solidFill>
                    <a:srgbClr val="111827"/>
                  </a:solidFill>
                  <a:latin typeface="Inter SemiBold"/>
                  <a:ea typeface="Inter SemiBold"/>
                  <a:cs typeface="Inter SemiBold"/>
                  <a:sym typeface="Inter SemiBold"/>
                </a:rPr>
                <a:t>Predicted Class</a:t>
              </a:r>
              <a:endParaRPr sz="900" b="0">
                <a:solidFill>
                  <a:srgbClr val="111827"/>
                </a:solidFill>
                <a:latin typeface="Inter SemiBold"/>
                <a:ea typeface="Inter SemiBold"/>
                <a:cs typeface="Inter SemiBold"/>
                <a:sym typeface="Inter SemiBold"/>
              </a:endParaRPr>
            </a:p>
            <a:p>
              <a:pPr marL="0" lvl="0" indent="0" algn="l" rtl="0">
                <a:spcBef>
                  <a:spcPts val="0"/>
                </a:spcBef>
                <a:spcAft>
                  <a:spcPts val="0"/>
                </a:spcAft>
                <a:buNone/>
              </a:pPr>
              <a:r>
                <a:rPr lang="en" sz="825" b="0">
                  <a:solidFill>
                    <a:srgbClr val="4B5563"/>
                  </a:solidFill>
                  <a:latin typeface="Inter"/>
                  <a:ea typeface="Inter"/>
                  <a:cs typeface="Inter"/>
                  <a:sym typeface="Inter"/>
                </a:rPr>
                <a:t>The binary prediction of whether an employee will leave.</a:t>
              </a:r>
              <a:endParaRPr sz="825" b="0">
                <a:solidFill>
                  <a:srgbClr val="4B5563"/>
                </a:solidFill>
                <a:latin typeface="Inter"/>
                <a:ea typeface="Inter"/>
                <a:cs typeface="Inter"/>
                <a:sym typeface="Inter"/>
              </a:endParaRPr>
            </a:p>
            <a:p>
              <a:pPr marL="0" lvl="0" indent="0" algn="l" rtl="0">
                <a:spcBef>
                  <a:spcPts val="600"/>
                </a:spcBef>
                <a:spcAft>
                  <a:spcPts val="0"/>
                </a:spcAft>
                <a:buNone/>
              </a:pPr>
              <a:r>
                <a:rPr lang="en" sz="900" b="0">
                  <a:solidFill>
                    <a:srgbClr val="111827"/>
                  </a:solidFill>
                  <a:latin typeface="Inter SemiBold"/>
                  <a:ea typeface="Inter SemiBold"/>
                  <a:cs typeface="Inter SemiBold"/>
                  <a:sym typeface="Inter SemiBold"/>
                </a:rPr>
                <a:t>Attrition Probability</a:t>
              </a:r>
              <a:endParaRPr sz="900" b="0">
                <a:solidFill>
                  <a:srgbClr val="111827"/>
                </a:solidFill>
                <a:latin typeface="Inter SemiBold"/>
                <a:ea typeface="Inter SemiBold"/>
                <a:cs typeface="Inter SemiBold"/>
                <a:sym typeface="Inter SemiBold"/>
              </a:endParaRPr>
            </a:p>
            <a:p>
              <a:pPr marL="0" lvl="0" indent="0" algn="l" rtl="0">
                <a:spcBef>
                  <a:spcPts val="0"/>
                </a:spcBef>
                <a:spcAft>
                  <a:spcPts val="0"/>
                </a:spcAft>
                <a:buNone/>
              </a:pPr>
              <a:r>
                <a:rPr lang="en" sz="825" b="0">
                  <a:solidFill>
                    <a:srgbClr val="4B5563"/>
                  </a:solidFill>
                  <a:latin typeface="Inter"/>
                  <a:ea typeface="Inter"/>
                  <a:cs typeface="Inter"/>
                  <a:sym typeface="Inter"/>
                </a:rPr>
                <a:t>The statistical model probability associated with the predicted risk.</a:t>
              </a:r>
              <a:endParaRPr sz="825" b="0">
                <a:solidFill>
                  <a:srgbClr val="4B5563"/>
                </a:solidFill>
                <a:latin typeface="Inter"/>
                <a:ea typeface="Inter"/>
                <a:cs typeface="Inter"/>
                <a:sym typeface="Inter"/>
              </a:endParaRPr>
            </a:p>
            <a:p>
              <a:pPr marL="0" lvl="0" indent="0" algn="l" rtl="0">
                <a:spcBef>
                  <a:spcPts val="600"/>
                </a:spcBef>
                <a:spcAft>
                  <a:spcPts val="0"/>
                </a:spcAft>
                <a:buNone/>
              </a:pPr>
              <a:r>
                <a:rPr lang="en" sz="900" b="0">
                  <a:solidFill>
                    <a:srgbClr val="111827"/>
                  </a:solidFill>
                  <a:latin typeface="Inter SemiBold"/>
                  <a:ea typeface="Inter SemiBold"/>
                  <a:cs typeface="Inter SemiBold"/>
                  <a:sym typeface="Inter SemiBold"/>
                </a:rPr>
                <a:t>Risk Category</a:t>
              </a:r>
              <a:endParaRPr sz="900" b="0">
                <a:solidFill>
                  <a:srgbClr val="111827"/>
                </a:solidFill>
                <a:latin typeface="Inter SemiBold"/>
                <a:ea typeface="Inter SemiBold"/>
                <a:cs typeface="Inter SemiBold"/>
                <a:sym typeface="Inter SemiBold"/>
              </a:endParaRPr>
            </a:p>
            <a:p>
              <a:pPr marL="0" lvl="0" indent="0" algn="l" rtl="0">
                <a:spcBef>
                  <a:spcPts val="0"/>
                </a:spcBef>
                <a:spcAft>
                  <a:spcPts val="0"/>
                </a:spcAft>
                <a:buNone/>
              </a:pPr>
              <a:r>
                <a:rPr lang="en" sz="825" b="0">
                  <a:solidFill>
                    <a:srgbClr val="4B5563"/>
                  </a:solidFill>
                  <a:latin typeface="Inter"/>
                  <a:ea typeface="Inter"/>
                  <a:cs typeface="Inter"/>
                  <a:sym typeface="Inter"/>
                </a:rPr>
                <a:t>A business-readable translation categorizing employee risk (Low, Medium, High).</a:t>
              </a:r>
              <a:endParaRPr sz="825" b="0">
                <a:solidFill>
                  <a:srgbClr val="4B5563"/>
                </a:solidFill>
                <a:latin typeface="Inter"/>
                <a:ea typeface="Inter"/>
                <a:cs typeface="Inter"/>
                <a:sym typeface="Inter"/>
              </a:endParaRPr>
            </a:p>
          </p:txBody>
        </p:sp>
      </p:grpSp>
      <p:grpSp>
        <p:nvGrpSpPr>
          <p:cNvPr id="338" name="Google Shape;338;p21"/>
          <p:cNvGrpSpPr/>
          <p:nvPr/>
        </p:nvGrpSpPr>
        <p:grpSpPr>
          <a:xfrm>
            <a:off x="4667250" y="1333500"/>
            <a:ext cx="4095900" cy="3429000"/>
            <a:chOff x="4667250" y="1333500"/>
            <a:chExt cx="4095900" cy="3429000"/>
          </a:xfrm>
        </p:grpSpPr>
        <p:sp>
          <p:nvSpPr>
            <p:cNvPr id="339" name="Google Shape;339;p21"/>
            <p:cNvSpPr/>
            <p:nvPr/>
          </p:nvSpPr>
          <p:spPr>
            <a:xfrm>
              <a:off x="4667250" y="1333500"/>
              <a:ext cx="4095900" cy="3429000"/>
            </a:xfrm>
            <a:prstGeom prst="roundRect">
              <a:avLst>
                <a:gd name="adj" fmla="val 2222"/>
              </a:avLst>
            </a:prstGeom>
            <a:solidFill>
              <a:srgbClr val="11182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0" name="Google Shape;340;p21"/>
            <p:cNvSpPr/>
            <p:nvPr/>
          </p:nvSpPr>
          <p:spPr>
            <a:xfrm>
              <a:off x="4667250" y="1333500"/>
              <a:ext cx="4095900" cy="285900"/>
            </a:xfrm>
            <a:prstGeom prst="roundRect">
              <a:avLst>
                <a:gd name="adj" fmla="val 26666"/>
              </a:avLst>
            </a:prstGeom>
            <a:solidFill>
              <a:srgbClr val="1F293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1" name="Google Shape;341;p21"/>
            <p:cNvSpPr/>
            <p:nvPr/>
          </p:nvSpPr>
          <p:spPr>
            <a:xfrm>
              <a:off x="4667250" y="1524000"/>
              <a:ext cx="4095900" cy="95400"/>
            </a:xfrm>
            <a:prstGeom prst="rect">
              <a:avLst/>
            </a:prstGeom>
            <a:solidFill>
              <a:srgbClr val="1F293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2" name="Google Shape;342;p21"/>
            <p:cNvSpPr/>
            <p:nvPr/>
          </p:nvSpPr>
          <p:spPr>
            <a:xfrm>
              <a:off x="4810125" y="1428750"/>
              <a:ext cx="95400" cy="95400"/>
            </a:xfrm>
            <a:prstGeom prst="ellipse">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3" name="Google Shape;343;p21"/>
            <p:cNvSpPr/>
            <p:nvPr/>
          </p:nvSpPr>
          <p:spPr>
            <a:xfrm>
              <a:off x="4953000" y="1428750"/>
              <a:ext cx="95400" cy="954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4" name="Google Shape;344;p21"/>
            <p:cNvSpPr/>
            <p:nvPr/>
          </p:nvSpPr>
          <p:spPr>
            <a:xfrm>
              <a:off x="5095875" y="1428750"/>
              <a:ext cx="95400" cy="95400"/>
            </a:xfrm>
            <a:prstGeom prst="ellipse">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5" name="Google Shape;345;p21"/>
            <p:cNvSpPr txBox="1"/>
            <p:nvPr/>
          </p:nvSpPr>
          <p:spPr>
            <a:xfrm>
              <a:off x="5334000" y="1333500"/>
              <a:ext cx="3238500" cy="285900"/>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 sz="750">
                  <a:solidFill>
                    <a:srgbClr val="9CA3AF"/>
                  </a:solidFill>
                  <a:latin typeface="Roboto Mono"/>
                  <a:ea typeface="Roboto Mono"/>
                  <a:cs typeface="Roboto Mono"/>
                  <a:sym typeface="Roboto Mono"/>
                </a:rPr>
                <a:t>model_config.yaml</a:t>
              </a:r>
              <a:endParaRPr/>
            </a:p>
          </p:txBody>
        </p:sp>
        <p:sp>
          <p:nvSpPr>
            <p:cNvPr id="346" name="Google Shape;346;p21"/>
            <p:cNvSpPr txBox="1"/>
            <p:nvPr/>
          </p:nvSpPr>
          <p:spPr>
            <a:xfrm>
              <a:off x="4857750" y="1809750"/>
              <a:ext cx="3714900" cy="2762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a:solidFill>
                    <a:srgbClr val="4B5563"/>
                  </a:solidFill>
                  <a:latin typeface="Roboto Mono"/>
                  <a:ea typeface="Roboto Mono"/>
                  <a:cs typeface="Roboto Mono"/>
                  <a:sym typeface="Roboto Mono"/>
                </a:rPr>
                <a:t># Attrition Prediction Model Config</a:t>
              </a:r>
              <a:endParaRPr sz="900">
                <a:solidFill>
                  <a:srgbClr val="4B5563"/>
                </a:solidFill>
                <a:latin typeface="Roboto Mono"/>
                <a:ea typeface="Roboto Mono"/>
                <a:cs typeface="Roboto Mono"/>
                <a:sym typeface="Roboto Mono"/>
              </a:endParaRPr>
            </a:p>
            <a:p>
              <a:pPr marL="0" lvl="0" indent="0" algn="l" rtl="0">
                <a:spcBef>
                  <a:spcPts val="450"/>
                </a:spcBef>
                <a:spcAft>
                  <a:spcPts val="0"/>
                </a:spcAft>
                <a:buNone/>
              </a:pPr>
              <a:r>
                <a:rPr lang="en" sz="900">
                  <a:solidFill>
                    <a:srgbClr val="60A5FA"/>
                  </a:solidFill>
                  <a:latin typeface="Roboto Mono"/>
                  <a:ea typeface="Roboto Mono"/>
                  <a:cs typeface="Roboto Mono"/>
                  <a:sym typeface="Roboto Mono"/>
                </a:rPr>
                <a:t>model_type</a:t>
              </a:r>
              <a:r>
                <a:rPr lang="en" sz="900">
                  <a:solidFill>
                    <a:srgbClr val="E5E7EB"/>
                  </a:solidFill>
                  <a:latin typeface="Roboto Mono"/>
                  <a:ea typeface="Roboto Mono"/>
                  <a:cs typeface="Roboto Mono"/>
                  <a:sym typeface="Roboto Mono"/>
                </a:rPr>
                <a:t>: </a:t>
              </a:r>
              <a:r>
                <a:rPr lang="en" sz="900">
                  <a:solidFill>
                    <a:srgbClr val="34D399"/>
                  </a:solidFill>
                  <a:latin typeface="Roboto Mono"/>
                  <a:ea typeface="Roboto Mono"/>
                  <a:cs typeface="Roboto Mono"/>
                  <a:sym typeface="Roboto Mono"/>
                </a:rPr>
                <a:t>"Random Forest Classifier"</a:t>
              </a:r>
              <a:endParaRPr sz="900">
                <a:solidFill>
                  <a:srgbClr val="E5E7EB"/>
                </a:solidFill>
                <a:latin typeface="Roboto Mono"/>
                <a:ea typeface="Roboto Mono"/>
                <a:cs typeface="Roboto Mono"/>
                <a:sym typeface="Roboto Mono"/>
              </a:endParaRPr>
            </a:p>
            <a:p>
              <a:pPr marL="0" lvl="0" indent="0" algn="l" rtl="0">
                <a:spcBef>
                  <a:spcPts val="450"/>
                </a:spcBef>
                <a:spcAft>
                  <a:spcPts val="0"/>
                </a:spcAft>
                <a:buNone/>
              </a:pPr>
              <a:r>
                <a:rPr lang="en" sz="900">
                  <a:solidFill>
                    <a:srgbClr val="60A5FA"/>
                  </a:solidFill>
                  <a:latin typeface="Roboto Mono"/>
                  <a:ea typeface="Roboto Mono"/>
                  <a:cs typeface="Roboto Mono"/>
                  <a:sym typeface="Roboto Mono"/>
                </a:rPr>
                <a:t>hyperparameters:</a:t>
              </a:r>
              <a:endParaRPr sz="900">
                <a:solidFill>
                  <a:srgbClr val="60A5FA"/>
                </a:solidFill>
                <a:latin typeface="Roboto Mono"/>
                <a:ea typeface="Roboto Mono"/>
                <a:cs typeface="Roboto Mono"/>
                <a:sym typeface="Roboto Mono"/>
              </a:endParaRPr>
            </a:p>
            <a:p>
              <a:pPr marL="190500" marR="0" lvl="0" indent="0" algn="l" rtl="0">
                <a:spcBef>
                  <a:spcPts val="300"/>
                </a:spcBef>
                <a:spcAft>
                  <a:spcPts val="0"/>
                </a:spcAft>
                <a:buNone/>
              </a:pPr>
              <a:r>
                <a:rPr lang="en" sz="900">
                  <a:solidFill>
                    <a:srgbClr val="93C5FD"/>
                  </a:solidFill>
                  <a:latin typeface="Roboto Mono"/>
                  <a:ea typeface="Roboto Mono"/>
                  <a:cs typeface="Roboto Mono"/>
                  <a:sym typeface="Roboto Mono"/>
                </a:rPr>
                <a:t>n_estimators</a:t>
              </a:r>
              <a:r>
                <a:rPr lang="en" sz="900">
                  <a:solidFill>
                    <a:srgbClr val="E5E7EB"/>
                  </a:solidFill>
                  <a:latin typeface="Roboto Mono"/>
                  <a:ea typeface="Roboto Mono"/>
                  <a:cs typeface="Roboto Mono"/>
                  <a:sym typeface="Roboto Mono"/>
                </a:rPr>
                <a:t>: </a:t>
              </a:r>
              <a:r>
                <a:rPr lang="en" sz="900">
                  <a:solidFill>
                    <a:srgbClr val="FBBF24"/>
                  </a:solidFill>
                  <a:latin typeface="Roboto Mono"/>
                  <a:ea typeface="Roboto Mono"/>
                  <a:cs typeface="Roboto Mono"/>
                  <a:sym typeface="Roboto Mono"/>
                </a:rPr>
                <a:t>100</a:t>
              </a:r>
              <a:endParaRPr sz="900">
                <a:solidFill>
                  <a:srgbClr val="E5E7EB"/>
                </a:solidFill>
                <a:latin typeface="Roboto Mono"/>
                <a:ea typeface="Roboto Mono"/>
                <a:cs typeface="Roboto Mono"/>
                <a:sym typeface="Roboto Mono"/>
              </a:endParaRPr>
            </a:p>
            <a:p>
              <a:pPr marL="190500" marR="0" lvl="0" indent="0" algn="l" rtl="0">
                <a:spcBef>
                  <a:spcPts val="300"/>
                </a:spcBef>
                <a:spcAft>
                  <a:spcPts val="0"/>
                </a:spcAft>
                <a:buNone/>
              </a:pPr>
              <a:r>
                <a:rPr lang="en" sz="900">
                  <a:solidFill>
                    <a:srgbClr val="93C5FD"/>
                  </a:solidFill>
                  <a:latin typeface="Roboto Mono"/>
                  <a:ea typeface="Roboto Mono"/>
                  <a:cs typeface="Roboto Mono"/>
                  <a:sym typeface="Roboto Mono"/>
                </a:rPr>
                <a:t>class_weight</a:t>
              </a:r>
              <a:r>
                <a:rPr lang="en" sz="900">
                  <a:solidFill>
                    <a:srgbClr val="E5E7EB"/>
                  </a:solidFill>
                  <a:latin typeface="Roboto Mono"/>
                  <a:ea typeface="Roboto Mono"/>
                  <a:cs typeface="Roboto Mono"/>
                  <a:sym typeface="Roboto Mono"/>
                </a:rPr>
                <a:t>: </a:t>
              </a:r>
              <a:r>
                <a:rPr lang="en" sz="900">
                  <a:solidFill>
                    <a:srgbClr val="34D399"/>
                  </a:solidFill>
                  <a:latin typeface="Roboto Mono"/>
                  <a:ea typeface="Roboto Mono"/>
                  <a:cs typeface="Roboto Mono"/>
                  <a:sym typeface="Roboto Mono"/>
                </a:rPr>
                <a:t>"balanced"</a:t>
              </a:r>
              <a:endParaRPr sz="900">
                <a:solidFill>
                  <a:srgbClr val="E5E7EB"/>
                </a:solidFill>
                <a:latin typeface="Roboto Mono"/>
                <a:ea typeface="Roboto Mono"/>
                <a:cs typeface="Roboto Mono"/>
                <a:sym typeface="Roboto Mono"/>
              </a:endParaRPr>
            </a:p>
            <a:p>
              <a:pPr marL="190500" marR="0" lvl="0" indent="0" algn="l" rtl="0">
                <a:spcBef>
                  <a:spcPts val="300"/>
                </a:spcBef>
                <a:spcAft>
                  <a:spcPts val="0"/>
                </a:spcAft>
                <a:buNone/>
              </a:pPr>
              <a:r>
                <a:rPr lang="en" sz="900">
                  <a:solidFill>
                    <a:srgbClr val="93C5FD"/>
                  </a:solidFill>
                  <a:latin typeface="Roboto Mono"/>
                  <a:ea typeface="Roboto Mono"/>
                  <a:cs typeface="Roboto Mono"/>
                  <a:sym typeface="Roboto Mono"/>
                </a:rPr>
                <a:t>random_state</a:t>
              </a:r>
              <a:r>
                <a:rPr lang="en" sz="900">
                  <a:solidFill>
                    <a:srgbClr val="E5E7EB"/>
                  </a:solidFill>
                  <a:latin typeface="Roboto Mono"/>
                  <a:ea typeface="Roboto Mono"/>
                  <a:cs typeface="Roboto Mono"/>
                  <a:sym typeface="Roboto Mono"/>
                </a:rPr>
                <a:t>: </a:t>
              </a:r>
              <a:r>
                <a:rPr lang="en" sz="900">
                  <a:solidFill>
                    <a:srgbClr val="FBBF24"/>
                  </a:solidFill>
                  <a:latin typeface="Roboto Mono"/>
                  <a:ea typeface="Roboto Mono"/>
                  <a:cs typeface="Roboto Mono"/>
                  <a:sym typeface="Roboto Mono"/>
                </a:rPr>
                <a:t>42</a:t>
              </a:r>
              <a:endParaRPr sz="900">
                <a:solidFill>
                  <a:srgbClr val="E5E7EB"/>
                </a:solidFill>
                <a:latin typeface="Roboto Mono"/>
                <a:ea typeface="Roboto Mono"/>
                <a:cs typeface="Roboto Mono"/>
                <a:sym typeface="Roboto Mono"/>
              </a:endParaRPr>
            </a:p>
            <a:p>
              <a:pPr marL="0" lvl="0" indent="0" algn="l" rtl="0">
                <a:spcBef>
                  <a:spcPts val="600"/>
                </a:spcBef>
                <a:spcAft>
                  <a:spcPts val="0"/>
                </a:spcAft>
                <a:buNone/>
              </a:pPr>
              <a:r>
                <a:rPr lang="en" sz="900">
                  <a:solidFill>
                    <a:srgbClr val="60A5FA"/>
                  </a:solidFill>
                  <a:latin typeface="Roboto Mono"/>
                  <a:ea typeface="Roboto Mono"/>
                  <a:cs typeface="Roboto Mono"/>
                  <a:sym typeface="Roboto Mono"/>
                </a:rPr>
                <a:t>dataset_split:</a:t>
              </a:r>
              <a:endParaRPr sz="900">
                <a:solidFill>
                  <a:srgbClr val="60A5FA"/>
                </a:solidFill>
                <a:latin typeface="Roboto Mono"/>
                <a:ea typeface="Roboto Mono"/>
                <a:cs typeface="Roboto Mono"/>
                <a:sym typeface="Roboto Mono"/>
              </a:endParaRPr>
            </a:p>
            <a:p>
              <a:pPr marL="190500" marR="0" lvl="0" indent="0" algn="l" rtl="0">
                <a:spcBef>
                  <a:spcPts val="300"/>
                </a:spcBef>
                <a:spcAft>
                  <a:spcPts val="0"/>
                </a:spcAft>
                <a:buNone/>
              </a:pPr>
              <a:r>
                <a:rPr lang="en" sz="900">
                  <a:solidFill>
                    <a:srgbClr val="93C5FD"/>
                  </a:solidFill>
                  <a:latin typeface="Roboto Mono"/>
                  <a:ea typeface="Roboto Mono"/>
                  <a:cs typeface="Roboto Mono"/>
                  <a:sym typeface="Roboto Mono"/>
                </a:rPr>
                <a:t>train_ratio</a:t>
              </a:r>
              <a:r>
                <a:rPr lang="en" sz="900">
                  <a:solidFill>
                    <a:srgbClr val="E5E7EB"/>
                  </a:solidFill>
                  <a:latin typeface="Roboto Mono"/>
                  <a:ea typeface="Roboto Mono"/>
                  <a:cs typeface="Roboto Mono"/>
                  <a:sym typeface="Roboto Mono"/>
                </a:rPr>
                <a:t>: </a:t>
              </a:r>
              <a:r>
                <a:rPr lang="en" sz="900">
                  <a:solidFill>
                    <a:srgbClr val="FBBF24"/>
                  </a:solidFill>
                  <a:latin typeface="Roboto Mono"/>
                  <a:ea typeface="Roboto Mono"/>
                  <a:cs typeface="Roboto Mono"/>
                  <a:sym typeface="Roboto Mono"/>
                </a:rPr>
                <a:t>0.80</a:t>
              </a:r>
              <a:endParaRPr sz="900">
                <a:solidFill>
                  <a:srgbClr val="E5E7EB"/>
                </a:solidFill>
                <a:latin typeface="Roboto Mono"/>
                <a:ea typeface="Roboto Mono"/>
                <a:cs typeface="Roboto Mono"/>
                <a:sym typeface="Roboto Mono"/>
              </a:endParaRPr>
            </a:p>
            <a:p>
              <a:pPr marL="190500" marR="0" lvl="0" indent="0" algn="l" rtl="0">
                <a:spcBef>
                  <a:spcPts val="300"/>
                </a:spcBef>
                <a:spcAft>
                  <a:spcPts val="0"/>
                </a:spcAft>
                <a:buNone/>
              </a:pPr>
              <a:r>
                <a:rPr lang="en" sz="900">
                  <a:solidFill>
                    <a:srgbClr val="93C5FD"/>
                  </a:solidFill>
                  <a:latin typeface="Roboto Mono"/>
                  <a:ea typeface="Roboto Mono"/>
                  <a:cs typeface="Roboto Mono"/>
                  <a:sym typeface="Roboto Mono"/>
                </a:rPr>
                <a:t>test_ratio</a:t>
              </a:r>
              <a:r>
                <a:rPr lang="en" sz="900">
                  <a:solidFill>
                    <a:srgbClr val="E5E7EB"/>
                  </a:solidFill>
                  <a:latin typeface="Roboto Mono"/>
                  <a:ea typeface="Roboto Mono"/>
                  <a:cs typeface="Roboto Mono"/>
                  <a:sym typeface="Roboto Mono"/>
                </a:rPr>
                <a:t>: </a:t>
              </a:r>
              <a:r>
                <a:rPr lang="en" sz="900">
                  <a:solidFill>
                    <a:srgbClr val="FBBF24"/>
                  </a:solidFill>
                  <a:latin typeface="Roboto Mono"/>
                  <a:ea typeface="Roboto Mono"/>
                  <a:cs typeface="Roboto Mono"/>
                  <a:sym typeface="Roboto Mono"/>
                </a:rPr>
                <a:t>0.20</a:t>
              </a:r>
              <a:endParaRPr sz="900">
                <a:solidFill>
                  <a:srgbClr val="E5E7EB"/>
                </a:solidFill>
                <a:latin typeface="Roboto Mono"/>
                <a:ea typeface="Roboto Mono"/>
                <a:cs typeface="Roboto Mono"/>
                <a:sym typeface="Roboto Mono"/>
              </a:endParaRPr>
            </a:p>
            <a:p>
              <a:pPr marL="190500" marR="0" lvl="0" indent="0" algn="l" rtl="0">
                <a:spcBef>
                  <a:spcPts val="300"/>
                </a:spcBef>
                <a:spcAft>
                  <a:spcPts val="0"/>
                </a:spcAft>
                <a:buNone/>
              </a:pPr>
              <a:r>
                <a:rPr lang="en" sz="900">
                  <a:solidFill>
                    <a:srgbClr val="93C5FD"/>
                  </a:solidFill>
                  <a:latin typeface="Roboto Mono"/>
                  <a:ea typeface="Roboto Mono"/>
                  <a:cs typeface="Roboto Mono"/>
                  <a:sym typeface="Roboto Mono"/>
                </a:rPr>
                <a:t>stratified</a:t>
              </a:r>
              <a:r>
                <a:rPr lang="en" sz="900">
                  <a:solidFill>
                    <a:srgbClr val="E5E7EB"/>
                  </a:solidFill>
                  <a:latin typeface="Roboto Mono"/>
                  <a:ea typeface="Roboto Mono"/>
                  <a:cs typeface="Roboto Mono"/>
                  <a:sym typeface="Roboto Mono"/>
                </a:rPr>
                <a:t>: </a:t>
              </a:r>
              <a:r>
                <a:rPr lang="en" sz="900">
                  <a:solidFill>
                    <a:srgbClr val="FBBF24"/>
                  </a:solidFill>
                  <a:latin typeface="Roboto Mono"/>
                  <a:ea typeface="Roboto Mono"/>
                  <a:cs typeface="Roboto Mono"/>
                  <a:sym typeface="Roboto Mono"/>
                </a:rPr>
                <a:t>true</a:t>
              </a:r>
              <a:endParaRPr sz="900">
                <a:solidFill>
                  <a:srgbClr val="E5E7EB"/>
                </a:solidFill>
                <a:latin typeface="Roboto Mono"/>
                <a:ea typeface="Roboto Mono"/>
                <a:cs typeface="Roboto Mono"/>
                <a:sym typeface="Roboto Mono"/>
              </a:endParaRPr>
            </a:p>
            <a:p>
              <a:pPr marL="0" lvl="0" indent="0" algn="l" rtl="0">
                <a:spcBef>
                  <a:spcPts val="600"/>
                </a:spcBef>
                <a:spcAft>
                  <a:spcPts val="0"/>
                </a:spcAft>
                <a:buNone/>
              </a:pPr>
              <a:r>
                <a:rPr lang="en" sz="900">
                  <a:solidFill>
                    <a:srgbClr val="60A5FA"/>
                  </a:solidFill>
                  <a:latin typeface="Roboto Mono"/>
                  <a:ea typeface="Roboto Mono"/>
                  <a:cs typeface="Roboto Mono"/>
                  <a:sym typeface="Roboto Mono"/>
                </a:rPr>
                <a:t>target_variable</a:t>
              </a:r>
              <a:r>
                <a:rPr lang="en" sz="900">
                  <a:solidFill>
                    <a:srgbClr val="E5E7EB"/>
                  </a:solidFill>
                  <a:latin typeface="Roboto Mono"/>
                  <a:ea typeface="Roboto Mono"/>
                  <a:cs typeface="Roboto Mono"/>
                  <a:sym typeface="Roboto Mono"/>
                </a:rPr>
                <a:t>: </a:t>
              </a:r>
              <a:r>
                <a:rPr lang="en" sz="900">
                  <a:solidFill>
                    <a:srgbClr val="34D399"/>
                  </a:solidFill>
                  <a:latin typeface="Roboto Mono"/>
                  <a:ea typeface="Roboto Mono"/>
                  <a:cs typeface="Roboto Mono"/>
                  <a:sym typeface="Roboto Mono"/>
                </a:rPr>
                <a:t>"Attrition"</a:t>
              </a:r>
              <a:endParaRPr sz="900">
                <a:solidFill>
                  <a:srgbClr val="E5E7EB"/>
                </a:solidFill>
                <a:latin typeface="Roboto Mono"/>
                <a:ea typeface="Roboto Mono"/>
                <a:cs typeface="Roboto Mono"/>
                <a:sym typeface="Roboto Mono"/>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grpSp>
        <p:nvGrpSpPr>
          <p:cNvPr id="351" name="Google Shape;351;p22"/>
          <p:cNvGrpSpPr/>
          <p:nvPr/>
        </p:nvGrpSpPr>
        <p:grpSpPr>
          <a:xfrm>
            <a:off x="0" y="0"/>
            <a:ext cx="9144000" cy="5143500"/>
            <a:chOff x="0" y="0"/>
            <a:chExt cx="9144000" cy="5143500"/>
          </a:xfrm>
        </p:grpSpPr>
        <p:sp>
          <p:nvSpPr>
            <p:cNvPr id="352" name="Google Shape;352;p22"/>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353" name="Google Shape;353;p22"/>
            <p:cNvPicPr preferRelativeResize="0"/>
            <p:nvPr/>
          </p:nvPicPr>
          <p:blipFill rotWithShape="1">
            <a:blip r:embed="rId3">
              <a:alphaModFix/>
            </a:blip>
            <a:srcRect/>
            <a:stretch/>
          </p:blipFill>
          <p:spPr>
            <a:xfrm>
              <a:off x="2667000" y="0"/>
              <a:ext cx="6477000" cy="5143500"/>
            </a:xfrm>
            <a:prstGeom prst="rect">
              <a:avLst/>
            </a:prstGeom>
            <a:noFill/>
            <a:ln>
              <a:noFill/>
            </a:ln>
          </p:spPr>
        </p:pic>
        <p:sp>
          <p:nvSpPr>
            <p:cNvPr id="354" name="Google Shape;354;p22"/>
            <p:cNvSpPr/>
            <p:nvPr/>
          </p:nvSpPr>
          <p:spPr>
            <a:xfrm>
              <a:off x="0" y="0"/>
              <a:ext cx="2667000" cy="5143500"/>
            </a:xfrm>
            <a:prstGeom prst="rect">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55" name="Google Shape;355;p22"/>
            <p:cNvCxnSpPr/>
            <p:nvPr/>
          </p:nvCxnSpPr>
          <p:spPr>
            <a:xfrm>
              <a:off x="2667000" y="0"/>
              <a:ext cx="0" cy="514350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356" name="Google Shape;356;p22"/>
            <p:cNvSpPr/>
            <p:nvPr/>
          </p:nvSpPr>
          <p:spPr>
            <a:xfrm>
              <a:off x="3048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357" name="Google Shape;357;p22"/>
          <p:cNvGrpSpPr/>
          <p:nvPr/>
        </p:nvGrpSpPr>
        <p:grpSpPr>
          <a:xfrm>
            <a:off x="285750" y="381000"/>
            <a:ext cx="2095500" cy="4381500"/>
            <a:chOff x="285750" y="381000"/>
            <a:chExt cx="2095500" cy="4381500"/>
          </a:xfrm>
        </p:grpSpPr>
        <p:sp>
          <p:nvSpPr>
            <p:cNvPr id="358" name="Google Shape;358;p22"/>
            <p:cNvSpPr/>
            <p:nvPr/>
          </p:nvSpPr>
          <p:spPr>
            <a:xfrm>
              <a:off x="285750" y="381000"/>
              <a:ext cx="2095500" cy="247800"/>
            </a:xfrm>
            <a:prstGeom prst="roundRect">
              <a:avLst>
                <a:gd name="adj" fmla="val 15384"/>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9" name="Google Shape;359;p22"/>
            <p:cNvSpPr txBox="1"/>
            <p:nvPr/>
          </p:nvSpPr>
          <p:spPr>
            <a:xfrm>
              <a:off x="285750" y="381000"/>
              <a:ext cx="2095500" cy="24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CRITICAL AUDIT</a:t>
              </a:r>
              <a:endParaRPr sz="750" b="1">
                <a:solidFill>
                  <a:srgbClr val="FFFFFF"/>
                </a:solidFill>
                <a:latin typeface="Roboto Mono"/>
                <a:ea typeface="Roboto Mono"/>
                <a:cs typeface="Roboto Mono"/>
                <a:sym typeface="Roboto Mono"/>
              </a:endParaRPr>
            </a:p>
          </p:txBody>
        </p:sp>
        <p:sp>
          <p:nvSpPr>
            <p:cNvPr id="360" name="Google Shape;360;p22"/>
            <p:cNvSpPr/>
            <p:nvPr/>
          </p:nvSpPr>
          <p:spPr>
            <a:xfrm>
              <a:off x="285750" y="762000"/>
              <a:ext cx="2095500" cy="4000500"/>
            </a:xfrm>
            <a:prstGeom prst="roundRect">
              <a:avLst>
                <a:gd name="adj" fmla="val 1818"/>
              </a:avLst>
            </a:prstGeom>
            <a:solidFill>
              <a:srgbClr val="FEF2F2"/>
            </a:solidFill>
            <a:ln w="9525" cap="flat" cmpd="sng">
              <a:solidFill>
                <a:srgbClr val="FCA5A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61" name="Google Shape;361;p22"/>
            <p:cNvCxnSpPr/>
            <p:nvPr/>
          </p:nvCxnSpPr>
          <p:spPr>
            <a:xfrm>
              <a:off x="285750" y="762000"/>
              <a:ext cx="2095500" cy="0"/>
            </a:xfrm>
            <a:prstGeom prst="straightConnector1">
              <a:avLst/>
            </a:prstGeom>
            <a:solidFill>
              <a:srgbClr val="FFFFFF"/>
            </a:solidFill>
            <a:ln w="38100" cap="flat" cmpd="sng">
              <a:solidFill>
                <a:srgbClr val="EF4444"/>
              </a:solidFill>
              <a:prstDash val="solid"/>
              <a:round/>
              <a:headEnd type="none" w="sm" len="sm"/>
              <a:tailEnd type="none" w="sm" len="sm"/>
            </a:ln>
          </p:spPr>
        </p:cxnSp>
        <p:sp>
          <p:nvSpPr>
            <p:cNvPr id="362" name="Google Shape;362;p22"/>
            <p:cNvSpPr txBox="1"/>
            <p:nvPr/>
          </p:nvSpPr>
          <p:spPr>
            <a:xfrm>
              <a:off x="428625" y="952500"/>
              <a:ext cx="1809600" cy="3619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a:solidFill>
                    <a:srgbClr val="991B1B"/>
                  </a:solidFill>
                  <a:latin typeface="Inter SemiBold"/>
                  <a:ea typeface="Inter SemiBold"/>
                  <a:cs typeface="Inter SemiBold"/>
                  <a:sym typeface="Inter SemiBold"/>
                </a:rPr>
                <a:t>Validation Findings</a:t>
              </a:r>
              <a:endParaRPr sz="975" b="0">
                <a:solidFill>
                  <a:srgbClr val="991B1B"/>
                </a:solidFill>
                <a:latin typeface="Inter SemiBold"/>
                <a:ea typeface="Inter SemiBold"/>
                <a:cs typeface="Inter SemiBold"/>
                <a:sym typeface="Inter SemiBold"/>
              </a:endParaRPr>
            </a:p>
            <a:p>
              <a:pPr marL="0" lvl="0" indent="0" algn="l" rtl="0">
                <a:spcBef>
                  <a:spcPts val="1125"/>
                </a:spcBef>
                <a:spcAft>
                  <a:spcPts val="0"/>
                </a:spcAft>
                <a:buNone/>
              </a:pPr>
              <a:r>
                <a:rPr lang="en" sz="825" b="0">
                  <a:solidFill>
                    <a:srgbClr val="7F1D1D"/>
                  </a:solidFill>
                  <a:latin typeface="Inter Medium"/>
                  <a:ea typeface="Inter Medium"/>
                  <a:cs typeface="Inter Medium"/>
                  <a:sym typeface="Inter Medium"/>
                </a:rPr>
                <a:t>The reported </a:t>
              </a:r>
              <a:r>
                <a:rPr lang="en" sz="825" b="1">
                  <a:solidFill>
                    <a:srgbClr val="B91C1C"/>
                  </a:solidFill>
                  <a:latin typeface="Inter"/>
                  <a:ea typeface="Inter"/>
                  <a:cs typeface="Inter"/>
                  <a:sym typeface="Inter"/>
                </a:rPr>
                <a:t>83.67% accuracy</a:t>
              </a:r>
              <a:r>
                <a:rPr lang="en" sz="825" b="0">
                  <a:solidFill>
                    <a:srgbClr val="7F1D1D"/>
                  </a:solidFill>
                  <a:latin typeface="Inter Medium"/>
                  <a:ea typeface="Inter Medium"/>
                  <a:cs typeface="Inter Medium"/>
                  <a:sym typeface="Inter Medium"/>
                </a:rPr>
                <a:t> should not be treated as sufficient evidence of a highly reliable attrition model.</a:t>
              </a:r>
              <a:endParaRPr sz="825" b="0">
                <a:solidFill>
                  <a:srgbClr val="7F1D1D"/>
                </a:solidFill>
                <a:latin typeface="Inter Medium"/>
                <a:ea typeface="Inter Medium"/>
                <a:cs typeface="Inter Medium"/>
                <a:sym typeface="Inter Medium"/>
              </a:endParaRPr>
            </a:p>
            <a:p>
              <a:pPr marL="0" lvl="0" indent="0" algn="l" rtl="0">
                <a:spcBef>
                  <a:spcPts val="1050"/>
                </a:spcBef>
                <a:spcAft>
                  <a:spcPts val="0"/>
                </a:spcAft>
                <a:buNone/>
              </a:pPr>
              <a:r>
                <a:rPr lang="en" sz="825" b="0">
                  <a:solidFill>
                    <a:srgbClr val="7F1D1D"/>
                  </a:solidFill>
                  <a:latin typeface="Inter Medium"/>
                  <a:ea typeface="Inter Medium"/>
                  <a:cs typeface="Inter Medium"/>
                  <a:sym typeface="Inter Medium"/>
                </a:rPr>
                <a:t>The notably low </a:t>
              </a:r>
              <a:r>
                <a:rPr lang="en" sz="825" b="1">
                  <a:solidFill>
                    <a:srgbClr val="B91C1C"/>
                  </a:solidFill>
                  <a:latin typeface="Inter"/>
                  <a:ea typeface="Inter"/>
                  <a:cs typeface="Inter"/>
                  <a:sym typeface="Inter"/>
                </a:rPr>
                <a:t>recall (8.51%)</a:t>
              </a:r>
              <a:r>
                <a:rPr lang="en" sz="825" b="0">
                  <a:solidFill>
                    <a:srgbClr val="7F1D1D"/>
                  </a:solidFill>
                  <a:latin typeface="Inter Medium"/>
                  <a:ea typeface="Inter Medium"/>
                  <a:cs typeface="Inter Medium"/>
                  <a:sym typeface="Inter Medium"/>
                </a:rPr>
                <a:t> and </a:t>
              </a:r>
              <a:r>
                <a:rPr lang="en" sz="825" b="1">
                  <a:solidFill>
                    <a:srgbClr val="B91C1C"/>
                  </a:solidFill>
                  <a:latin typeface="Inter"/>
                  <a:ea typeface="Inter"/>
                  <a:cs typeface="Inter"/>
                  <a:sym typeface="Inter"/>
                </a:rPr>
                <a:t>F1-score (14.29%)</a:t>
              </a:r>
              <a:r>
                <a:rPr lang="en" sz="825" b="0">
                  <a:solidFill>
                    <a:srgbClr val="7F1D1D"/>
                  </a:solidFill>
                  <a:latin typeface="Inter Medium"/>
                  <a:ea typeface="Inter Medium"/>
                  <a:cs typeface="Inter Medium"/>
                  <a:sym typeface="Inter Medium"/>
                </a:rPr>
                <a:t> indicate that the model currently misses many actual attrition cases.</a:t>
              </a:r>
              <a:endParaRPr sz="825" b="0">
                <a:solidFill>
                  <a:srgbClr val="7F1D1D"/>
                </a:solidFill>
                <a:latin typeface="Inter Medium"/>
                <a:ea typeface="Inter Medium"/>
                <a:cs typeface="Inter Medium"/>
                <a:sym typeface="Inter Medium"/>
              </a:endParaRPr>
            </a:p>
            <a:p>
              <a:pPr marL="0" lvl="0" indent="0" algn="l" rtl="0">
                <a:spcBef>
                  <a:spcPts val="1050"/>
                </a:spcBef>
                <a:spcAft>
                  <a:spcPts val="0"/>
                </a:spcAft>
                <a:buNone/>
              </a:pPr>
              <a:r>
                <a:rPr lang="en" sz="825" b="0">
                  <a:solidFill>
                    <a:srgbClr val="7F1D1D"/>
                  </a:solidFill>
                  <a:latin typeface="Inter Medium"/>
                  <a:ea typeface="Inter Medium"/>
                  <a:cs typeface="Inter Medium"/>
                  <a:sym typeface="Inter Medium"/>
                </a:rPr>
                <a:t>The documentation explicitly identifies that </a:t>
              </a:r>
              <a:r>
                <a:rPr lang="en" sz="825" b="1">
                  <a:solidFill>
                    <a:srgbClr val="B91C1C"/>
                  </a:solidFill>
                  <a:latin typeface="Inter"/>
                  <a:ea typeface="Inter"/>
                  <a:cs typeface="Inter"/>
                  <a:sym typeface="Inter"/>
                </a:rPr>
                <a:t>further tuning and validation</a:t>
              </a:r>
              <a:r>
                <a:rPr lang="en" sz="825" b="0">
                  <a:solidFill>
                    <a:srgbClr val="7F1D1D"/>
                  </a:solidFill>
                  <a:latin typeface="Inter Medium"/>
                  <a:ea typeface="Inter Medium"/>
                  <a:cs typeface="Inter Medium"/>
                  <a:sym typeface="Inter Medium"/>
                </a:rPr>
                <a:t> are necessary before the model can be used for autonomous production HR decisions.</a:t>
              </a:r>
              <a:endParaRPr sz="825" b="0">
                <a:solidFill>
                  <a:srgbClr val="7F1D1D"/>
                </a:solidFill>
                <a:latin typeface="Inter Medium"/>
                <a:ea typeface="Inter Medium"/>
                <a:cs typeface="Inter Medium"/>
                <a:sym typeface="Inter Medium"/>
              </a:endParaRPr>
            </a:p>
          </p:txBody>
        </p:sp>
      </p:grpSp>
      <p:grpSp>
        <p:nvGrpSpPr>
          <p:cNvPr id="363" name="Google Shape;363;p22"/>
          <p:cNvGrpSpPr/>
          <p:nvPr/>
        </p:nvGrpSpPr>
        <p:grpSpPr>
          <a:xfrm>
            <a:off x="3048000" y="381000"/>
            <a:ext cx="5715000" cy="4000425"/>
            <a:chOff x="3048000" y="381000"/>
            <a:chExt cx="5715000" cy="4000425"/>
          </a:xfrm>
        </p:grpSpPr>
        <p:sp>
          <p:nvSpPr>
            <p:cNvPr id="364" name="Google Shape;364;p22"/>
            <p:cNvSpPr txBox="1"/>
            <p:nvPr/>
          </p:nvSpPr>
          <p:spPr>
            <a:xfrm>
              <a:off x="3238500" y="381000"/>
              <a:ext cx="55245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50" b="1">
                  <a:solidFill>
                    <a:srgbClr val="111827"/>
                  </a:solidFill>
                  <a:latin typeface="Inter"/>
                  <a:ea typeface="Inter"/>
                  <a:cs typeface="Inter"/>
                  <a:sym typeface="Inter"/>
                </a:rPr>
                <a:t>Attrition Model Performance &amp; Historical Validation Metrics</a:t>
              </a:r>
              <a:endParaRPr sz="1650" b="1">
                <a:solidFill>
                  <a:srgbClr val="111827"/>
                </a:solidFill>
                <a:latin typeface="Inter"/>
                <a:ea typeface="Inter"/>
                <a:cs typeface="Inter"/>
                <a:sym typeface="Inter"/>
              </a:endParaRPr>
            </a:p>
          </p:txBody>
        </p:sp>
        <p:cxnSp>
          <p:nvCxnSpPr>
            <p:cNvPr id="365" name="Google Shape;365;p22"/>
            <p:cNvCxnSpPr/>
            <p:nvPr/>
          </p:nvCxnSpPr>
          <p:spPr>
            <a:xfrm>
              <a:off x="3048000" y="1047750"/>
              <a:ext cx="5715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366" name="Google Shape;366;p22"/>
            <p:cNvSpPr txBox="1"/>
            <p:nvPr/>
          </p:nvSpPr>
          <p:spPr>
            <a:xfrm>
              <a:off x="3238500" y="1190625"/>
              <a:ext cx="5524500" cy="66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a:solidFill>
                    <a:srgbClr val="4B5563"/>
                  </a:solidFill>
                  <a:latin typeface="Inter"/>
                  <a:ea typeface="Inter"/>
                  <a:cs typeface="Inter"/>
                  <a:sym typeface="Inter"/>
                </a:rPr>
                <a:t>The validation task audits prediction performance against historical workforce outcomes using 1,470 employee records and 34 columns. The Random Forest model's predictions were compared with actual historical outcomes to generate performance metrics.</a:t>
              </a:r>
              <a:endParaRPr sz="975" b="0">
                <a:solidFill>
                  <a:srgbClr val="4B5563"/>
                </a:solidFill>
                <a:latin typeface="Inter"/>
                <a:ea typeface="Inter"/>
                <a:cs typeface="Inter"/>
                <a:sym typeface="Inter"/>
              </a:endParaRPr>
            </a:p>
          </p:txBody>
        </p:sp>
        <p:grpSp>
          <p:nvGrpSpPr>
            <p:cNvPr id="367" name="Google Shape;367;p22"/>
            <p:cNvGrpSpPr/>
            <p:nvPr/>
          </p:nvGrpSpPr>
          <p:grpSpPr>
            <a:xfrm>
              <a:off x="3238500" y="2000250"/>
              <a:ext cx="2571900" cy="1095300"/>
              <a:chOff x="3238500" y="2000250"/>
              <a:chExt cx="2571900" cy="1095300"/>
            </a:xfrm>
          </p:grpSpPr>
          <p:sp>
            <p:nvSpPr>
              <p:cNvPr id="368" name="Google Shape;368;p22"/>
              <p:cNvSpPr/>
              <p:nvPr/>
            </p:nvSpPr>
            <p:spPr>
              <a:xfrm>
                <a:off x="3238500" y="2000250"/>
                <a:ext cx="2571900" cy="1095300"/>
              </a:xfrm>
              <a:prstGeom prst="roundRect">
                <a:avLst>
                  <a:gd name="adj" fmla="val 3478"/>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9" name="Google Shape;369;p22"/>
              <p:cNvSpPr/>
              <p:nvPr/>
            </p:nvSpPr>
            <p:spPr>
              <a:xfrm>
                <a:off x="3238500" y="2000250"/>
                <a:ext cx="2571900" cy="381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0" name="Google Shape;370;p22"/>
              <p:cNvSpPr txBox="1"/>
              <p:nvPr/>
            </p:nvSpPr>
            <p:spPr>
              <a:xfrm>
                <a:off x="3429000" y="2190750"/>
                <a:ext cx="2190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ACCURACY</a:t>
                </a:r>
                <a:endParaRPr sz="750" b="0">
                  <a:solidFill>
                    <a:srgbClr val="2563EB"/>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2400" b="1">
                    <a:solidFill>
                      <a:srgbClr val="111827"/>
                    </a:solidFill>
                    <a:latin typeface="Inter"/>
                    <a:ea typeface="Inter"/>
                    <a:cs typeface="Inter"/>
                    <a:sym typeface="Inter"/>
                  </a:rPr>
                  <a:t>83.67%</a:t>
                </a:r>
                <a:endParaRPr sz="2400" b="1">
                  <a:solidFill>
                    <a:srgbClr val="111827"/>
                  </a:solidFill>
                  <a:latin typeface="Inter"/>
                  <a:ea typeface="Inter"/>
                  <a:cs typeface="Inter"/>
                  <a:sym typeface="Inter"/>
                </a:endParaRPr>
              </a:p>
              <a:p>
                <a:pPr marL="0" lvl="0" indent="0" algn="l" rtl="0">
                  <a:spcBef>
                    <a:spcPts val="300"/>
                  </a:spcBef>
                  <a:spcAft>
                    <a:spcPts val="0"/>
                  </a:spcAft>
                  <a:buNone/>
                </a:pPr>
                <a:r>
                  <a:rPr lang="en" sz="825" b="0">
                    <a:solidFill>
                      <a:srgbClr val="6B7280"/>
                    </a:solidFill>
                    <a:latin typeface="Inter"/>
                    <a:ea typeface="Inter"/>
                    <a:cs typeface="Inter"/>
                    <a:sym typeface="Inter"/>
                  </a:rPr>
                  <a:t>High baseline prediction rate</a:t>
                </a:r>
                <a:endParaRPr sz="825" b="0">
                  <a:solidFill>
                    <a:srgbClr val="6B7280"/>
                  </a:solidFill>
                  <a:latin typeface="Inter"/>
                  <a:ea typeface="Inter"/>
                  <a:cs typeface="Inter"/>
                  <a:sym typeface="Inter"/>
                </a:endParaRPr>
              </a:p>
            </p:txBody>
          </p:sp>
        </p:grpSp>
        <p:grpSp>
          <p:nvGrpSpPr>
            <p:cNvPr id="371" name="Google Shape;371;p22"/>
            <p:cNvGrpSpPr/>
            <p:nvPr/>
          </p:nvGrpSpPr>
          <p:grpSpPr>
            <a:xfrm>
              <a:off x="6000750" y="2000250"/>
              <a:ext cx="2571900" cy="1095300"/>
              <a:chOff x="6000750" y="2000250"/>
              <a:chExt cx="2571900" cy="1095300"/>
            </a:xfrm>
          </p:grpSpPr>
          <p:sp>
            <p:nvSpPr>
              <p:cNvPr id="372" name="Google Shape;372;p22"/>
              <p:cNvSpPr/>
              <p:nvPr/>
            </p:nvSpPr>
            <p:spPr>
              <a:xfrm>
                <a:off x="6000750" y="2000250"/>
                <a:ext cx="2571900" cy="1095300"/>
              </a:xfrm>
              <a:prstGeom prst="roundRect">
                <a:avLst>
                  <a:gd name="adj" fmla="val 3478"/>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3" name="Google Shape;373;p22"/>
              <p:cNvSpPr/>
              <p:nvPr/>
            </p:nvSpPr>
            <p:spPr>
              <a:xfrm>
                <a:off x="6000750" y="2000250"/>
                <a:ext cx="2571900" cy="38100"/>
              </a:xfrm>
              <a:prstGeom prst="rect">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4" name="Google Shape;374;p22"/>
              <p:cNvSpPr txBox="1"/>
              <p:nvPr/>
            </p:nvSpPr>
            <p:spPr>
              <a:xfrm>
                <a:off x="6191250" y="2190750"/>
                <a:ext cx="2190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F59E0B"/>
                    </a:solidFill>
                    <a:latin typeface="Roboto Mono SemiBold"/>
                    <a:ea typeface="Roboto Mono SemiBold"/>
                    <a:cs typeface="Roboto Mono SemiBold"/>
                    <a:sym typeface="Roboto Mono SemiBold"/>
                  </a:rPr>
                  <a:t>PRECISION</a:t>
                </a:r>
                <a:endParaRPr sz="750" b="0">
                  <a:solidFill>
                    <a:srgbClr val="F59E0B"/>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2400" b="1">
                    <a:solidFill>
                      <a:srgbClr val="111827"/>
                    </a:solidFill>
                    <a:latin typeface="Inter"/>
                    <a:ea typeface="Inter"/>
                    <a:cs typeface="Inter"/>
                    <a:sym typeface="Inter"/>
                  </a:rPr>
                  <a:t>44.44%</a:t>
                </a:r>
                <a:endParaRPr sz="2400" b="1">
                  <a:solidFill>
                    <a:srgbClr val="111827"/>
                  </a:solidFill>
                  <a:latin typeface="Inter"/>
                  <a:ea typeface="Inter"/>
                  <a:cs typeface="Inter"/>
                  <a:sym typeface="Inter"/>
                </a:endParaRPr>
              </a:p>
              <a:p>
                <a:pPr marL="0" lvl="0" indent="0" algn="l" rtl="0">
                  <a:spcBef>
                    <a:spcPts val="300"/>
                  </a:spcBef>
                  <a:spcAft>
                    <a:spcPts val="0"/>
                  </a:spcAft>
                  <a:buNone/>
                </a:pPr>
                <a:r>
                  <a:rPr lang="en" sz="825" b="0">
                    <a:solidFill>
                      <a:srgbClr val="6B7280"/>
                    </a:solidFill>
                    <a:latin typeface="Inter"/>
                    <a:ea typeface="Inter"/>
                    <a:cs typeface="Inter"/>
                    <a:sym typeface="Inter"/>
                  </a:rPr>
                  <a:t>Moderate false positive rate</a:t>
                </a:r>
                <a:endParaRPr sz="825" b="0">
                  <a:solidFill>
                    <a:srgbClr val="6B7280"/>
                  </a:solidFill>
                  <a:latin typeface="Inter"/>
                  <a:ea typeface="Inter"/>
                  <a:cs typeface="Inter"/>
                  <a:sym typeface="Inter"/>
                </a:endParaRPr>
              </a:p>
            </p:txBody>
          </p:sp>
        </p:grpSp>
        <p:grpSp>
          <p:nvGrpSpPr>
            <p:cNvPr id="375" name="Google Shape;375;p22"/>
            <p:cNvGrpSpPr/>
            <p:nvPr/>
          </p:nvGrpSpPr>
          <p:grpSpPr>
            <a:xfrm>
              <a:off x="3238500" y="3286125"/>
              <a:ext cx="2571900" cy="1095300"/>
              <a:chOff x="3238500" y="3286125"/>
              <a:chExt cx="2571900" cy="1095300"/>
            </a:xfrm>
          </p:grpSpPr>
          <p:sp>
            <p:nvSpPr>
              <p:cNvPr id="376" name="Google Shape;376;p22"/>
              <p:cNvSpPr/>
              <p:nvPr/>
            </p:nvSpPr>
            <p:spPr>
              <a:xfrm>
                <a:off x="3238500" y="3286125"/>
                <a:ext cx="2571900" cy="1095300"/>
              </a:xfrm>
              <a:prstGeom prst="roundRect">
                <a:avLst>
                  <a:gd name="adj" fmla="val 3478"/>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7" name="Google Shape;377;p22"/>
              <p:cNvSpPr/>
              <p:nvPr/>
            </p:nvSpPr>
            <p:spPr>
              <a:xfrm>
                <a:off x="3238500" y="3286125"/>
                <a:ext cx="2571900" cy="38100"/>
              </a:xfrm>
              <a:prstGeom prst="rect">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8" name="Google Shape;378;p22"/>
              <p:cNvSpPr txBox="1"/>
              <p:nvPr/>
            </p:nvSpPr>
            <p:spPr>
              <a:xfrm>
                <a:off x="3429000" y="3476625"/>
                <a:ext cx="2190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EF4444"/>
                    </a:solidFill>
                    <a:latin typeface="Roboto Mono SemiBold"/>
                    <a:ea typeface="Roboto Mono SemiBold"/>
                    <a:cs typeface="Roboto Mono SemiBold"/>
                    <a:sym typeface="Roboto Mono SemiBold"/>
                  </a:rPr>
                  <a:t>RECALL</a:t>
                </a:r>
                <a:endParaRPr sz="750" b="0">
                  <a:solidFill>
                    <a:srgbClr val="EF4444"/>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2400" b="1">
                    <a:solidFill>
                      <a:srgbClr val="EF4444"/>
                    </a:solidFill>
                    <a:latin typeface="Inter"/>
                    <a:ea typeface="Inter"/>
                    <a:cs typeface="Inter"/>
                    <a:sym typeface="Inter"/>
                  </a:rPr>
                  <a:t>8.51%</a:t>
                </a:r>
                <a:endParaRPr sz="2400" b="1">
                  <a:solidFill>
                    <a:srgbClr val="EF4444"/>
                  </a:solidFill>
                  <a:latin typeface="Inter"/>
                  <a:ea typeface="Inter"/>
                  <a:cs typeface="Inter"/>
                  <a:sym typeface="Inter"/>
                </a:endParaRPr>
              </a:p>
              <a:p>
                <a:pPr marL="0" lvl="0" indent="0" algn="l" rtl="0">
                  <a:spcBef>
                    <a:spcPts val="300"/>
                  </a:spcBef>
                  <a:spcAft>
                    <a:spcPts val="0"/>
                  </a:spcAft>
                  <a:buNone/>
                </a:pPr>
                <a:r>
                  <a:rPr lang="en" sz="825" b="0">
                    <a:solidFill>
                      <a:srgbClr val="EF4444"/>
                    </a:solidFill>
                    <a:latin typeface="Inter Medium"/>
                    <a:ea typeface="Inter Medium"/>
                    <a:cs typeface="Inter Medium"/>
                    <a:sym typeface="Inter Medium"/>
                  </a:rPr>
                  <a:t>Critical Underperformance</a:t>
                </a:r>
                <a:endParaRPr sz="825" b="0">
                  <a:solidFill>
                    <a:srgbClr val="EF4444"/>
                  </a:solidFill>
                  <a:latin typeface="Inter Medium"/>
                  <a:ea typeface="Inter Medium"/>
                  <a:cs typeface="Inter Medium"/>
                  <a:sym typeface="Inter Medium"/>
                </a:endParaRPr>
              </a:p>
            </p:txBody>
          </p:sp>
        </p:grpSp>
        <p:grpSp>
          <p:nvGrpSpPr>
            <p:cNvPr id="379" name="Google Shape;379;p22"/>
            <p:cNvGrpSpPr/>
            <p:nvPr/>
          </p:nvGrpSpPr>
          <p:grpSpPr>
            <a:xfrm>
              <a:off x="6000750" y="3286125"/>
              <a:ext cx="2571900" cy="1095300"/>
              <a:chOff x="6000750" y="3286125"/>
              <a:chExt cx="2571900" cy="1095300"/>
            </a:xfrm>
          </p:grpSpPr>
          <p:sp>
            <p:nvSpPr>
              <p:cNvPr id="380" name="Google Shape;380;p22"/>
              <p:cNvSpPr/>
              <p:nvPr/>
            </p:nvSpPr>
            <p:spPr>
              <a:xfrm>
                <a:off x="6000750" y="3286125"/>
                <a:ext cx="2571900" cy="1095300"/>
              </a:xfrm>
              <a:prstGeom prst="roundRect">
                <a:avLst>
                  <a:gd name="adj" fmla="val 3478"/>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1" name="Google Shape;381;p22"/>
              <p:cNvSpPr/>
              <p:nvPr/>
            </p:nvSpPr>
            <p:spPr>
              <a:xfrm>
                <a:off x="6000750" y="3286125"/>
                <a:ext cx="2571900" cy="38100"/>
              </a:xfrm>
              <a:prstGeom prst="rect">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2" name="Google Shape;382;p22"/>
              <p:cNvSpPr txBox="1"/>
              <p:nvPr/>
            </p:nvSpPr>
            <p:spPr>
              <a:xfrm>
                <a:off x="6191250" y="3476625"/>
                <a:ext cx="2190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EF4444"/>
                    </a:solidFill>
                    <a:latin typeface="Roboto Mono SemiBold"/>
                    <a:ea typeface="Roboto Mono SemiBold"/>
                    <a:cs typeface="Roboto Mono SemiBold"/>
                    <a:sym typeface="Roboto Mono SemiBold"/>
                  </a:rPr>
                  <a:t>F1 SCORE</a:t>
                </a:r>
                <a:endParaRPr sz="750" b="0">
                  <a:solidFill>
                    <a:srgbClr val="EF4444"/>
                  </a:solidFill>
                  <a:latin typeface="Roboto Mono SemiBold"/>
                  <a:ea typeface="Roboto Mono SemiBold"/>
                  <a:cs typeface="Roboto Mono SemiBold"/>
                  <a:sym typeface="Roboto Mono SemiBold"/>
                </a:endParaRPr>
              </a:p>
              <a:p>
                <a:pPr marL="0" lvl="0" indent="0" algn="l" rtl="0">
                  <a:spcBef>
                    <a:spcPts val="300"/>
                  </a:spcBef>
                  <a:spcAft>
                    <a:spcPts val="0"/>
                  </a:spcAft>
                  <a:buNone/>
                </a:pPr>
                <a:r>
                  <a:rPr lang="en" sz="2400" b="1">
                    <a:solidFill>
                      <a:srgbClr val="EF4444"/>
                    </a:solidFill>
                    <a:latin typeface="Inter"/>
                    <a:ea typeface="Inter"/>
                    <a:cs typeface="Inter"/>
                    <a:sym typeface="Inter"/>
                  </a:rPr>
                  <a:t>14.29%</a:t>
                </a:r>
                <a:endParaRPr sz="2400" b="1">
                  <a:solidFill>
                    <a:srgbClr val="EF4444"/>
                  </a:solidFill>
                  <a:latin typeface="Inter"/>
                  <a:ea typeface="Inter"/>
                  <a:cs typeface="Inter"/>
                  <a:sym typeface="Inter"/>
                </a:endParaRPr>
              </a:p>
              <a:p>
                <a:pPr marL="0" lvl="0" indent="0" algn="l" rtl="0">
                  <a:spcBef>
                    <a:spcPts val="300"/>
                  </a:spcBef>
                  <a:spcAft>
                    <a:spcPts val="0"/>
                  </a:spcAft>
                  <a:buNone/>
                </a:pPr>
                <a:r>
                  <a:rPr lang="en" sz="825" b="0">
                    <a:solidFill>
                      <a:srgbClr val="EF4444"/>
                    </a:solidFill>
                    <a:latin typeface="Inter Medium"/>
                    <a:ea typeface="Inter Medium"/>
                    <a:cs typeface="Inter Medium"/>
                    <a:sym typeface="Inter Medium"/>
                  </a:rPr>
                  <a:t>Severe class imbalance gap</a:t>
                </a:r>
                <a:endParaRPr sz="825" b="0">
                  <a:solidFill>
                    <a:srgbClr val="EF4444"/>
                  </a:solidFill>
                  <a:latin typeface="Inter Medium"/>
                  <a:ea typeface="Inter Medium"/>
                  <a:cs typeface="Inter Medium"/>
                  <a:sym typeface="Inter Medium"/>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3"/>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388" name="Google Shape;388;p23"/>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389" name="Google Shape;389;p23"/>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390" name="Google Shape;390;p23"/>
          <p:cNvSpPr/>
          <p:nvPr/>
        </p:nvSpPr>
        <p:spPr>
          <a:xfrm>
            <a:off x="381000" y="381000"/>
            <a:ext cx="38100" cy="5145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91" name="Google Shape;391;p23"/>
          <p:cNvGrpSpPr/>
          <p:nvPr/>
        </p:nvGrpSpPr>
        <p:grpSpPr>
          <a:xfrm>
            <a:off x="571500" y="361950"/>
            <a:ext cx="8191500" cy="590700"/>
            <a:chOff x="571500" y="361950"/>
            <a:chExt cx="8191500" cy="590700"/>
          </a:xfrm>
        </p:grpSpPr>
        <p:sp>
          <p:nvSpPr>
            <p:cNvPr id="392" name="Google Shape;392;p23"/>
            <p:cNvSpPr txBox="1"/>
            <p:nvPr/>
          </p:nvSpPr>
          <p:spPr>
            <a:xfrm>
              <a:off x="571500" y="361950"/>
              <a:ext cx="81915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950" b="1">
                  <a:solidFill>
                    <a:srgbClr val="111827"/>
                  </a:solidFill>
                  <a:latin typeface="Inter"/>
                  <a:ea typeface="Inter"/>
                  <a:cs typeface="Inter"/>
                  <a:sym typeface="Inter"/>
                </a:rPr>
                <a:t>Confusion Matrix &amp; Employee-Level Validation Framework</a:t>
              </a:r>
              <a:endParaRPr sz="1950" b="1">
                <a:solidFill>
                  <a:srgbClr val="111827"/>
                </a:solidFill>
                <a:latin typeface="Inter"/>
                <a:ea typeface="Inter"/>
                <a:cs typeface="Inter"/>
                <a:sym typeface="Inter"/>
              </a:endParaRPr>
            </a:p>
          </p:txBody>
        </p:sp>
        <p:sp>
          <p:nvSpPr>
            <p:cNvPr id="393" name="Google Shape;393;p23"/>
            <p:cNvSpPr txBox="1"/>
            <p:nvPr/>
          </p:nvSpPr>
          <p:spPr>
            <a:xfrm>
              <a:off x="571500" y="704850"/>
              <a:ext cx="8191500" cy="247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50" b="0">
                  <a:solidFill>
                    <a:srgbClr val="4B5563"/>
                  </a:solidFill>
                  <a:latin typeface="Inter Medium"/>
                  <a:ea typeface="Inter Medium"/>
                  <a:cs typeface="Inter Medium"/>
                  <a:sym typeface="Inter Medium"/>
                </a:rPr>
                <a:t>Structured validation auditing and predictive quality control metrics</a:t>
              </a:r>
              <a:endParaRPr sz="1050" b="0">
                <a:solidFill>
                  <a:srgbClr val="4B5563"/>
                </a:solidFill>
                <a:latin typeface="Inter Medium"/>
                <a:ea typeface="Inter Medium"/>
                <a:cs typeface="Inter Medium"/>
                <a:sym typeface="Inter Medium"/>
              </a:endParaRPr>
            </a:p>
          </p:txBody>
        </p:sp>
      </p:grpSp>
      <p:grpSp>
        <p:nvGrpSpPr>
          <p:cNvPr id="394" name="Google Shape;394;p23"/>
          <p:cNvGrpSpPr/>
          <p:nvPr/>
        </p:nvGrpSpPr>
        <p:grpSpPr>
          <a:xfrm>
            <a:off x="381000" y="1238250"/>
            <a:ext cx="4191000" cy="3524400"/>
            <a:chOff x="381000" y="1238250"/>
            <a:chExt cx="4191000" cy="3524400"/>
          </a:xfrm>
        </p:grpSpPr>
        <p:sp>
          <p:nvSpPr>
            <p:cNvPr id="395" name="Google Shape;395;p23"/>
            <p:cNvSpPr/>
            <p:nvPr/>
          </p:nvSpPr>
          <p:spPr>
            <a:xfrm>
              <a:off x="381000" y="1238250"/>
              <a:ext cx="4191000" cy="3524400"/>
            </a:xfrm>
            <a:prstGeom prst="roundRect">
              <a:avLst>
                <a:gd name="adj" fmla="val 108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6" name="Google Shape;396;p23"/>
            <p:cNvSpPr/>
            <p:nvPr/>
          </p:nvSpPr>
          <p:spPr>
            <a:xfrm>
              <a:off x="390525" y="1247775"/>
              <a:ext cx="4172100" cy="371400"/>
            </a:xfrm>
            <a:prstGeom prst="roundRect">
              <a:avLst>
                <a:gd name="adj" fmla="val 7692"/>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7" name="Google Shape;397;p23"/>
            <p:cNvSpPr/>
            <p:nvPr/>
          </p:nvSpPr>
          <p:spPr>
            <a:xfrm>
              <a:off x="390525" y="1428750"/>
              <a:ext cx="4172100" cy="190500"/>
            </a:xfrm>
            <a:prstGeom prst="rect">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98" name="Google Shape;398;p23"/>
            <p:cNvCxnSpPr/>
            <p:nvPr/>
          </p:nvCxnSpPr>
          <p:spPr>
            <a:xfrm>
              <a:off x="381000" y="1619250"/>
              <a:ext cx="4191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399" name="Google Shape;399;p23"/>
            <p:cNvSpPr txBox="1"/>
            <p:nvPr/>
          </p:nvSpPr>
          <p:spPr>
            <a:xfrm>
              <a:off x="571500" y="1352550"/>
              <a:ext cx="3810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4B5563"/>
                  </a:solidFill>
                  <a:latin typeface="Roboto Mono SemiBold"/>
                  <a:ea typeface="Roboto Mono SemiBold"/>
                  <a:cs typeface="Roboto Mono SemiBold"/>
                  <a:sym typeface="Roboto Mono SemiBold"/>
                </a:rPr>
                <a:t>EMPLOYEE-LEVEL VALIDATION FIELDS (EXCEL)</a:t>
              </a:r>
              <a:endParaRPr sz="750" b="0">
                <a:solidFill>
                  <a:srgbClr val="4B5563"/>
                </a:solidFill>
                <a:latin typeface="Roboto Mono SemiBold"/>
                <a:ea typeface="Roboto Mono SemiBold"/>
                <a:cs typeface="Roboto Mono SemiBold"/>
                <a:sym typeface="Roboto Mono SemiBold"/>
              </a:endParaRPr>
            </a:p>
          </p:txBody>
        </p:sp>
        <p:sp>
          <p:nvSpPr>
            <p:cNvPr id="400" name="Google Shape;400;p23"/>
            <p:cNvSpPr txBox="1"/>
            <p:nvPr/>
          </p:nvSpPr>
          <p:spPr>
            <a:xfrm>
              <a:off x="571500" y="1666875"/>
              <a:ext cx="3810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2563EB"/>
                  </a:solidFill>
                  <a:latin typeface="Inter SemiBold"/>
                  <a:ea typeface="Inter SemiBold"/>
                  <a:cs typeface="Inter SemiBold"/>
                  <a:sym typeface="Inter SemiBold"/>
                </a:rPr>
                <a:t>Employee ID</a:t>
              </a:r>
              <a:r>
                <a:rPr lang="en" sz="900" b="0">
                  <a:solidFill>
                    <a:srgbClr val="4B5563"/>
                  </a:solidFill>
                  <a:latin typeface="Inter"/>
                  <a:ea typeface="Inter"/>
                  <a:cs typeface="Inter"/>
                  <a:sym typeface="Inter"/>
                </a:rPr>
                <a:t> — </a:t>
              </a:r>
              <a:r>
                <a:rPr lang="en" sz="825" b="0">
                  <a:solidFill>
                    <a:srgbClr val="4B5563"/>
                  </a:solidFill>
                  <a:latin typeface="Inter"/>
                  <a:ea typeface="Inter"/>
                  <a:cs typeface="Inter"/>
                  <a:sym typeface="Inter"/>
                </a:rPr>
                <a:t>The unique identifier for the workforce record.</a:t>
              </a:r>
              <a:endParaRPr sz="900" b="0">
                <a:solidFill>
                  <a:srgbClr val="4B5563"/>
                </a:solidFill>
                <a:latin typeface="Inter"/>
                <a:ea typeface="Inter"/>
                <a:cs typeface="Inter"/>
                <a:sym typeface="Inter"/>
              </a:endParaRPr>
            </a:p>
          </p:txBody>
        </p:sp>
        <p:cxnSp>
          <p:nvCxnSpPr>
            <p:cNvPr id="401" name="Google Shape;401;p23"/>
            <p:cNvCxnSpPr/>
            <p:nvPr/>
          </p:nvCxnSpPr>
          <p:spPr>
            <a:xfrm>
              <a:off x="381000" y="2143125"/>
              <a:ext cx="4191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02" name="Google Shape;402;p23"/>
            <p:cNvSpPr txBox="1"/>
            <p:nvPr/>
          </p:nvSpPr>
          <p:spPr>
            <a:xfrm>
              <a:off x="571500" y="2190750"/>
              <a:ext cx="3810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2563EB"/>
                  </a:solidFill>
                  <a:latin typeface="Inter SemiBold"/>
                  <a:ea typeface="Inter SemiBold"/>
                  <a:cs typeface="Inter SemiBold"/>
                  <a:sym typeface="Inter SemiBold"/>
                </a:rPr>
                <a:t>Actual Attrition</a:t>
              </a:r>
              <a:r>
                <a:rPr lang="en" sz="900" b="0">
                  <a:solidFill>
                    <a:srgbClr val="4B5563"/>
                  </a:solidFill>
                  <a:latin typeface="Inter"/>
                  <a:ea typeface="Inter"/>
                  <a:cs typeface="Inter"/>
                  <a:sym typeface="Inter"/>
                </a:rPr>
                <a:t> — </a:t>
              </a:r>
              <a:r>
                <a:rPr lang="en" sz="825" b="0">
                  <a:solidFill>
                    <a:srgbClr val="4B5563"/>
                  </a:solidFill>
                  <a:latin typeface="Inter"/>
                  <a:ea typeface="Inter"/>
                  <a:cs typeface="Inter"/>
                  <a:sym typeface="Inter"/>
                </a:rPr>
                <a:t>The historical truth of whether the employee left.</a:t>
              </a:r>
              <a:endParaRPr sz="900" b="0">
                <a:solidFill>
                  <a:srgbClr val="4B5563"/>
                </a:solidFill>
                <a:latin typeface="Inter"/>
                <a:ea typeface="Inter"/>
                <a:cs typeface="Inter"/>
                <a:sym typeface="Inter"/>
              </a:endParaRPr>
            </a:p>
          </p:txBody>
        </p:sp>
        <p:cxnSp>
          <p:nvCxnSpPr>
            <p:cNvPr id="403" name="Google Shape;403;p23"/>
            <p:cNvCxnSpPr/>
            <p:nvPr/>
          </p:nvCxnSpPr>
          <p:spPr>
            <a:xfrm>
              <a:off x="381000" y="2667000"/>
              <a:ext cx="4191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04" name="Google Shape;404;p23"/>
            <p:cNvSpPr txBox="1"/>
            <p:nvPr/>
          </p:nvSpPr>
          <p:spPr>
            <a:xfrm>
              <a:off x="571500" y="2714625"/>
              <a:ext cx="3810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2563EB"/>
                  </a:solidFill>
                  <a:latin typeface="Inter SemiBold"/>
                  <a:ea typeface="Inter SemiBold"/>
                  <a:cs typeface="Inter SemiBold"/>
                  <a:sym typeface="Inter SemiBold"/>
                </a:rPr>
                <a:t>Predicted Attrition</a:t>
              </a:r>
              <a:r>
                <a:rPr lang="en" sz="900" b="0">
                  <a:solidFill>
                    <a:srgbClr val="4B5563"/>
                  </a:solidFill>
                  <a:latin typeface="Inter"/>
                  <a:ea typeface="Inter"/>
                  <a:cs typeface="Inter"/>
                  <a:sym typeface="Inter"/>
                </a:rPr>
                <a:t> — </a:t>
              </a:r>
              <a:r>
                <a:rPr lang="en" sz="825" b="0">
                  <a:solidFill>
                    <a:srgbClr val="4B5563"/>
                  </a:solidFill>
                  <a:latin typeface="Inter"/>
                  <a:ea typeface="Inter"/>
                  <a:cs typeface="Inter"/>
                  <a:sym typeface="Inter"/>
                </a:rPr>
                <a:t>The binary output generated by the model.</a:t>
              </a:r>
              <a:endParaRPr sz="900" b="0">
                <a:solidFill>
                  <a:srgbClr val="4B5563"/>
                </a:solidFill>
                <a:latin typeface="Inter"/>
                <a:ea typeface="Inter"/>
                <a:cs typeface="Inter"/>
                <a:sym typeface="Inter"/>
              </a:endParaRPr>
            </a:p>
          </p:txBody>
        </p:sp>
        <p:cxnSp>
          <p:nvCxnSpPr>
            <p:cNvPr id="405" name="Google Shape;405;p23"/>
            <p:cNvCxnSpPr/>
            <p:nvPr/>
          </p:nvCxnSpPr>
          <p:spPr>
            <a:xfrm>
              <a:off x="381000" y="3190875"/>
              <a:ext cx="4191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06" name="Google Shape;406;p23"/>
            <p:cNvSpPr txBox="1"/>
            <p:nvPr/>
          </p:nvSpPr>
          <p:spPr>
            <a:xfrm>
              <a:off x="571500" y="3238500"/>
              <a:ext cx="3810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2563EB"/>
                  </a:solidFill>
                  <a:latin typeface="Inter SemiBold"/>
                  <a:ea typeface="Inter SemiBold"/>
                  <a:cs typeface="Inter SemiBold"/>
                  <a:sym typeface="Inter SemiBold"/>
                </a:rPr>
                <a:t>Attrition Probability</a:t>
              </a:r>
              <a:r>
                <a:rPr lang="en" sz="900" b="0">
                  <a:solidFill>
                    <a:srgbClr val="4B5563"/>
                  </a:solidFill>
                  <a:latin typeface="Inter"/>
                  <a:ea typeface="Inter"/>
                  <a:cs typeface="Inter"/>
                  <a:sym typeface="Inter"/>
                </a:rPr>
                <a:t> — </a:t>
              </a:r>
              <a:r>
                <a:rPr lang="en" sz="825" b="0">
                  <a:solidFill>
                    <a:srgbClr val="4B5563"/>
                  </a:solidFill>
                  <a:latin typeface="Inter"/>
                  <a:ea typeface="Inter"/>
                  <a:cs typeface="Inter"/>
                  <a:sym typeface="Inter"/>
                </a:rPr>
                <a:t>The statistical confidence of the prediction.</a:t>
              </a:r>
              <a:endParaRPr sz="900" b="0">
                <a:solidFill>
                  <a:srgbClr val="4B5563"/>
                </a:solidFill>
                <a:latin typeface="Inter"/>
                <a:ea typeface="Inter"/>
                <a:cs typeface="Inter"/>
                <a:sym typeface="Inter"/>
              </a:endParaRPr>
            </a:p>
          </p:txBody>
        </p:sp>
        <p:cxnSp>
          <p:nvCxnSpPr>
            <p:cNvPr id="407" name="Google Shape;407;p23"/>
            <p:cNvCxnSpPr/>
            <p:nvPr/>
          </p:nvCxnSpPr>
          <p:spPr>
            <a:xfrm>
              <a:off x="381000" y="3714750"/>
              <a:ext cx="4191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08" name="Google Shape;408;p23"/>
            <p:cNvSpPr txBox="1"/>
            <p:nvPr/>
          </p:nvSpPr>
          <p:spPr>
            <a:xfrm>
              <a:off x="571500" y="3762375"/>
              <a:ext cx="3810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2563EB"/>
                  </a:solidFill>
                  <a:latin typeface="Inter SemiBold"/>
                  <a:ea typeface="Inter SemiBold"/>
                  <a:cs typeface="Inter SemiBold"/>
                  <a:sym typeface="Inter SemiBold"/>
                </a:rPr>
                <a:t>Prediction Correct</a:t>
              </a:r>
              <a:r>
                <a:rPr lang="en" sz="900" b="0">
                  <a:solidFill>
                    <a:srgbClr val="4B5563"/>
                  </a:solidFill>
                  <a:latin typeface="Inter"/>
                  <a:ea typeface="Inter"/>
                  <a:cs typeface="Inter"/>
                  <a:sym typeface="Inter"/>
                </a:rPr>
                <a:t> — </a:t>
              </a:r>
              <a:r>
                <a:rPr lang="en" sz="825" b="0">
                  <a:solidFill>
                    <a:srgbClr val="4B5563"/>
                  </a:solidFill>
                  <a:latin typeface="Inter"/>
                  <a:ea typeface="Inter"/>
                  <a:cs typeface="Inter"/>
                  <a:sym typeface="Inter"/>
                </a:rPr>
                <a:t>A boolean flag indicating if the prediction matched reality.</a:t>
              </a:r>
              <a:endParaRPr sz="900" b="0">
                <a:solidFill>
                  <a:srgbClr val="4B5563"/>
                </a:solidFill>
                <a:latin typeface="Inter"/>
                <a:ea typeface="Inter"/>
                <a:cs typeface="Inter"/>
                <a:sym typeface="Inter"/>
              </a:endParaRPr>
            </a:p>
          </p:txBody>
        </p:sp>
        <p:cxnSp>
          <p:nvCxnSpPr>
            <p:cNvPr id="409" name="Google Shape;409;p23"/>
            <p:cNvCxnSpPr/>
            <p:nvPr/>
          </p:nvCxnSpPr>
          <p:spPr>
            <a:xfrm>
              <a:off x="381000" y="4238625"/>
              <a:ext cx="4191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10" name="Google Shape;410;p23"/>
            <p:cNvSpPr txBox="1"/>
            <p:nvPr/>
          </p:nvSpPr>
          <p:spPr>
            <a:xfrm>
              <a:off x="571500" y="4286250"/>
              <a:ext cx="3810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2563EB"/>
                  </a:solidFill>
                  <a:latin typeface="Inter SemiBold"/>
                  <a:ea typeface="Inter SemiBold"/>
                  <a:cs typeface="Inter SemiBold"/>
                  <a:sym typeface="Inter SemiBold"/>
                </a:rPr>
                <a:t>Risk Category</a:t>
              </a:r>
              <a:r>
                <a:rPr lang="en" sz="900" b="0">
                  <a:solidFill>
                    <a:srgbClr val="4B5563"/>
                  </a:solidFill>
                  <a:latin typeface="Inter"/>
                  <a:ea typeface="Inter"/>
                  <a:cs typeface="Inter"/>
                  <a:sym typeface="Inter"/>
                </a:rPr>
                <a:t> — </a:t>
              </a:r>
              <a:r>
                <a:rPr lang="en" sz="825" b="0">
                  <a:solidFill>
                    <a:srgbClr val="4B5563"/>
                  </a:solidFill>
                  <a:latin typeface="Inter"/>
                  <a:ea typeface="Inter"/>
                  <a:cs typeface="Inter"/>
                  <a:sym typeface="Inter"/>
                </a:rPr>
                <a:t>The assigned Low/Medium/High business classification.</a:t>
              </a:r>
              <a:endParaRPr sz="900" b="0">
                <a:solidFill>
                  <a:srgbClr val="4B5563"/>
                </a:solidFill>
                <a:latin typeface="Inter"/>
                <a:ea typeface="Inter"/>
                <a:cs typeface="Inter"/>
                <a:sym typeface="Inter"/>
              </a:endParaRPr>
            </a:p>
          </p:txBody>
        </p:sp>
      </p:grpSp>
      <p:sp>
        <p:nvSpPr>
          <p:cNvPr id="411" name="Google Shape;411;p23"/>
          <p:cNvSpPr txBox="1"/>
          <p:nvPr/>
        </p:nvSpPr>
        <p:spPr>
          <a:xfrm>
            <a:off x="4953000" y="1238250"/>
            <a:ext cx="38100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7" b="0">
                <a:solidFill>
                  <a:srgbClr val="4B5563"/>
                </a:solidFill>
                <a:latin typeface="Inter"/>
                <a:ea typeface="Inter"/>
                <a:cs typeface="Inter"/>
                <a:sym typeface="Inter"/>
              </a:rPr>
              <a:t>The validation workflow generates a comprehensive confusion matrix and detailed employee-level prediction information. The confusion matrix separates correct and incorrect prediction types (True Negative, False Positive, False Negative, True Positive) to help analysts understand exactly where the model succeeds and fails.</a:t>
            </a:r>
            <a:endParaRPr sz="867" b="0">
              <a:solidFill>
                <a:srgbClr val="4B5563"/>
              </a:solidFill>
              <a:latin typeface="Inter"/>
              <a:ea typeface="Inter"/>
              <a:cs typeface="Inter"/>
              <a:sym typeface="Inter"/>
            </a:endParaRPr>
          </a:p>
        </p:txBody>
      </p:sp>
      <p:grpSp>
        <p:nvGrpSpPr>
          <p:cNvPr id="412" name="Google Shape;412;p23"/>
          <p:cNvGrpSpPr/>
          <p:nvPr/>
        </p:nvGrpSpPr>
        <p:grpSpPr>
          <a:xfrm>
            <a:off x="4572000" y="2114550"/>
            <a:ext cx="3714900" cy="2076600"/>
            <a:chOff x="4572000" y="2114550"/>
            <a:chExt cx="3714900" cy="2076600"/>
          </a:xfrm>
        </p:grpSpPr>
        <p:sp>
          <p:nvSpPr>
            <p:cNvPr id="413" name="Google Shape;413;p23"/>
            <p:cNvSpPr txBox="1"/>
            <p:nvPr/>
          </p:nvSpPr>
          <p:spPr>
            <a:xfrm>
              <a:off x="5619750" y="2114550"/>
              <a:ext cx="1314600" cy="142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38" b="0">
                  <a:solidFill>
                    <a:srgbClr val="4B5563"/>
                  </a:solidFill>
                  <a:latin typeface="Roboto Mono SemiBold"/>
                  <a:ea typeface="Roboto Mono SemiBold"/>
                  <a:cs typeface="Roboto Mono SemiBold"/>
                  <a:sym typeface="Roboto Mono SemiBold"/>
                </a:rPr>
                <a:t>PREDICTED NEGATIVE</a:t>
              </a:r>
              <a:endParaRPr sz="638" b="0">
                <a:solidFill>
                  <a:srgbClr val="4B5563"/>
                </a:solidFill>
                <a:latin typeface="Roboto Mono SemiBold"/>
                <a:ea typeface="Roboto Mono SemiBold"/>
                <a:cs typeface="Roboto Mono SemiBold"/>
                <a:sym typeface="Roboto Mono SemiBold"/>
              </a:endParaRPr>
            </a:p>
          </p:txBody>
        </p:sp>
        <p:sp>
          <p:nvSpPr>
            <p:cNvPr id="414" name="Google Shape;414;p23"/>
            <p:cNvSpPr txBox="1"/>
            <p:nvPr/>
          </p:nvSpPr>
          <p:spPr>
            <a:xfrm>
              <a:off x="6972300" y="2114550"/>
              <a:ext cx="1314600" cy="142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38" b="0">
                  <a:solidFill>
                    <a:srgbClr val="4B5563"/>
                  </a:solidFill>
                  <a:latin typeface="Roboto Mono SemiBold"/>
                  <a:ea typeface="Roboto Mono SemiBold"/>
                  <a:cs typeface="Roboto Mono SemiBold"/>
                  <a:sym typeface="Roboto Mono SemiBold"/>
                </a:rPr>
                <a:t>PREDICTED POSITIVE</a:t>
              </a:r>
              <a:endParaRPr sz="638" b="0">
                <a:solidFill>
                  <a:srgbClr val="4B5563"/>
                </a:solidFill>
                <a:latin typeface="Roboto Mono SemiBold"/>
                <a:ea typeface="Roboto Mono SemiBold"/>
                <a:cs typeface="Roboto Mono SemiBold"/>
                <a:sym typeface="Roboto Mono SemiBold"/>
              </a:endParaRPr>
            </a:p>
          </p:txBody>
        </p:sp>
        <p:sp>
          <p:nvSpPr>
            <p:cNvPr id="415" name="Google Shape;415;p23"/>
            <p:cNvSpPr txBox="1"/>
            <p:nvPr/>
          </p:nvSpPr>
          <p:spPr>
            <a:xfrm>
              <a:off x="4572000" y="2657475"/>
              <a:ext cx="952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638" b="0">
                  <a:solidFill>
                    <a:srgbClr val="4B5563"/>
                  </a:solidFill>
                  <a:latin typeface="Roboto Mono SemiBold"/>
                  <a:ea typeface="Roboto Mono SemiBold"/>
                  <a:cs typeface="Roboto Mono SemiBold"/>
                  <a:sym typeface="Roboto Mono SemiBold"/>
                </a:rPr>
                <a:t>ACTUAL NEGATIVE</a:t>
              </a:r>
              <a:endParaRPr sz="638" b="0">
                <a:solidFill>
                  <a:srgbClr val="4B5563"/>
                </a:solidFill>
                <a:latin typeface="Roboto Mono SemiBold"/>
                <a:ea typeface="Roboto Mono SemiBold"/>
                <a:cs typeface="Roboto Mono SemiBold"/>
                <a:sym typeface="Roboto Mono SemiBold"/>
              </a:endParaRPr>
            </a:p>
          </p:txBody>
        </p:sp>
        <p:sp>
          <p:nvSpPr>
            <p:cNvPr id="416" name="Google Shape;416;p23"/>
            <p:cNvSpPr txBox="1"/>
            <p:nvPr/>
          </p:nvSpPr>
          <p:spPr>
            <a:xfrm>
              <a:off x="4572000" y="3629025"/>
              <a:ext cx="952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638" b="0">
                  <a:solidFill>
                    <a:srgbClr val="4B5563"/>
                  </a:solidFill>
                  <a:latin typeface="Roboto Mono SemiBold"/>
                  <a:ea typeface="Roboto Mono SemiBold"/>
                  <a:cs typeface="Roboto Mono SemiBold"/>
                  <a:sym typeface="Roboto Mono SemiBold"/>
                </a:rPr>
                <a:t>ACTUAL POSITIVE</a:t>
              </a:r>
              <a:endParaRPr sz="638" b="0">
                <a:solidFill>
                  <a:srgbClr val="4B5563"/>
                </a:solidFill>
                <a:latin typeface="Roboto Mono SemiBold"/>
                <a:ea typeface="Roboto Mono SemiBold"/>
                <a:cs typeface="Roboto Mono SemiBold"/>
                <a:sym typeface="Roboto Mono SemiBold"/>
              </a:endParaRPr>
            </a:p>
          </p:txBody>
        </p:sp>
        <p:sp>
          <p:nvSpPr>
            <p:cNvPr id="417" name="Google Shape;417;p23"/>
            <p:cNvSpPr/>
            <p:nvPr/>
          </p:nvSpPr>
          <p:spPr>
            <a:xfrm>
              <a:off x="5619750" y="2286000"/>
              <a:ext cx="1314600" cy="933600"/>
            </a:xfrm>
            <a:prstGeom prst="roundRect">
              <a:avLst>
                <a:gd name="adj" fmla="val 4081"/>
              </a:avLst>
            </a:prstGeom>
            <a:solidFill>
              <a:srgbClr val="F0FDF4"/>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8" name="Google Shape;418;p23"/>
            <p:cNvSpPr txBox="1"/>
            <p:nvPr/>
          </p:nvSpPr>
          <p:spPr>
            <a:xfrm>
              <a:off x="5657850" y="2324100"/>
              <a:ext cx="1238400" cy="857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0">
                  <a:solidFill>
                    <a:srgbClr val="166534"/>
                  </a:solidFill>
                  <a:latin typeface="Inter SemiBold"/>
                  <a:ea typeface="Inter SemiBold"/>
                  <a:cs typeface="Inter SemiBold"/>
                  <a:sym typeface="Inter SemiBold"/>
                </a:rPr>
                <a:t>True Negative (TN)</a:t>
              </a:r>
              <a:endParaRPr sz="975" b="0">
                <a:solidFill>
                  <a:srgbClr val="166534"/>
                </a:solidFill>
                <a:latin typeface="Inter SemiBold"/>
                <a:ea typeface="Inter SemiBold"/>
                <a:cs typeface="Inter SemiBold"/>
                <a:sym typeface="Inter SemiBold"/>
              </a:endParaRPr>
            </a:p>
            <a:p>
              <a:pPr marL="0" lvl="0" indent="0" algn="ctr" rtl="0">
                <a:spcBef>
                  <a:spcPts val="300"/>
                </a:spcBef>
                <a:spcAft>
                  <a:spcPts val="0"/>
                </a:spcAft>
                <a:buNone/>
              </a:pPr>
              <a:r>
                <a:rPr lang="en" sz="750" b="0">
                  <a:solidFill>
                    <a:srgbClr val="15803D"/>
                  </a:solidFill>
                  <a:latin typeface="Inter"/>
                  <a:ea typeface="Inter"/>
                  <a:cs typeface="Inter"/>
                  <a:sym typeface="Inter"/>
                </a:rPr>
                <a:t>Correct Prediction</a:t>
              </a:r>
              <a:br>
                <a:rPr lang="en" sz="750" b="0">
                  <a:solidFill>
                    <a:srgbClr val="15803D"/>
                  </a:solidFill>
                  <a:latin typeface="Inter"/>
                  <a:ea typeface="Inter"/>
                  <a:cs typeface="Inter"/>
                  <a:sym typeface="Inter"/>
                </a:rPr>
              </a:br>
              <a:r>
                <a:rPr lang="en" sz="750" b="0">
                  <a:solidFill>
                    <a:srgbClr val="15803D"/>
                  </a:solidFill>
                  <a:latin typeface="Inter"/>
                  <a:ea typeface="Inter"/>
                  <a:cs typeface="Inter"/>
                  <a:sym typeface="Inter"/>
                </a:rPr>
                <a:t>Active Employee</a:t>
              </a:r>
              <a:endParaRPr sz="750" b="0">
                <a:solidFill>
                  <a:srgbClr val="15803D"/>
                </a:solidFill>
                <a:latin typeface="Inter"/>
                <a:ea typeface="Inter"/>
                <a:cs typeface="Inter"/>
                <a:sym typeface="Inter"/>
              </a:endParaRPr>
            </a:p>
          </p:txBody>
        </p:sp>
        <p:sp>
          <p:nvSpPr>
            <p:cNvPr id="419" name="Google Shape;419;p23"/>
            <p:cNvSpPr/>
            <p:nvPr/>
          </p:nvSpPr>
          <p:spPr>
            <a:xfrm>
              <a:off x="6972300" y="2286000"/>
              <a:ext cx="1314600" cy="933600"/>
            </a:xfrm>
            <a:prstGeom prst="roundRect">
              <a:avLst>
                <a:gd name="adj" fmla="val 4081"/>
              </a:avLst>
            </a:prstGeom>
            <a:solidFill>
              <a:srgbClr val="FEF2F2"/>
            </a:solidFill>
            <a:ln w="14300" cap="flat"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0" name="Google Shape;420;p23"/>
            <p:cNvSpPr txBox="1"/>
            <p:nvPr/>
          </p:nvSpPr>
          <p:spPr>
            <a:xfrm>
              <a:off x="7010400" y="2324100"/>
              <a:ext cx="1238400" cy="857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0">
                  <a:solidFill>
                    <a:srgbClr val="991B1B"/>
                  </a:solidFill>
                  <a:latin typeface="Inter SemiBold"/>
                  <a:ea typeface="Inter SemiBold"/>
                  <a:cs typeface="Inter SemiBold"/>
                  <a:sym typeface="Inter SemiBold"/>
                </a:rPr>
                <a:t>False Positive (FP)</a:t>
              </a:r>
              <a:endParaRPr sz="975" b="0">
                <a:solidFill>
                  <a:srgbClr val="991B1B"/>
                </a:solidFill>
                <a:latin typeface="Inter SemiBold"/>
                <a:ea typeface="Inter SemiBold"/>
                <a:cs typeface="Inter SemiBold"/>
                <a:sym typeface="Inter SemiBold"/>
              </a:endParaRPr>
            </a:p>
            <a:p>
              <a:pPr marL="0" lvl="0" indent="0" algn="ctr" rtl="0">
                <a:spcBef>
                  <a:spcPts val="300"/>
                </a:spcBef>
                <a:spcAft>
                  <a:spcPts val="0"/>
                </a:spcAft>
                <a:buNone/>
              </a:pPr>
              <a:r>
                <a:rPr lang="en" sz="750" b="0">
                  <a:solidFill>
                    <a:srgbClr val="B91C1C"/>
                  </a:solidFill>
                  <a:latin typeface="Inter"/>
                  <a:ea typeface="Inter"/>
                  <a:cs typeface="Inter"/>
                  <a:sym typeface="Inter"/>
                </a:rPr>
                <a:t>Incorrect Prediction</a:t>
              </a:r>
              <a:br>
                <a:rPr lang="en" sz="750" b="0">
                  <a:solidFill>
                    <a:srgbClr val="B91C1C"/>
                  </a:solidFill>
                  <a:latin typeface="Inter"/>
                  <a:ea typeface="Inter"/>
                  <a:cs typeface="Inter"/>
                  <a:sym typeface="Inter"/>
                </a:rPr>
              </a:br>
              <a:r>
                <a:rPr lang="en" sz="750" b="0">
                  <a:solidFill>
                    <a:srgbClr val="B91C1C"/>
                  </a:solidFill>
                  <a:latin typeface="Inter"/>
                  <a:ea typeface="Inter"/>
                  <a:cs typeface="Inter"/>
                  <a:sym typeface="Inter"/>
                </a:rPr>
                <a:t>False Alarm</a:t>
              </a:r>
              <a:endParaRPr sz="750" b="0">
                <a:solidFill>
                  <a:srgbClr val="B91C1C"/>
                </a:solidFill>
                <a:latin typeface="Inter"/>
                <a:ea typeface="Inter"/>
                <a:cs typeface="Inter"/>
                <a:sym typeface="Inter"/>
              </a:endParaRPr>
            </a:p>
          </p:txBody>
        </p:sp>
        <p:sp>
          <p:nvSpPr>
            <p:cNvPr id="421" name="Google Shape;421;p23"/>
            <p:cNvSpPr/>
            <p:nvPr/>
          </p:nvSpPr>
          <p:spPr>
            <a:xfrm>
              <a:off x="5619750" y="3257550"/>
              <a:ext cx="1314600" cy="933600"/>
            </a:xfrm>
            <a:prstGeom prst="roundRect">
              <a:avLst>
                <a:gd name="adj" fmla="val 4081"/>
              </a:avLst>
            </a:prstGeom>
            <a:solidFill>
              <a:srgbClr val="FEF2F2"/>
            </a:solidFill>
            <a:ln w="14300" cap="flat"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23"/>
            <p:cNvSpPr txBox="1"/>
            <p:nvPr/>
          </p:nvSpPr>
          <p:spPr>
            <a:xfrm>
              <a:off x="5657850" y="3295650"/>
              <a:ext cx="1238400" cy="857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0">
                  <a:solidFill>
                    <a:srgbClr val="991B1B"/>
                  </a:solidFill>
                  <a:latin typeface="Inter SemiBold"/>
                  <a:ea typeface="Inter SemiBold"/>
                  <a:cs typeface="Inter SemiBold"/>
                  <a:sym typeface="Inter SemiBold"/>
                </a:rPr>
                <a:t>False Negative (FN)</a:t>
              </a:r>
              <a:endParaRPr sz="975" b="0">
                <a:solidFill>
                  <a:srgbClr val="991B1B"/>
                </a:solidFill>
                <a:latin typeface="Inter SemiBold"/>
                <a:ea typeface="Inter SemiBold"/>
                <a:cs typeface="Inter SemiBold"/>
                <a:sym typeface="Inter SemiBold"/>
              </a:endParaRPr>
            </a:p>
            <a:p>
              <a:pPr marL="0" lvl="0" indent="0" algn="ctr" rtl="0">
                <a:spcBef>
                  <a:spcPts val="300"/>
                </a:spcBef>
                <a:spcAft>
                  <a:spcPts val="0"/>
                </a:spcAft>
                <a:buNone/>
              </a:pPr>
              <a:r>
                <a:rPr lang="en" sz="750" b="0">
                  <a:solidFill>
                    <a:srgbClr val="B91C1C"/>
                  </a:solidFill>
                  <a:latin typeface="Inter"/>
                  <a:ea typeface="Inter"/>
                  <a:cs typeface="Inter"/>
                  <a:sym typeface="Inter"/>
                </a:rPr>
                <a:t>Incorrect Prediction</a:t>
              </a:r>
              <a:br>
                <a:rPr lang="en" sz="750" b="0">
                  <a:solidFill>
                    <a:srgbClr val="B91C1C"/>
                  </a:solidFill>
                  <a:latin typeface="Inter"/>
                  <a:ea typeface="Inter"/>
                  <a:cs typeface="Inter"/>
                  <a:sym typeface="Inter"/>
                </a:rPr>
              </a:br>
              <a:r>
                <a:rPr lang="en" sz="750" b="0">
                  <a:solidFill>
                    <a:srgbClr val="B91C1C"/>
                  </a:solidFill>
                  <a:latin typeface="Inter"/>
                  <a:ea typeface="Inter"/>
                  <a:cs typeface="Inter"/>
                  <a:sym typeface="Inter"/>
                </a:rPr>
                <a:t>Missed Attrition</a:t>
              </a:r>
              <a:endParaRPr sz="750" b="0">
                <a:solidFill>
                  <a:srgbClr val="B91C1C"/>
                </a:solidFill>
                <a:latin typeface="Inter"/>
                <a:ea typeface="Inter"/>
                <a:cs typeface="Inter"/>
                <a:sym typeface="Inter"/>
              </a:endParaRPr>
            </a:p>
          </p:txBody>
        </p:sp>
        <p:sp>
          <p:nvSpPr>
            <p:cNvPr id="423" name="Google Shape;423;p23"/>
            <p:cNvSpPr/>
            <p:nvPr/>
          </p:nvSpPr>
          <p:spPr>
            <a:xfrm>
              <a:off x="6972300" y="3257550"/>
              <a:ext cx="1314600" cy="933600"/>
            </a:xfrm>
            <a:prstGeom prst="roundRect">
              <a:avLst>
                <a:gd name="adj" fmla="val 4081"/>
              </a:avLst>
            </a:prstGeom>
            <a:solidFill>
              <a:srgbClr val="F0FDF4"/>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23"/>
            <p:cNvSpPr txBox="1"/>
            <p:nvPr/>
          </p:nvSpPr>
          <p:spPr>
            <a:xfrm>
              <a:off x="7010400" y="3295650"/>
              <a:ext cx="1238400" cy="857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0">
                  <a:solidFill>
                    <a:srgbClr val="166534"/>
                  </a:solidFill>
                  <a:latin typeface="Inter SemiBold"/>
                  <a:ea typeface="Inter SemiBold"/>
                  <a:cs typeface="Inter SemiBold"/>
                  <a:sym typeface="Inter SemiBold"/>
                </a:rPr>
                <a:t>True Positive (TP)</a:t>
              </a:r>
              <a:endParaRPr sz="975" b="0">
                <a:solidFill>
                  <a:srgbClr val="166534"/>
                </a:solidFill>
                <a:latin typeface="Inter SemiBold"/>
                <a:ea typeface="Inter SemiBold"/>
                <a:cs typeface="Inter SemiBold"/>
                <a:sym typeface="Inter SemiBold"/>
              </a:endParaRPr>
            </a:p>
            <a:p>
              <a:pPr marL="0" lvl="0" indent="0" algn="ctr" rtl="0">
                <a:spcBef>
                  <a:spcPts val="300"/>
                </a:spcBef>
                <a:spcAft>
                  <a:spcPts val="0"/>
                </a:spcAft>
                <a:buNone/>
              </a:pPr>
              <a:r>
                <a:rPr lang="en" sz="750" b="0">
                  <a:solidFill>
                    <a:srgbClr val="15803D"/>
                  </a:solidFill>
                  <a:latin typeface="Inter"/>
                  <a:ea typeface="Inter"/>
                  <a:cs typeface="Inter"/>
                  <a:sym typeface="Inter"/>
                </a:rPr>
                <a:t>Correct Prediction</a:t>
              </a:r>
              <a:br>
                <a:rPr lang="en" sz="750" b="0">
                  <a:solidFill>
                    <a:srgbClr val="15803D"/>
                  </a:solidFill>
                  <a:latin typeface="Inter"/>
                  <a:ea typeface="Inter"/>
                  <a:cs typeface="Inter"/>
                  <a:sym typeface="Inter"/>
                </a:rPr>
              </a:br>
              <a:r>
                <a:rPr lang="en" sz="750" b="0">
                  <a:solidFill>
                    <a:srgbClr val="15803D"/>
                  </a:solidFill>
                  <a:latin typeface="Inter"/>
                  <a:ea typeface="Inter"/>
                  <a:cs typeface="Inter"/>
                  <a:sym typeface="Inter"/>
                </a:rPr>
                <a:t>Attrition Flagged</a:t>
              </a:r>
              <a:endParaRPr sz="750" b="0">
                <a:solidFill>
                  <a:srgbClr val="15803D"/>
                </a:solidFill>
                <a:latin typeface="Inter"/>
                <a:ea typeface="Inter"/>
                <a:cs typeface="Inter"/>
                <a:sym typeface="Inter"/>
              </a:endParaRPr>
            </a:p>
          </p:txBody>
        </p:sp>
      </p:grpSp>
      <p:grpSp>
        <p:nvGrpSpPr>
          <p:cNvPr id="425" name="Google Shape;425;p23"/>
          <p:cNvGrpSpPr/>
          <p:nvPr/>
        </p:nvGrpSpPr>
        <p:grpSpPr>
          <a:xfrm>
            <a:off x="4857750" y="4305300"/>
            <a:ext cx="3924300" cy="476400"/>
            <a:chOff x="4857750" y="4305300"/>
            <a:chExt cx="3924300" cy="476400"/>
          </a:xfrm>
        </p:grpSpPr>
        <p:cxnSp>
          <p:nvCxnSpPr>
            <p:cNvPr id="426" name="Google Shape;426;p23"/>
            <p:cNvCxnSpPr/>
            <p:nvPr/>
          </p:nvCxnSpPr>
          <p:spPr>
            <a:xfrm>
              <a:off x="4857750" y="4333875"/>
              <a:ext cx="0" cy="428700"/>
            </a:xfrm>
            <a:prstGeom prst="straightConnector1">
              <a:avLst/>
            </a:prstGeom>
            <a:solidFill>
              <a:srgbClr val="FFFFFF"/>
            </a:solidFill>
            <a:ln w="19050" cap="flat" cmpd="sng">
              <a:solidFill>
                <a:srgbClr val="2563EB"/>
              </a:solidFill>
              <a:prstDash val="solid"/>
              <a:round/>
              <a:headEnd type="none" w="sm" len="sm"/>
              <a:tailEnd type="none" w="sm" len="sm"/>
            </a:ln>
          </p:spPr>
        </p:cxnSp>
        <p:sp>
          <p:nvSpPr>
            <p:cNvPr id="427" name="Google Shape;427;p23"/>
            <p:cNvSpPr txBox="1"/>
            <p:nvPr/>
          </p:nvSpPr>
          <p:spPr>
            <a:xfrm>
              <a:off x="4972050" y="4305300"/>
              <a:ext cx="3810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63" b="0" i="1">
                  <a:solidFill>
                    <a:srgbClr val="111827"/>
                  </a:solidFill>
                  <a:latin typeface="Inter SemiBold"/>
                  <a:ea typeface="Inter SemiBold"/>
                  <a:cs typeface="Inter SemiBold"/>
                  <a:sym typeface="Inter SemiBold"/>
                </a:rPr>
                <a:t>These validation results, alongside feature importance and model metrics, form a complete audit trail for the predictive engine.</a:t>
              </a:r>
              <a:endParaRPr sz="863" b="0" i="1">
                <a:solidFill>
                  <a:srgbClr val="111827"/>
                </a:solidFill>
                <a:latin typeface="Inter SemiBold"/>
                <a:ea typeface="Inter SemiBold"/>
                <a:cs typeface="Inter SemiBold"/>
                <a:sym typeface="Inter SemiBold"/>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24"/>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433" name="Google Shape;433;p24"/>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434" name="Google Shape;434;p24"/>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35" name="Google Shape;435;p24"/>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36" name="Google Shape;436;p24"/>
          <p:cNvGrpSpPr/>
          <p:nvPr/>
        </p:nvGrpSpPr>
        <p:grpSpPr>
          <a:xfrm>
            <a:off x="514350" y="381000"/>
            <a:ext cx="8248800" cy="552450"/>
            <a:chOff x="0" y="0"/>
            <a:chExt cx="8248800" cy="552450"/>
          </a:xfrm>
        </p:grpSpPr>
        <p:sp>
          <p:nvSpPr>
            <p:cNvPr id="437" name="Google Shape;437;p24"/>
            <p:cNvSpPr txBox="1"/>
            <p:nvPr/>
          </p:nvSpPr>
          <p:spPr>
            <a:xfrm>
              <a:off x="0" y="0"/>
              <a:ext cx="82488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1">
                  <a:solidFill>
                    <a:srgbClr val="111827"/>
                  </a:solidFill>
                  <a:latin typeface="Inter"/>
                  <a:ea typeface="Inter"/>
                  <a:cs typeface="Inter"/>
                  <a:sym typeface="Inter"/>
                </a:rPr>
                <a:t>Feature Importance</a:t>
              </a:r>
              <a:endParaRPr sz="2100" b="1">
                <a:solidFill>
                  <a:srgbClr val="111827"/>
                </a:solidFill>
                <a:latin typeface="Inter"/>
                <a:ea typeface="Inter"/>
                <a:cs typeface="Inter"/>
                <a:sym typeface="Inter"/>
              </a:endParaRPr>
            </a:p>
          </p:txBody>
        </p:sp>
        <p:sp>
          <p:nvSpPr>
            <p:cNvPr id="438" name="Google Shape;438;p24"/>
            <p:cNvSpPr txBox="1"/>
            <p:nvPr/>
          </p:nvSpPr>
          <p:spPr>
            <a:xfrm>
              <a:off x="0" y="323850"/>
              <a:ext cx="82488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0">
                  <a:solidFill>
                    <a:srgbClr val="4B5563"/>
                  </a:solidFill>
                  <a:latin typeface="Inter Medium"/>
                  <a:ea typeface="Inter Medium"/>
                  <a:cs typeface="Inter Medium"/>
                  <a:sym typeface="Inter Medium"/>
                </a:rPr>
                <a:t>Model-Derived Predictive Contributions</a:t>
              </a:r>
              <a:endParaRPr sz="1200" b="0">
                <a:solidFill>
                  <a:srgbClr val="4B5563"/>
                </a:solidFill>
                <a:latin typeface="Inter Medium"/>
                <a:ea typeface="Inter Medium"/>
                <a:cs typeface="Inter Medium"/>
                <a:sym typeface="Inter Medium"/>
              </a:endParaRPr>
            </a:p>
          </p:txBody>
        </p:sp>
      </p:grpSp>
      <p:grpSp>
        <p:nvGrpSpPr>
          <p:cNvPr id="439" name="Google Shape;439;p24"/>
          <p:cNvGrpSpPr/>
          <p:nvPr/>
        </p:nvGrpSpPr>
        <p:grpSpPr>
          <a:xfrm>
            <a:off x="381000" y="1285875"/>
            <a:ext cx="4000500" cy="3428925"/>
            <a:chOff x="0" y="0"/>
            <a:chExt cx="4000500" cy="3428925"/>
          </a:xfrm>
        </p:grpSpPr>
        <p:sp>
          <p:nvSpPr>
            <p:cNvPr id="440" name="Google Shape;440;p24"/>
            <p:cNvSpPr txBox="1"/>
            <p:nvPr/>
          </p:nvSpPr>
          <p:spPr>
            <a:xfrm>
              <a:off x="0" y="0"/>
              <a:ext cx="40005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a:solidFill>
                    <a:srgbClr val="374151"/>
                  </a:solidFill>
                  <a:latin typeface="Inter"/>
                  <a:ea typeface="Inter"/>
                  <a:cs typeface="Inter"/>
                  <a:sym typeface="Inter"/>
                </a:rPr>
                <a:t>The Random Forest workflow generates feature-importance metrics to help explain which available workforce variables contribute most strongly to the model's predictions. This provides transparency into the AI's decision-making process.</a:t>
              </a:r>
              <a:endParaRPr sz="975" b="0">
                <a:solidFill>
                  <a:srgbClr val="374151"/>
                </a:solidFill>
                <a:latin typeface="Inter"/>
                <a:ea typeface="Inter"/>
                <a:cs typeface="Inter"/>
                <a:sym typeface="Inter"/>
              </a:endParaRPr>
            </a:p>
          </p:txBody>
        </p:sp>
        <p:grpSp>
          <p:nvGrpSpPr>
            <p:cNvPr id="441" name="Google Shape;441;p24"/>
            <p:cNvGrpSpPr/>
            <p:nvPr/>
          </p:nvGrpSpPr>
          <p:grpSpPr>
            <a:xfrm>
              <a:off x="0" y="1190625"/>
              <a:ext cx="4000500" cy="2238300"/>
              <a:chOff x="0" y="0"/>
              <a:chExt cx="4000500" cy="2238300"/>
            </a:xfrm>
          </p:grpSpPr>
          <p:sp>
            <p:nvSpPr>
              <p:cNvPr id="442" name="Google Shape;442;p24"/>
              <p:cNvSpPr/>
              <p:nvPr/>
            </p:nvSpPr>
            <p:spPr>
              <a:xfrm>
                <a:off x="0" y="0"/>
                <a:ext cx="4000500" cy="2238300"/>
              </a:xfrm>
              <a:prstGeom prst="roundRect">
                <a:avLst>
                  <a:gd name="adj" fmla="val 1702"/>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3" name="Google Shape;443;p24"/>
              <p:cNvSpPr/>
              <p:nvPr/>
            </p:nvSpPr>
            <p:spPr>
              <a:xfrm>
                <a:off x="0" y="0"/>
                <a:ext cx="38100" cy="22383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4" name="Google Shape;444;p24"/>
              <p:cNvSpPr txBox="1"/>
              <p:nvPr/>
            </p:nvSpPr>
            <p:spPr>
              <a:xfrm>
                <a:off x="228600" y="228600"/>
                <a:ext cx="35433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1">
                    <a:solidFill>
                      <a:srgbClr val="D97706"/>
                    </a:solidFill>
                    <a:latin typeface="Roboto Mono"/>
                    <a:ea typeface="Roboto Mono"/>
                    <a:cs typeface="Roboto Mono"/>
                    <a:sym typeface="Roboto Mono"/>
                  </a:rPr>
                  <a:t>Important Distinction</a:t>
                </a:r>
                <a:endParaRPr sz="825" b="1">
                  <a:solidFill>
                    <a:srgbClr val="D97706"/>
                  </a:solidFill>
                  <a:latin typeface="Roboto Mono"/>
                  <a:ea typeface="Roboto Mono"/>
                  <a:cs typeface="Roboto Mono"/>
                  <a:sym typeface="Roboto Mono"/>
                </a:endParaRPr>
              </a:p>
              <a:p>
                <a:pPr marL="0" lvl="0" indent="0" algn="l" rtl="0">
                  <a:spcBef>
                    <a:spcPts val="900"/>
                  </a:spcBef>
                  <a:spcAft>
                    <a:spcPts val="0"/>
                  </a:spcAft>
                  <a:buNone/>
                </a:pPr>
                <a:r>
                  <a:rPr lang="en" sz="900" b="0">
                    <a:solidFill>
                      <a:srgbClr val="4B5563"/>
                    </a:solidFill>
                    <a:latin typeface="Inter"/>
                    <a:ea typeface="Inter"/>
                    <a:cs typeface="Inter"/>
                    <a:sym typeface="Inter"/>
                  </a:rPr>
                  <a:t>These variables represent model-derived predictive features based on the provided dataset. They highlight mathematical contributions to the model's output and should not automatically be described as proven causal reasons for employee attrition.</a:t>
                </a:r>
                <a:endParaRPr sz="900" b="0">
                  <a:solidFill>
                    <a:srgbClr val="4B5563"/>
                  </a:solidFill>
                  <a:latin typeface="Inter"/>
                  <a:ea typeface="Inter"/>
                  <a:cs typeface="Inter"/>
                  <a:sym typeface="Inter"/>
                </a:endParaRPr>
              </a:p>
              <a:p>
                <a:pPr marL="0" lvl="0" indent="0" algn="l" rtl="0">
                  <a:spcBef>
                    <a:spcPts val="1200"/>
                  </a:spcBef>
                  <a:spcAft>
                    <a:spcPts val="0"/>
                  </a:spcAft>
                  <a:buNone/>
                </a:pPr>
                <a:r>
                  <a:rPr lang="en" sz="900" b="0">
                    <a:solidFill>
                      <a:srgbClr val="B45309"/>
                    </a:solidFill>
                    <a:latin typeface="Inter SemiBold"/>
                    <a:ea typeface="Inter SemiBold"/>
                    <a:cs typeface="Inter SemiBold"/>
                    <a:sym typeface="Inter SemiBold"/>
                  </a:rPr>
                  <a:t>They are indicators of risk, not necessarily the root causes.</a:t>
                </a:r>
                <a:endParaRPr sz="900" b="0">
                  <a:solidFill>
                    <a:srgbClr val="B45309"/>
                  </a:solidFill>
                  <a:latin typeface="Inter SemiBold"/>
                  <a:ea typeface="Inter SemiBold"/>
                  <a:cs typeface="Inter SemiBold"/>
                  <a:sym typeface="Inter SemiBold"/>
                </a:endParaRPr>
              </a:p>
            </p:txBody>
          </p:sp>
        </p:grpSp>
      </p:grpSp>
      <p:grpSp>
        <p:nvGrpSpPr>
          <p:cNvPr id="445" name="Google Shape;445;p24"/>
          <p:cNvGrpSpPr/>
          <p:nvPr/>
        </p:nvGrpSpPr>
        <p:grpSpPr>
          <a:xfrm>
            <a:off x="4667250" y="1285875"/>
            <a:ext cx="4095900" cy="3429000"/>
            <a:chOff x="0" y="0"/>
            <a:chExt cx="4095900" cy="3429000"/>
          </a:xfrm>
        </p:grpSpPr>
        <p:sp>
          <p:nvSpPr>
            <p:cNvPr id="446" name="Google Shape;446;p24"/>
            <p:cNvSpPr/>
            <p:nvPr/>
          </p:nvSpPr>
          <p:spPr>
            <a:xfrm>
              <a:off x="0" y="0"/>
              <a:ext cx="4095900" cy="3429000"/>
            </a:xfrm>
            <a:prstGeom prst="roundRect">
              <a:avLst>
                <a:gd name="adj" fmla="val 111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7" name="Google Shape;447;p24"/>
            <p:cNvSpPr txBox="1"/>
            <p:nvPr/>
          </p:nvSpPr>
          <p:spPr>
            <a:xfrm>
              <a:off x="190500" y="190500"/>
              <a:ext cx="37149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Predictive Feature Importance Weights</a:t>
              </a:r>
              <a:endParaRPr sz="750" b="0">
                <a:solidFill>
                  <a:srgbClr val="2563EB"/>
                </a:solidFill>
                <a:latin typeface="Roboto Mono SemiBold"/>
                <a:ea typeface="Roboto Mono SemiBold"/>
                <a:cs typeface="Roboto Mono SemiBold"/>
                <a:sym typeface="Roboto Mono SemiBold"/>
              </a:endParaRPr>
            </a:p>
          </p:txBody>
        </p:sp>
        <p:cxnSp>
          <p:nvCxnSpPr>
            <p:cNvPr id="448" name="Google Shape;448;p24"/>
            <p:cNvCxnSpPr/>
            <p:nvPr/>
          </p:nvCxnSpPr>
          <p:spPr>
            <a:xfrm>
              <a:off x="1571625" y="523875"/>
              <a:ext cx="0" cy="2619300"/>
            </a:xfrm>
            <a:prstGeom prst="straightConnector1">
              <a:avLst/>
            </a:prstGeom>
            <a:solidFill>
              <a:srgbClr val="FFFFFF"/>
            </a:solidFill>
            <a:ln w="14300" cap="flat" cmpd="sng">
              <a:solidFill>
                <a:srgbClr val="E5E7EB"/>
              </a:solidFill>
              <a:prstDash val="solid"/>
              <a:round/>
              <a:headEnd type="none" w="sm" len="sm"/>
              <a:tailEnd type="none" w="sm" len="sm"/>
            </a:ln>
          </p:spPr>
        </p:cxnSp>
        <p:grpSp>
          <p:nvGrpSpPr>
            <p:cNvPr id="449" name="Google Shape;449;p24"/>
            <p:cNvGrpSpPr/>
            <p:nvPr/>
          </p:nvGrpSpPr>
          <p:grpSpPr>
            <a:xfrm>
              <a:off x="142875" y="552450"/>
              <a:ext cx="3762375" cy="190500"/>
              <a:chOff x="142875" y="0"/>
              <a:chExt cx="3762375" cy="190500"/>
            </a:xfrm>
          </p:grpSpPr>
          <p:sp>
            <p:nvSpPr>
              <p:cNvPr id="450" name="Google Shape;450;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111827"/>
                    </a:solidFill>
                    <a:latin typeface="Inter SemiBold"/>
                    <a:ea typeface="Inter SemiBold"/>
                    <a:cs typeface="Inter SemiBold"/>
                    <a:sym typeface="Inter SemiBold"/>
                  </a:rPr>
                  <a:t>Monthly Income</a:t>
                </a:r>
                <a:endParaRPr sz="825" b="0">
                  <a:solidFill>
                    <a:srgbClr val="111827"/>
                  </a:solidFill>
                  <a:latin typeface="Inter SemiBold"/>
                  <a:ea typeface="Inter SemiBold"/>
                  <a:cs typeface="Inter SemiBold"/>
                  <a:sym typeface="Inter SemiBold"/>
                </a:endParaRPr>
              </a:p>
            </p:txBody>
          </p:sp>
          <p:sp>
            <p:nvSpPr>
              <p:cNvPr id="451" name="Google Shape;451;p24"/>
              <p:cNvSpPr/>
              <p:nvPr/>
            </p:nvSpPr>
            <p:spPr>
              <a:xfrm>
                <a:off x="1638300" y="28575"/>
                <a:ext cx="1809600" cy="133500"/>
              </a:xfrm>
              <a:prstGeom prst="roundRect">
                <a:avLst>
                  <a:gd name="adj" fmla="val 14285"/>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2" name="Google Shape;452;p24"/>
              <p:cNvSpPr txBox="1"/>
              <p:nvPr/>
            </p:nvSpPr>
            <p:spPr>
              <a:xfrm>
                <a:off x="3524250"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0.24</a:t>
                </a:r>
                <a:endParaRPr sz="750" b="0">
                  <a:solidFill>
                    <a:srgbClr val="2563EB"/>
                  </a:solidFill>
                  <a:latin typeface="Roboto Mono SemiBold"/>
                  <a:ea typeface="Roboto Mono SemiBold"/>
                  <a:cs typeface="Roboto Mono SemiBold"/>
                  <a:sym typeface="Roboto Mono SemiBold"/>
                </a:endParaRPr>
              </a:p>
            </p:txBody>
          </p:sp>
        </p:grpSp>
        <p:grpSp>
          <p:nvGrpSpPr>
            <p:cNvPr id="453" name="Google Shape;453;p24"/>
            <p:cNvGrpSpPr/>
            <p:nvPr/>
          </p:nvGrpSpPr>
          <p:grpSpPr>
            <a:xfrm>
              <a:off x="142875" y="876300"/>
              <a:ext cx="3305175" cy="190500"/>
              <a:chOff x="142875" y="0"/>
              <a:chExt cx="3305175" cy="190500"/>
            </a:xfrm>
          </p:grpSpPr>
          <p:sp>
            <p:nvSpPr>
              <p:cNvPr id="454" name="Google Shape;454;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111827"/>
                    </a:solidFill>
                    <a:latin typeface="Inter SemiBold"/>
                    <a:ea typeface="Inter SemiBold"/>
                    <a:cs typeface="Inter SemiBold"/>
                    <a:sym typeface="Inter SemiBold"/>
                  </a:rPr>
                  <a:t>OverTime</a:t>
                </a:r>
                <a:endParaRPr sz="825" b="0">
                  <a:solidFill>
                    <a:srgbClr val="111827"/>
                  </a:solidFill>
                  <a:latin typeface="Inter SemiBold"/>
                  <a:ea typeface="Inter SemiBold"/>
                  <a:cs typeface="Inter SemiBold"/>
                  <a:sym typeface="Inter SemiBold"/>
                </a:endParaRPr>
              </a:p>
            </p:txBody>
          </p:sp>
          <p:sp>
            <p:nvSpPr>
              <p:cNvPr id="455" name="Google Shape;455;p24"/>
              <p:cNvSpPr/>
              <p:nvPr/>
            </p:nvSpPr>
            <p:spPr>
              <a:xfrm>
                <a:off x="1638300" y="28575"/>
                <a:ext cx="1352700" cy="133500"/>
              </a:xfrm>
              <a:prstGeom prst="roundRect">
                <a:avLst>
                  <a:gd name="adj" fmla="val 14285"/>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6" name="Google Shape;456;p24"/>
              <p:cNvSpPr txBox="1"/>
              <p:nvPr/>
            </p:nvSpPr>
            <p:spPr>
              <a:xfrm>
                <a:off x="3067050"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0.18</a:t>
                </a:r>
                <a:endParaRPr sz="750" b="0">
                  <a:solidFill>
                    <a:srgbClr val="2563EB"/>
                  </a:solidFill>
                  <a:latin typeface="Roboto Mono SemiBold"/>
                  <a:ea typeface="Roboto Mono SemiBold"/>
                  <a:cs typeface="Roboto Mono SemiBold"/>
                  <a:sym typeface="Roboto Mono SemiBold"/>
                </a:endParaRPr>
              </a:p>
            </p:txBody>
          </p:sp>
        </p:grpSp>
        <p:grpSp>
          <p:nvGrpSpPr>
            <p:cNvPr id="457" name="Google Shape;457;p24"/>
            <p:cNvGrpSpPr/>
            <p:nvPr/>
          </p:nvGrpSpPr>
          <p:grpSpPr>
            <a:xfrm>
              <a:off x="142875" y="1200150"/>
              <a:ext cx="3076575" cy="190500"/>
              <a:chOff x="142875" y="0"/>
              <a:chExt cx="3076575" cy="190500"/>
            </a:xfrm>
          </p:grpSpPr>
          <p:sp>
            <p:nvSpPr>
              <p:cNvPr id="458" name="Google Shape;458;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4B5563"/>
                    </a:solidFill>
                    <a:latin typeface="Inter"/>
                    <a:ea typeface="Inter"/>
                    <a:cs typeface="Inter"/>
                    <a:sym typeface="Inter"/>
                  </a:rPr>
                  <a:t>Age</a:t>
                </a:r>
                <a:endParaRPr sz="825" b="0">
                  <a:solidFill>
                    <a:srgbClr val="4B5563"/>
                  </a:solidFill>
                  <a:latin typeface="Inter"/>
                  <a:ea typeface="Inter"/>
                  <a:cs typeface="Inter"/>
                  <a:sym typeface="Inter"/>
                </a:endParaRPr>
              </a:p>
            </p:txBody>
          </p:sp>
          <p:sp>
            <p:nvSpPr>
              <p:cNvPr id="459" name="Google Shape;459;p24"/>
              <p:cNvSpPr/>
              <p:nvPr/>
            </p:nvSpPr>
            <p:spPr>
              <a:xfrm>
                <a:off x="1638300" y="28575"/>
                <a:ext cx="1124100" cy="133500"/>
              </a:xfrm>
              <a:prstGeom prst="roundRect">
                <a:avLst>
                  <a:gd name="adj" fmla="val 14285"/>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0" name="Google Shape;460;p24"/>
              <p:cNvSpPr txBox="1"/>
              <p:nvPr/>
            </p:nvSpPr>
            <p:spPr>
              <a:xfrm>
                <a:off x="2838450"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a:solidFill>
                      <a:srgbClr val="4B5563"/>
                    </a:solidFill>
                    <a:latin typeface="Roboto Mono"/>
                    <a:ea typeface="Roboto Mono"/>
                    <a:cs typeface="Roboto Mono"/>
                    <a:sym typeface="Roboto Mono"/>
                  </a:rPr>
                  <a:t>0.15</a:t>
                </a:r>
                <a:endParaRPr sz="750">
                  <a:solidFill>
                    <a:srgbClr val="4B5563"/>
                  </a:solidFill>
                  <a:latin typeface="Roboto Mono"/>
                  <a:ea typeface="Roboto Mono"/>
                  <a:cs typeface="Roboto Mono"/>
                  <a:sym typeface="Roboto Mono"/>
                </a:endParaRPr>
              </a:p>
            </p:txBody>
          </p:sp>
        </p:grpSp>
        <p:grpSp>
          <p:nvGrpSpPr>
            <p:cNvPr id="461" name="Google Shape;461;p24"/>
            <p:cNvGrpSpPr/>
            <p:nvPr/>
          </p:nvGrpSpPr>
          <p:grpSpPr>
            <a:xfrm>
              <a:off x="142875" y="1524000"/>
              <a:ext cx="2933700" cy="190500"/>
              <a:chOff x="142875" y="0"/>
              <a:chExt cx="2933700" cy="190500"/>
            </a:xfrm>
          </p:grpSpPr>
          <p:sp>
            <p:nvSpPr>
              <p:cNvPr id="462" name="Google Shape;462;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4B5563"/>
                    </a:solidFill>
                    <a:latin typeface="Inter"/>
                    <a:ea typeface="Inter"/>
                    <a:cs typeface="Inter"/>
                    <a:sym typeface="Inter"/>
                  </a:rPr>
                  <a:t>Total Working Years</a:t>
                </a:r>
                <a:endParaRPr sz="825" b="0">
                  <a:solidFill>
                    <a:srgbClr val="4B5563"/>
                  </a:solidFill>
                  <a:latin typeface="Inter"/>
                  <a:ea typeface="Inter"/>
                  <a:cs typeface="Inter"/>
                  <a:sym typeface="Inter"/>
                </a:endParaRPr>
              </a:p>
            </p:txBody>
          </p:sp>
          <p:sp>
            <p:nvSpPr>
              <p:cNvPr id="463" name="Google Shape;463;p24"/>
              <p:cNvSpPr/>
              <p:nvPr/>
            </p:nvSpPr>
            <p:spPr>
              <a:xfrm>
                <a:off x="1638300" y="28575"/>
                <a:ext cx="981000" cy="133500"/>
              </a:xfrm>
              <a:prstGeom prst="roundRect">
                <a:avLst>
                  <a:gd name="adj" fmla="val 14285"/>
                </a:avLst>
              </a:prstGeom>
              <a:solidFill>
                <a:srgbClr val="60A5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24"/>
              <p:cNvSpPr txBox="1"/>
              <p:nvPr/>
            </p:nvSpPr>
            <p:spPr>
              <a:xfrm>
                <a:off x="2695575"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a:solidFill>
                      <a:srgbClr val="4B5563"/>
                    </a:solidFill>
                    <a:latin typeface="Roboto Mono"/>
                    <a:ea typeface="Roboto Mono"/>
                    <a:cs typeface="Roboto Mono"/>
                    <a:sym typeface="Roboto Mono"/>
                  </a:rPr>
                  <a:t>0.13</a:t>
                </a:r>
                <a:endParaRPr sz="750">
                  <a:solidFill>
                    <a:srgbClr val="4B5563"/>
                  </a:solidFill>
                  <a:latin typeface="Roboto Mono"/>
                  <a:ea typeface="Roboto Mono"/>
                  <a:cs typeface="Roboto Mono"/>
                  <a:sym typeface="Roboto Mono"/>
                </a:endParaRPr>
              </a:p>
            </p:txBody>
          </p:sp>
        </p:grpSp>
        <p:grpSp>
          <p:nvGrpSpPr>
            <p:cNvPr id="465" name="Google Shape;465;p24"/>
            <p:cNvGrpSpPr/>
            <p:nvPr/>
          </p:nvGrpSpPr>
          <p:grpSpPr>
            <a:xfrm>
              <a:off x="142875" y="1847850"/>
              <a:ext cx="2781300" cy="190500"/>
              <a:chOff x="142875" y="0"/>
              <a:chExt cx="2781300" cy="190500"/>
            </a:xfrm>
          </p:grpSpPr>
          <p:sp>
            <p:nvSpPr>
              <p:cNvPr id="466" name="Google Shape;466;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4B5563"/>
                    </a:solidFill>
                    <a:latin typeface="Inter"/>
                    <a:ea typeface="Inter"/>
                    <a:cs typeface="Inter"/>
                    <a:sym typeface="Inter"/>
                  </a:rPr>
                  <a:t>Distance From Home</a:t>
                </a:r>
                <a:endParaRPr sz="825" b="0">
                  <a:solidFill>
                    <a:srgbClr val="4B5563"/>
                  </a:solidFill>
                  <a:latin typeface="Inter"/>
                  <a:ea typeface="Inter"/>
                  <a:cs typeface="Inter"/>
                  <a:sym typeface="Inter"/>
                </a:endParaRPr>
              </a:p>
            </p:txBody>
          </p:sp>
          <p:sp>
            <p:nvSpPr>
              <p:cNvPr id="467" name="Google Shape;467;p24"/>
              <p:cNvSpPr/>
              <p:nvPr/>
            </p:nvSpPr>
            <p:spPr>
              <a:xfrm>
                <a:off x="1638300" y="28575"/>
                <a:ext cx="828600" cy="133500"/>
              </a:xfrm>
              <a:prstGeom prst="roundRect">
                <a:avLst>
                  <a:gd name="adj" fmla="val 14285"/>
                </a:avLst>
              </a:prstGeom>
              <a:solidFill>
                <a:srgbClr val="93C5F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8" name="Google Shape;468;p24"/>
              <p:cNvSpPr txBox="1"/>
              <p:nvPr/>
            </p:nvSpPr>
            <p:spPr>
              <a:xfrm>
                <a:off x="2543175"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a:solidFill>
                      <a:srgbClr val="4B5563"/>
                    </a:solidFill>
                    <a:latin typeface="Roboto Mono"/>
                    <a:ea typeface="Roboto Mono"/>
                    <a:cs typeface="Roboto Mono"/>
                    <a:sym typeface="Roboto Mono"/>
                  </a:rPr>
                  <a:t>0.11</a:t>
                </a:r>
                <a:endParaRPr sz="750">
                  <a:solidFill>
                    <a:srgbClr val="4B5563"/>
                  </a:solidFill>
                  <a:latin typeface="Roboto Mono"/>
                  <a:ea typeface="Roboto Mono"/>
                  <a:cs typeface="Roboto Mono"/>
                  <a:sym typeface="Roboto Mono"/>
                </a:endParaRPr>
              </a:p>
            </p:txBody>
          </p:sp>
        </p:grpSp>
        <p:grpSp>
          <p:nvGrpSpPr>
            <p:cNvPr id="469" name="Google Shape;469;p24"/>
            <p:cNvGrpSpPr/>
            <p:nvPr/>
          </p:nvGrpSpPr>
          <p:grpSpPr>
            <a:xfrm>
              <a:off x="142875" y="2171700"/>
              <a:ext cx="2552700" cy="190500"/>
              <a:chOff x="142875" y="0"/>
              <a:chExt cx="2552700" cy="190500"/>
            </a:xfrm>
          </p:grpSpPr>
          <p:sp>
            <p:nvSpPr>
              <p:cNvPr id="470" name="Google Shape;470;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4B5563"/>
                    </a:solidFill>
                    <a:latin typeface="Inter"/>
                    <a:ea typeface="Inter"/>
                    <a:cs typeface="Inter"/>
                    <a:sym typeface="Inter"/>
                  </a:rPr>
                  <a:t>Daily Rate</a:t>
                </a:r>
                <a:endParaRPr sz="825" b="0">
                  <a:solidFill>
                    <a:srgbClr val="4B5563"/>
                  </a:solidFill>
                  <a:latin typeface="Inter"/>
                  <a:ea typeface="Inter"/>
                  <a:cs typeface="Inter"/>
                  <a:sym typeface="Inter"/>
                </a:endParaRPr>
              </a:p>
            </p:txBody>
          </p:sp>
          <p:sp>
            <p:nvSpPr>
              <p:cNvPr id="471" name="Google Shape;471;p24"/>
              <p:cNvSpPr/>
              <p:nvPr/>
            </p:nvSpPr>
            <p:spPr>
              <a:xfrm>
                <a:off x="1638300" y="28575"/>
                <a:ext cx="600000" cy="133500"/>
              </a:xfrm>
              <a:prstGeom prst="roundRect">
                <a:avLst>
                  <a:gd name="adj" fmla="val 14285"/>
                </a:avLst>
              </a:prstGeom>
              <a:solidFill>
                <a:srgbClr val="BFDB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2" name="Google Shape;472;p24"/>
              <p:cNvSpPr txBox="1"/>
              <p:nvPr/>
            </p:nvSpPr>
            <p:spPr>
              <a:xfrm>
                <a:off x="2314575"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a:solidFill>
                      <a:srgbClr val="4B5563"/>
                    </a:solidFill>
                    <a:latin typeface="Roboto Mono"/>
                    <a:ea typeface="Roboto Mono"/>
                    <a:cs typeface="Roboto Mono"/>
                    <a:sym typeface="Roboto Mono"/>
                  </a:rPr>
                  <a:t>0.08</a:t>
                </a:r>
                <a:endParaRPr sz="750">
                  <a:solidFill>
                    <a:srgbClr val="4B5563"/>
                  </a:solidFill>
                  <a:latin typeface="Roboto Mono"/>
                  <a:ea typeface="Roboto Mono"/>
                  <a:cs typeface="Roboto Mono"/>
                  <a:sym typeface="Roboto Mono"/>
                </a:endParaRPr>
              </a:p>
            </p:txBody>
          </p:sp>
        </p:grpSp>
        <p:grpSp>
          <p:nvGrpSpPr>
            <p:cNvPr id="473" name="Google Shape;473;p24"/>
            <p:cNvGrpSpPr/>
            <p:nvPr/>
          </p:nvGrpSpPr>
          <p:grpSpPr>
            <a:xfrm>
              <a:off x="142875" y="2495550"/>
              <a:ext cx="2400300" cy="190500"/>
              <a:chOff x="142875" y="0"/>
              <a:chExt cx="2400300" cy="190500"/>
            </a:xfrm>
          </p:grpSpPr>
          <p:sp>
            <p:nvSpPr>
              <p:cNvPr id="474" name="Google Shape;474;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4B5563"/>
                    </a:solidFill>
                    <a:latin typeface="Inter"/>
                    <a:ea typeface="Inter"/>
                    <a:cs typeface="Inter"/>
                    <a:sym typeface="Inter"/>
                  </a:rPr>
                  <a:t>Monthly Rate</a:t>
                </a:r>
                <a:endParaRPr sz="825" b="0">
                  <a:solidFill>
                    <a:srgbClr val="4B5563"/>
                  </a:solidFill>
                  <a:latin typeface="Inter"/>
                  <a:ea typeface="Inter"/>
                  <a:cs typeface="Inter"/>
                  <a:sym typeface="Inter"/>
                </a:endParaRPr>
              </a:p>
            </p:txBody>
          </p:sp>
          <p:sp>
            <p:nvSpPr>
              <p:cNvPr id="475" name="Google Shape;475;p24"/>
              <p:cNvSpPr/>
              <p:nvPr/>
            </p:nvSpPr>
            <p:spPr>
              <a:xfrm>
                <a:off x="1638300" y="28575"/>
                <a:ext cx="447600" cy="133500"/>
              </a:xfrm>
              <a:prstGeom prst="roundRect">
                <a:avLst>
                  <a:gd name="adj" fmla="val 14285"/>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6" name="Google Shape;476;p24"/>
              <p:cNvSpPr txBox="1"/>
              <p:nvPr/>
            </p:nvSpPr>
            <p:spPr>
              <a:xfrm>
                <a:off x="2162175"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a:solidFill>
                      <a:srgbClr val="4B5563"/>
                    </a:solidFill>
                    <a:latin typeface="Roboto Mono"/>
                    <a:ea typeface="Roboto Mono"/>
                    <a:cs typeface="Roboto Mono"/>
                    <a:sym typeface="Roboto Mono"/>
                  </a:rPr>
                  <a:t>0.06</a:t>
                </a:r>
                <a:endParaRPr sz="750">
                  <a:solidFill>
                    <a:srgbClr val="4B5563"/>
                  </a:solidFill>
                  <a:latin typeface="Roboto Mono"/>
                  <a:ea typeface="Roboto Mono"/>
                  <a:cs typeface="Roboto Mono"/>
                  <a:sym typeface="Roboto Mono"/>
                </a:endParaRPr>
              </a:p>
            </p:txBody>
          </p:sp>
        </p:grpSp>
        <p:grpSp>
          <p:nvGrpSpPr>
            <p:cNvPr id="477" name="Google Shape;477;p24"/>
            <p:cNvGrpSpPr/>
            <p:nvPr/>
          </p:nvGrpSpPr>
          <p:grpSpPr>
            <a:xfrm>
              <a:off x="142875" y="2819400"/>
              <a:ext cx="2324100" cy="190500"/>
              <a:chOff x="142875" y="0"/>
              <a:chExt cx="2324100" cy="190500"/>
            </a:xfrm>
          </p:grpSpPr>
          <p:sp>
            <p:nvSpPr>
              <p:cNvPr id="478" name="Google Shape;478;p24"/>
              <p:cNvSpPr txBox="1"/>
              <p:nvPr/>
            </p:nvSpPr>
            <p:spPr>
              <a:xfrm>
                <a:off x="142875" y="0"/>
                <a:ext cx="1333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25" b="0">
                    <a:solidFill>
                      <a:srgbClr val="4B5563"/>
                    </a:solidFill>
                    <a:latin typeface="Inter"/>
                    <a:ea typeface="Inter"/>
                    <a:cs typeface="Inter"/>
                    <a:sym typeface="Inter"/>
                  </a:rPr>
                  <a:t>Years With Manager</a:t>
                </a:r>
                <a:endParaRPr sz="825" b="0">
                  <a:solidFill>
                    <a:srgbClr val="4B5563"/>
                  </a:solidFill>
                  <a:latin typeface="Inter"/>
                  <a:ea typeface="Inter"/>
                  <a:cs typeface="Inter"/>
                  <a:sym typeface="Inter"/>
                </a:endParaRPr>
              </a:p>
            </p:txBody>
          </p:sp>
          <p:sp>
            <p:nvSpPr>
              <p:cNvPr id="479" name="Google Shape;479;p24"/>
              <p:cNvSpPr/>
              <p:nvPr/>
            </p:nvSpPr>
            <p:spPr>
              <a:xfrm>
                <a:off x="1638300" y="28575"/>
                <a:ext cx="371400" cy="133500"/>
              </a:xfrm>
              <a:prstGeom prst="roundRect">
                <a:avLst>
                  <a:gd name="adj" fmla="val 14285"/>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0" name="Google Shape;480;p24"/>
              <p:cNvSpPr txBox="1"/>
              <p:nvPr/>
            </p:nvSpPr>
            <p:spPr>
              <a:xfrm>
                <a:off x="2085975" y="0"/>
                <a:ext cx="381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a:solidFill>
                      <a:srgbClr val="4B5563"/>
                    </a:solidFill>
                    <a:latin typeface="Roboto Mono"/>
                    <a:ea typeface="Roboto Mono"/>
                    <a:cs typeface="Roboto Mono"/>
                    <a:sym typeface="Roboto Mono"/>
                  </a:rPr>
                  <a:t>0.05</a:t>
                </a:r>
                <a:endParaRPr sz="750">
                  <a:solidFill>
                    <a:srgbClr val="4B5563"/>
                  </a:solidFill>
                  <a:latin typeface="Roboto Mono"/>
                  <a:ea typeface="Roboto Mono"/>
                  <a:cs typeface="Roboto Mono"/>
                  <a:sym typeface="Roboto Mono"/>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5"/>
          <p:cNvSpPr/>
          <p:nvPr/>
        </p:nvSpPr>
        <p:spPr>
          <a:xfrm>
            <a:off x="0" y="0"/>
            <a:ext cx="9144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486" name="Google Shape;486;p25"/>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487" name="Google Shape;487;p25"/>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488" name="Google Shape;488;p25"/>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89" name="Google Shape;489;p25"/>
          <p:cNvGrpSpPr/>
          <p:nvPr/>
        </p:nvGrpSpPr>
        <p:grpSpPr>
          <a:xfrm>
            <a:off x="523875" y="361950"/>
            <a:ext cx="8191500" cy="571500"/>
            <a:chOff x="0" y="0"/>
            <a:chExt cx="8191500" cy="571500"/>
          </a:xfrm>
        </p:grpSpPr>
        <p:sp>
          <p:nvSpPr>
            <p:cNvPr id="490" name="Google Shape;490;p25"/>
            <p:cNvSpPr txBox="1"/>
            <p:nvPr/>
          </p:nvSpPr>
          <p:spPr>
            <a:xfrm>
              <a:off x="0" y="0"/>
              <a:ext cx="81915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1">
                  <a:solidFill>
                    <a:srgbClr val="111827"/>
                  </a:solidFill>
                  <a:latin typeface="Inter"/>
                  <a:ea typeface="Inter"/>
                  <a:cs typeface="Inter"/>
                  <a:sym typeface="Inter"/>
                </a:rPr>
                <a:t>Workforce Health Score Validation</a:t>
              </a:r>
              <a:endParaRPr sz="2100" b="1">
                <a:solidFill>
                  <a:srgbClr val="111827"/>
                </a:solidFill>
                <a:latin typeface="Inter"/>
                <a:ea typeface="Inter"/>
                <a:cs typeface="Inter"/>
                <a:sym typeface="Inter"/>
              </a:endParaRPr>
            </a:p>
          </p:txBody>
        </p:sp>
        <p:sp>
          <p:nvSpPr>
            <p:cNvPr id="491" name="Google Shape;491;p25"/>
            <p:cNvSpPr txBox="1"/>
            <p:nvPr/>
          </p:nvSpPr>
          <p:spPr>
            <a:xfrm>
              <a:off x="0" y="342900"/>
              <a:ext cx="81915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0">
                  <a:solidFill>
                    <a:srgbClr val="4B5563"/>
                  </a:solidFill>
                  <a:latin typeface="Inter Medium"/>
                  <a:ea typeface="Inter Medium"/>
                  <a:cs typeface="Inter Medium"/>
                  <a:sym typeface="Inter Medium"/>
                </a:rPr>
                <a:t>Evaluating historical attrition rates against work-life satisfaction levels</a:t>
              </a:r>
              <a:endParaRPr sz="1200" b="0">
                <a:solidFill>
                  <a:srgbClr val="4B5563"/>
                </a:solidFill>
                <a:latin typeface="Inter Medium"/>
                <a:ea typeface="Inter Medium"/>
                <a:cs typeface="Inter Medium"/>
                <a:sym typeface="Inter Medium"/>
              </a:endParaRPr>
            </a:p>
          </p:txBody>
        </p:sp>
      </p:grpSp>
      <p:grpSp>
        <p:nvGrpSpPr>
          <p:cNvPr id="492" name="Google Shape;492;p25"/>
          <p:cNvGrpSpPr/>
          <p:nvPr/>
        </p:nvGrpSpPr>
        <p:grpSpPr>
          <a:xfrm>
            <a:off x="381000" y="1238250"/>
            <a:ext cx="4000500" cy="2095500"/>
            <a:chOff x="381000" y="1238250"/>
            <a:chExt cx="4000500" cy="2095500"/>
          </a:xfrm>
        </p:grpSpPr>
        <p:sp>
          <p:nvSpPr>
            <p:cNvPr id="493" name="Google Shape;493;p25"/>
            <p:cNvSpPr/>
            <p:nvPr/>
          </p:nvSpPr>
          <p:spPr>
            <a:xfrm>
              <a:off x="381000" y="1238250"/>
              <a:ext cx="4000500" cy="2095500"/>
            </a:xfrm>
            <a:prstGeom prst="roundRect">
              <a:avLst>
                <a:gd name="adj" fmla="val 1818"/>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25"/>
            <p:cNvSpPr/>
            <p:nvPr/>
          </p:nvSpPr>
          <p:spPr>
            <a:xfrm>
              <a:off x="381000" y="1238250"/>
              <a:ext cx="4000500" cy="38100"/>
            </a:xfrm>
            <a:custGeom>
              <a:avLst/>
              <a:gdLst/>
              <a:ahLst/>
              <a:cxnLst/>
              <a:rect l="l" t="t" r="r" b="b"/>
              <a:pathLst>
                <a:path w="120000" h="120000" extrusionOk="0">
                  <a:moveTo>
                    <a:pt x="0" y="120000"/>
                  </a:moveTo>
                  <a:quadBezTo>
                    <a:pt x="0" y="0"/>
                    <a:pt x="1143" y="0"/>
                  </a:quadBezTo>
                  <a:lnTo>
                    <a:pt x="118857" y="0"/>
                  </a:lnTo>
                  <a:quadBezTo>
                    <a:pt x="120000" y="0"/>
                    <a:pt x="120000" y="120000"/>
                  </a:quadBezTo>
                  <a:lnTo>
                    <a:pt x="120000" y="120000"/>
                  </a:lnTo>
                  <a:lnTo>
                    <a:pt x="0" y="120000"/>
                  </a:lnTo>
                  <a:close/>
                </a:path>
              </a:pathLst>
            </a:cu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5" name="Google Shape;495;p25"/>
            <p:cNvSpPr txBox="1"/>
            <p:nvPr/>
          </p:nvSpPr>
          <p:spPr>
            <a:xfrm>
              <a:off x="523875" y="1381125"/>
              <a:ext cx="3714900" cy="1857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EVALUATION OVERVIEW</a:t>
              </a:r>
              <a:endParaRPr sz="750" b="0">
                <a:solidFill>
                  <a:srgbClr val="2563EB"/>
                </a:solidFill>
                <a:latin typeface="Roboto Mono SemiBold"/>
                <a:ea typeface="Roboto Mono SemiBold"/>
                <a:cs typeface="Roboto Mono SemiBold"/>
                <a:sym typeface="Roboto Mono SemiBold"/>
              </a:endParaRPr>
            </a:p>
            <a:p>
              <a:pPr marL="0" lvl="0" indent="0" algn="l" rtl="0">
                <a:spcBef>
                  <a:spcPts val="450"/>
                </a:spcBef>
                <a:spcAft>
                  <a:spcPts val="0"/>
                </a:spcAft>
                <a:buNone/>
              </a:pPr>
              <a:r>
                <a:rPr lang="en" sz="825" b="0">
                  <a:solidFill>
                    <a:srgbClr val="4B5563"/>
                  </a:solidFill>
                  <a:latin typeface="Inter"/>
                  <a:ea typeface="Inter"/>
                  <a:cs typeface="Inter"/>
                  <a:sym typeface="Inter"/>
                </a:rPr>
                <a:t>This report evaluates Job, Environment, and Relationship Satisfaction, alongside Work-Life Balance, against historical attrition outcomes.</a:t>
              </a:r>
              <a:endParaRPr sz="825" b="0">
                <a:solidFill>
                  <a:srgbClr val="4B5563"/>
                </a:solidFill>
                <a:latin typeface="Inter"/>
                <a:ea typeface="Inter"/>
                <a:cs typeface="Inter"/>
                <a:sym typeface="Inter"/>
              </a:endParaRPr>
            </a:p>
            <a:p>
              <a:pPr marL="0" lvl="0" indent="0" algn="l" rtl="0">
                <a:spcBef>
                  <a:spcPts val="900"/>
                </a:spcBef>
                <a:spcAft>
                  <a:spcPts val="0"/>
                </a:spcAft>
                <a:buNone/>
              </a:pPr>
              <a:r>
                <a:rPr lang="en" sz="750" b="0">
                  <a:solidFill>
                    <a:srgbClr val="4B5563"/>
                  </a:solidFill>
                  <a:latin typeface="Roboto Mono SemiBold"/>
                  <a:ea typeface="Roboto Mono SemiBold"/>
                  <a:cs typeface="Roboto Mono SemiBold"/>
                  <a:sym typeface="Roboto Mono SemiBold"/>
                </a:rPr>
                <a:t>WORK-LIFE LIKERT METRICS</a:t>
              </a:r>
              <a:endParaRPr sz="750" b="0">
                <a:solidFill>
                  <a:srgbClr val="4B5563"/>
                </a:solidFill>
                <a:latin typeface="Roboto Mono SemiBold"/>
                <a:ea typeface="Roboto Mono SemiBold"/>
                <a:cs typeface="Roboto Mono SemiBold"/>
                <a:sym typeface="Roboto Mono SemiBold"/>
              </a:endParaRPr>
            </a:p>
            <a:p>
              <a:pPr marL="457200" lvl="0" indent="-317500" algn="l" rtl="0">
                <a:spcBef>
                  <a:spcPts val="750"/>
                </a:spcBef>
                <a:spcAft>
                  <a:spcPts val="0"/>
                </a:spcAft>
                <a:buClr>
                  <a:srgbClr val="4B5563"/>
                </a:buClr>
                <a:buSzPts val="1400"/>
                <a:buChar char="●"/>
              </a:pPr>
              <a:r>
                <a:rPr lang="en" sz="825" b="0">
                  <a:solidFill>
                    <a:srgbClr val="EF4444"/>
                  </a:solidFill>
                  <a:latin typeface="Inter SemiBold"/>
                  <a:ea typeface="Inter SemiBold"/>
                  <a:cs typeface="Inter SemiBold"/>
                  <a:sym typeface="Inter SemiBold"/>
                </a:rPr>
                <a:t>Score 1 (Bad):</a:t>
              </a:r>
              <a:r>
                <a:rPr lang="en" sz="825" b="0">
                  <a:solidFill>
                    <a:srgbClr val="4B5563"/>
                  </a:solidFill>
                  <a:latin typeface="Inter"/>
                  <a:ea typeface="Inter"/>
                  <a:cs typeface="Inter"/>
                  <a:sym typeface="Inter"/>
                </a:rPr>
                <a:t> 62.5% historical attrition rate</a:t>
              </a:r>
              <a:endParaRPr sz="825" b="0">
                <a:solidFill>
                  <a:srgbClr val="4B5563"/>
                </a:solidFill>
                <a:latin typeface="Inter"/>
                <a:ea typeface="Inter"/>
                <a:cs typeface="Inter"/>
                <a:sym typeface="Inter"/>
              </a:endParaRPr>
            </a:p>
            <a:p>
              <a:pPr marL="457200" lvl="0" indent="-317500" algn="l" rtl="0">
                <a:spcBef>
                  <a:spcPts val="450"/>
                </a:spcBef>
                <a:spcAft>
                  <a:spcPts val="0"/>
                </a:spcAft>
                <a:buClr>
                  <a:srgbClr val="4B5563"/>
                </a:buClr>
                <a:buSzPts val="1400"/>
                <a:buChar char="●"/>
              </a:pPr>
              <a:r>
                <a:rPr lang="en" sz="825" b="0">
                  <a:solidFill>
                    <a:srgbClr val="D97706"/>
                  </a:solidFill>
                  <a:latin typeface="Inter SemiBold"/>
                  <a:ea typeface="Inter SemiBold"/>
                  <a:cs typeface="Inter SemiBold"/>
                  <a:sym typeface="Inter SemiBold"/>
                </a:rPr>
                <a:t>Score 2 (Good):</a:t>
              </a:r>
              <a:r>
                <a:rPr lang="en" sz="825" b="0">
                  <a:solidFill>
                    <a:srgbClr val="4B5563"/>
                  </a:solidFill>
                  <a:latin typeface="Inter"/>
                  <a:ea typeface="Inter"/>
                  <a:cs typeface="Inter"/>
                  <a:sym typeface="Inter"/>
                </a:rPr>
                <a:t> 16.0% historical attrition rate</a:t>
              </a:r>
              <a:endParaRPr sz="825" b="0">
                <a:solidFill>
                  <a:srgbClr val="4B5563"/>
                </a:solidFill>
                <a:latin typeface="Inter"/>
                <a:ea typeface="Inter"/>
                <a:cs typeface="Inter"/>
                <a:sym typeface="Inter"/>
              </a:endParaRPr>
            </a:p>
            <a:p>
              <a:pPr marL="457200" lvl="0" indent="-317500" algn="l" rtl="0">
                <a:spcBef>
                  <a:spcPts val="450"/>
                </a:spcBef>
                <a:spcAft>
                  <a:spcPts val="0"/>
                </a:spcAft>
                <a:buClr>
                  <a:srgbClr val="4B5563"/>
                </a:buClr>
                <a:buSzPts val="1400"/>
                <a:buChar char="●"/>
              </a:pPr>
              <a:r>
                <a:rPr lang="en" sz="825" b="0">
                  <a:solidFill>
                    <a:srgbClr val="059669"/>
                  </a:solidFill>
                  <a:latin typeface="Inter SemiBold"/>
                  <a:ea typeface="Inter SemiBold"/>
                  <a:cs typeface="Inter SemiBold"/>
                  <a:sym typeface="Inter SemiBold"/>
                </a:rPr>
                <a:t>Score 3 (Better):</a:t>
              </a:r>
              <a:r>
                <a:rPr lang="en" sz="825" b="0">
                  <a:solidFill>
                    <a:srgbClr val="4B5563"/>
                  </a:solidFill>
                  <a:latin typeface="Inter"/>
                  <a:ea typeface="Inter"/>
                  <a:cs typeface="Inter"/>
                  <a:sym typeface="Inter"/>
                </a:rPr>
                <a:t> 5.7% historical attrition rate</a:t>
              </a:r>
              <a:endParaRPr sz="825" b="0">
                <a:solidFill>
                  <a:srgbClr val="4B5563"/>
                </a:solidFill>
                <a:latin typeface="Inter"/>
                <a:ea typeface="Inter"/>
                <a:cs typeface="Inter"/>
                <a:sym typeface="Inter"/>
              </a:endParaRPr>
            </a:p>
            <a:p>
              <a:pPr marL="457200" lvl="0" indent="-317500" algn="l" rtl="0">
                <a:spcBef>
                  <a:spcPts val="450"/>
                </a:spcBef>
                <a:spcAft>
                  <a:spcPts val="0"/>
                </a:spcAft>
                <a:buClr>
                  <a:srgbClr val="4B5563"/>
                </a:buClr>
                <a:buSzPts val="1400"/>
                <a:buChar char="●"/>
              </a:pPr>
              <a:r>
                <a:rPr lang="en" sz="825" b="0">
                  <a:solidFill>
                    <a:srgbClr val="2563EB"/>
                  </a:solidFill>
                  <a:latin typeface="Inter SemiBold"/>
                  <a:ea typeface="Inter SemiBold"/>
                  <a:cs typeface="Inter SemiBold"/>
                  <a:sym typeface="Inter SemiBold"/>
                </a:rPr>
                <a:t>Score 4 (Best):</a:t>
              </a:r>
              <a:r>
                <a:rPr lang="en" sz="825" b="0">
                  <a:solidFill>
                    <a:srgbClr val="4B5563"/>
                  </a:solidFill>
                  <a:latin typeface="Inter"/>
                  <a:ea typeface="Inter"/>
                  <a:cs typeface="Inter"/>
                  <a:sym typeface="Inter"/>
                </a:rPr>
                <a:t> 2.8% historical attrition rate</a:t>
              </a:r>
              <a:endParaRPr sz="825" b="0">
                <a:solidFill>
                  <a:srgbClr val="4B5563"/>
                </a:solidFill>
                <a:latin typeface="Inter"/>
                <a:ea typeface="Inter"/>
                <a:cs typeface="Inter"/>
                <a:sym typeface="Inter"/>
              </a:endParaRPr>
            </a:p>
          </p:txBody>
        </p:sp>
      </p:grpSp>
      <p:grpSp>
        <p:nvGrpSpPr>
          <p:cNvPr id="496" name="Google Shape;496;p25"/>
          <p:cNvGrpSpPr/>
          <p:nvPr/>
        </p:nvGrpSpPr>
        <p:grpSpPr>
          <a:xfrm>
            <a:off x="381000" y="3476625"/>
            <a:ext cx="4000500" cy="1285800"/>
            <a:chOff x="381000" y="3476625"/>
            <a:chExt cx="4000500" cy="1285800"/>
          </a:xfrm>
        </p:grpSpPr>
        <p:sp>
          <p:nvSpPr>
            <p:cNvPr id="497" name="Google Shape;497;p25"/>
            <p:cNvSpPr/>
            <p:nvPr/>
          </p:nvSpPr>
          <p:spPr>
            <a:xfrm>
              <a:off x="381000" y="3476625"/>
              <a:ext cx="4000500" cy="1285800"/>
            </a:xfrm>
            <a:prstGeom prst="roundRect">
              <a:avLst>
                <a:gd name="adj" fmla="val 2962"/>
              </a:avLst>
            </a:prstGeom>
            <a:solidFill>
              <a:srgbClr val="FFFBEB"/>
            </a:solidFill>
            <a:ln w="9525" cap="flat" cmpd="sng">
              <a:solidFill>
                <a:srgbClr val="FCD34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98" name="Google Shape;498;p25"/>
            <p:cNvGrpSpPr/>
            <p:nvPr/>
          </p:nvGrpSpPr>
          <p:grpSpPr>
            <a:xfrm>
              <a:off x="523875" y="3619500"/>
              <a:ext cx="1238400" cy="171600"/>
              <a:chOff x="0" y="0"/>
              <a:chExt cx="1238400" cy="171600"/>
            </a:xfrm>
          </p:grpSpPr>
          <p:sp>
            <p:nvSpPr>
              <p:cNvPr id="499" name="Google Shape;499;p25"/>
              <p:cNvSpPr/>
              <p:nvPr/>
            </p:nvSpPr>
            <p:spPr>
              <a:xfrm>
                <a:off x="0" y="0"/>
                <a:ext cx="1238400" cy="171600"/>
              </a:xfrm>
              <a:prstGeom prst="roundRect">
                <a:avLst>
                  <a:gd name="adj" fmla="val 50000"/>
                </a:avLst>
              </a:prstGeom>
              <a:solidFill>
                <a:srgbClr val="D9770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0" name="Google Shape;500;p25"/>
              <p:cNvSpPr txBox="1"/>
              <p:nvPr/>
            </p:nvSpPr>
            <p:spPr>
              <a:xfrm>
                <a:off x="0" y="0"/>
                <a:ext cx="1238400" cy="171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75" b="1">
                    <a:solidFill>
                      <a:srgbClr val="FFFFFF"/>
                    </a:solidFill>
                    <a:latin typeface="Roboto Mono"/>
                    <a:ea typeface="Roboto Mono"/>
                    <a:cs typeface="Roboto Mono"/>
                    <a:sym typeface="Roboto Mono"/>
                  </a:rPr>
                  <a:t>VALIDATION CAUTION</a:t>
                </a:r>
                <a:endParaRPr sz="675" b="1">
                  <a:solidFill>
                    <a:srgbClr val="FFFFFF"/>
                  </a:solidFill>
                  <a:latin typeface="Roboto Mono"/>
                  <a:ea typeface="Roboto Mono"/>
                  <a:cs typeface="Roboto Mono"/>
                  <a:sym typeface="Roboto Mono"/>
                </a:endParaRPr>
              </a:p>
            </p:txBody>
          </p:sp>
        </p:grpSp>
        <p:sp>
          <p:nvSpPr>
            <p:cNvPr id="501" name="Google Shape;501;p25"/>
            <p:cNvSpPr txBox="1"/>
            <p:nvPr/>
          </p:nvSpPr>
          <p:spPr>
            <a:xfrm>
              <a:off x="523875" y="3867150"/>
              <a:ext cx="37149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0">
                  <a:solidFill>
                    <a:srgbClr val="92400E"/>
                  </a:solidFill>
                  <a:latin typeface="Inter SemiBold"/>
                  <a:ea typeface="Inter SemiBold"/>
                  <a:cs typeface="Inter SemiBold"/>
                  <a:sym typeface="Inter SemiBold"/>
                </a:rPr>
                <a:t>Statistical Association Only</a:t>
              </a:r>
              <a:endParaRPr sz="825" b="0">
                <a:solidFill>
                  <a:srgbClr val="92400E"/>
                </a:solidFill>
                <a:latin typeface="Inter SemiBold"/>
                <a:ea typeface="Inter SemiBold"/>
                <a:cs typeface="Inter SemiBold"/>
                <a:sym typeface="Inter SemiBold"/>
              </a:endParaRPr>
            </a:p>
            <a:p>
              <a:pPr marL="0" lvl="0" indent="0" algn="l" rtl="0">
                <a:spcBef>
                  <a:spcPts val="300"/>
                </a:spcBef>
                <a:spcAft>
                  <a:spcPts val="0"/>
                </a:spcAft>
                <a:buNone/>
              </a:pPr>
              <a:r>
                <a:rPr lang="en" sz="825" b="0">
                  <a:solidFill>
                    <a:srgbClr val="78350F"/>
                  </a:solidFill>
                  <a:latin typeface="Inter"/>
                  <a:ea typeface="Inter"/>
                  <a:cs typeface="Inter"/>
                  <a:sym typeface="Inter"/>
                </a:rPr>
                <a:t>Results show a statistical association. They must be interpreted with caution and should not be presented as universal HR rules or as definitive proof of causation.</a:t>
              </a:r>
              <a:endParaRPr sz="825" b="0">
                <a:solidFill>
                  <a:srgbClr val="78350F"/>
                </a:solidFill>
                <a:latin typeface="Inter"/>
                <a:ea typeface="Inter"/>
                <a:cs typeface="Inter"/>
                <a:sym typeface="Inter"/>
              </a:endParaRPr>
            </a:p>
          </p:txBody>
        </p:sp>
      </p:grpSp>
      <p:grpSp>
        <p:nvGrpSpPr>
          <p:cNvPr id="502" name="Google Shape;502;p25"/>
          <p:cNvGrpSpPr/>
          <p:nvPr/>
        </p:nvGrpSpPr>
        <p:grpSpPr>
          <a:xfrm>
            <a:off x="4667250" y="1238250"/>
            <a:ext cx="4095900" cy="3524175"/>
            <a:chOff x="4667250" y="1238250"/>
            <a:chExt cx="4095900" cy="3524175"/>
          </a:xfrm>
        </p:grpSpPr>
        <p:pic>
          <p:nvPicPr>
            <p:cNvPr id="503" name="Google Shape;503;p25"/>
            <p:cNvPicPr preferRelativeResize="0"/>
            <p:nvPr/>
          </p:nvPicPr>
          <p:blipFill rotWithShape="1">
            <a:blip r:embed="rId4">
              <a:alphaModFix/>
            </a:blip>
            <a:srcRect/>
            <a:stretch/>
          </p:blipFill>
          <p:spPr>
            <a:xfrm>
              <a:off x="4667250" y="1238250"/>
              <a:ext cx="4095900" cy="3071700"/>
            </a:xfrm>
            <a:prstGeom prst="rect">
              <a:avLst/>
            </a:prstGeom>
            <a:noFill/>
            <a:ln>
              <a:noFill/>
            </a:ln>
          </p:spPr>
        </p:pic>
        <p:sp>
          <p:nvSpPr>
            <p:cNvPr id="504" name="Google Shape;504;p25"/>
            <p:cNvSpPr txBox="1"/>
            <p:nvPr/>
          </p:nvSpPr>
          <p:spPr>
            <a:xfrm>
              <a:off x="4667250" y="4429125"/>
              <a:ext cx="4095900" cy="333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825" b="0" i="1">
                  <a:solidFill>
                    <a:srgbClr val="6B7280"/>
                  </a:solidFill>
                  <a:latin typeface="Inter"/>
                  <a:ea typeface="Inter"/>
                  <a:cs typeface="Inter"/>
                  <a:sym typeface="Inter"/>
                </a:rPr>
                <a:t>Figure 1: Attrition rates decrease exponentially as Work-Life Balance scores improve from Level 1 (Lowest) to Level 4 (Highest).</a:t>
              </a:r>
              <a:endParaRPr sz="825" b="0" i="1">
                <a:solidFill>
                  <a:srgbClr val="6B7280"/>
                </a:solidFill>
                <a:latin typeface="Inter"/>
                <a:ea typeface="Inter"/>
                <a:cs typeface="Inter"/>
                <a:sym typeface="Inter"/>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508"/>
        <p:cNvGrpSpPr/>
        <p:nvPr/>
      </p:nvGrpSpPr>
      <p:grpSpPr>
        <a:xfrm>
          <a:off x="0" y="0"/>
          <a:ext cx="0" cy="0"/>
          <a:chOff x="0" y="0"/>
          <a:chExt cx="0" cy="0"/>
        </a:xfrm>
      </p:grpSpPr>
      <p:pic>
        <p:nvPicPr>
          <p:cNvPr id="509" name="Google Shape;509;p26"/>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510" name="Google Shape;510;p26"/>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511" name="Google Shape;511;p26"/>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2" name="Google Shape;512;p26"/>
          <p:cNvSpPr txBox="1"/>
          <p:nvPr/>
        </p:nvSpPr>
        <p:spPr>
          <a:xfrm>
            <a:off x="571500" y="381000"/>
            <a:ext cx="8191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1">
                <a:solidFill>
                  <a:srgbClr val="111827"/>
                </a:solidFill>
                <a:latin typeface="Inter"/>
                <a:ea typeface="Inter"/>
                <a:cs typeface="Inter"/>
                <a:sym typeface="Inter"/>
              </a:rPr>
              <a:t>Skill Gap Analysis Model Proposals &amp; Dataset Limitations</a:t>
            </a:r>
            <a:endParaRPr sz="1800" b="1">
              <a:solidFill>
                <a:srgbClr val="111827"/>
              </a:solidFill>
              <a:latin typeface="Inter"/>
              <a:ea typeface="Inter"/>
              <a:cs typeface="Inter"/>
              <a:sym typeface="Inter"/>
            </a:endParaRPr>
          </a:p>
        </p:txBody>
      </p:sp>
      <p:grpSp>
        <p:nvGrpSpPr>
          <p:cNvPr id="513" name="Google Shape;513;p26"/>
          <p:cNvGrpSpPr/>
          <p:nvPr/>
        </p:nvGrpSpPr>
        <p:grpSpPr>
          <a:xfrm>
            <a:off x="381000" y="1238250"/>
            <a:ext cx="8382150" cy="3448200"/>
            <a:chOff x="381000" y="1238250"/>
            <a:chExt cx="8382150" cy="3448200"/>
          </a:xfrm>
        </p:grpSpPr>
        <p:sp>
          <p:nvSpPr>
            <p:cNvPr id="514" name="Google Shape;514;p26"/>
            <p:cNvSpPr/>
            <p:nvPr/>
          </p:nvSpPr>
          <p:spPr>
            <a:xfrm>
              <a:off x="381000" y="1238250"/>
              <a:ext cx="4095900" cy="1047900"/>
            </a:xfrm>
            <a:prstGeom prst="roundRect">
              <a:avLst>
                <a:gd name="adj" fmla="val 5454"/>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5" name="Google Shape;515;p26"/>
            <p:cNvSpPr/>
            <p:nvPr/>
          </p:nvSpPr>
          <p:spPr>
            <a:xfrm>
              <a:off x="381000" y="1238250"/>
              <a:ext cx="4095900" cy="381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6" name="Google Shape;516;p26"/>
            <p:cNvSpPr txBox="1"/>
            <p:nvPr/>
          </p:nvSpPr>
          <p:spPr>
            <a:xfrm>
              <a:off x="523875" y="1352550"/>
              <a:ext cx="3810000" cy="857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800" b="1">
                  <a:solidFill>
                    <a:srgbClr val="2563EB"/>
                  </a:solidFill>
                  <a:latin typeface="Roboto Mono"/>
                  <a:ea typeface="Roboto Mono"/>
                  <a:cs typeface="Roboto Mono"/>
                  <a:sym typeface="Roboto Mono"/>
                </a:rPr>
                <a:t>PROPOSED MODEL DESIGN</a:t>
              </a:r>
              <a:endParaRPr sz="800" b="1">
                <a:solidFill>
                  <a:srgbClr val="2563EB"/>
                </a:solidFill>
                <a:latin typeface="Roboto Mono"/>
                <a:ea typeface="Roboto Mono"/>
                <a:cs typeface="Roboto Mono"/>
                <a:sym typeface="Roboto Mono"/>
              </a:endParaRPr>
            </a:p>
            <a:p>
              <a:pPr marL="0" lvl="0" indent="0" algn="l" rtl="0">
                <a:spcBef>
                  <a:spcPts val="300"/>
                </a:spcBef>
                <a:spcAft>
                  <a:spcPts val="0"/>
                </a:spcAft>
                <a:buNone/>
              </a:pPr>
              <a:r>
                <a:rPr lang="en" sz="1100" b="0">
                  <a:solidFill>
                    <a:srgbClr val="374151"/>
                  </a:solidFill>
                  <a:latin typeface="Inter"/>
                  <a:ea typeface="Inter"/>
                  <a:cs typeface="Inter"/>
                  <a:sym typeface="Inter"/>
                </a:rPr>
                <a:t>The proposed skill-gap analysis utilizes a </a:t>
              </a:r>
              <a:r>
                <a:rPr lang="en" sz="1100" b="0">
                  <a:solidFill>
                    <a:srgbClr val="111827"/>
                  </a:solidFill>
                  <a:latin typeface="Inter SemiBold"/>
                  <a:ea typeface="Inter SemiBold"/>
                  <a:cs typeface="Inter SemiBold"/>
                  <a:sym typeface="Inter SemiBold"/>
                </a:rPr>
                <a:t>Random Forest classification workflow</a:t>
              </a:r>
              <a:r>
                <a:rPr lang="en" sz="1100" b="0">
                  <a:solidFill>
                    <a:srgbClr val="374151"/>
                  </a:solidFill>
                  <a:latin typeface="Inter"/>
                  <a:ea typeface="Inter"/>
                  <a:cs typeface="Inter"/>
                  <a:sym typeface="Inter"/>
                </a:rPr>
                <a:t> to identify training opportunities.</a:t>
              </a:r>
              <a:endParaRPr sz="1100" b="0">
                <a:solidFill>
                  <a:srgbClr val="374151"/>
                </a:solidFill>
                <a:latin typeface="Inter"/>
                <a:ea typeface="Inter"/>
                <a:cs typeface="Inter"/>
                <a:sym typeface="Inter"/>
              </a:endParaRPr>
            </a:p>
            <a:p>
              <a:pPr marL="0" lvl="0" indent="0" algn="l" rtl="0">
                <a:spcBef>
                  <a:spcPts val="450"/>
                </a:spcBef>
                <a:spcAft>
                  <a:spcPts val="0"/>
                </a:spcAft>
                <a:buNone/>
              </a:pPr>
              <a:r>
                <a:rPr lang="en" sz="950" b="0">
                  <a:solidFill>
                    <a:srgbClr val="4B5563"/>
                  </a:solidFill>
                  <a:latin typeface="Inter"/>
                  <a:ea typeface="Inter"/>
                  <a:cs typeface="Inter"/>
                  <a:sym typeface="Inter"/>
                </a:rPr>
                <a:t>Inputs: </a:t>
              </a:r>
              <a:r>
                <a:rPr lang="en" sz="950" b="0">
                  <a:solidFill>
                    <a:srgbClr val="2563EB"/>
                  </a:solidFill>
                  <a:latin typeface="Inter SemiBold"/>
                  <a:ea typeface="Inter SemiBold"/>
                  <a:cs typeface="Inter SemiBold"/>
                  <a:sym typeface="Inter SemiBold"/>
                </a:rPr>
                <a:t>JobRole, ExistingSkills, RequiredSkills</a:t>
              </a:r>
              <a:br>
                <a:rPr lang="en" sz="950" b="0">
                  <a:solidFill>
                    <a:srgbClr val="4B5563"/>
                  </a:solidFill>
                  <a:latin typeface="Inter"/>
                  <a:ea typeface="Inter"/>
                  <a:cs typeface="Inter"/>
                  <a:sym typeface="Inter"/>
                </a:rPr>
              </a:br>
              <a:r>
                <a:rPr lang="en" sz="950" b="0">
                  <a:solidFill>
                    <a:srgbClr val="4B5563"/>
                  </a:solidFill>
                  <a:latin typeface="Inter"/>
                  <a:ea typeface="Inter"/>
                  <a:cs typeface="Inter"/>
                  <a:sym typeface="Inter"/>
                </a:rPr>
                <a:t>Target: </a:t>
              </a:r>
              <a:r>
                <a:rPr lang="en" sz="950" b="0">
                  <a:solidFill>
                    <a:srgbClr val="10B981"/>
                  </a:solidFill>
                  <a:latin typeface="Inter SemiBold"/>
                  <a:ea typeface="Inter SemiBold"/>
                  <a:cs typeface="Inter SemiBold"/>
                  <a:sym typeface="Inter SemiBold"/>
                </a:rPr>
                <a:t>GapStatus</a:t>
              </a:r>
              <a:endParaRPr sz="950" b="0">
                <a:solidFill>
                  <a:srgbClr val="4B5563"/>
                </a:solidFill>
                <a:latin typeface="Inter"/>
                <a:ea typeface="Inter"/>
                <a:cs typeface="Inter"/>
                <a:sym typeface="Inter"/>
              </a:endParaRPr>
            </a:p>
          </p:txBody>
        </p:sp>
        <p:grpSp>
          <p:nvGrpSpPr>
            <p:cNvPr id="517" name="Google Shape;517;p26"/>
            <p:cNvGrpSpPr/>
            <p:nvPr/>
          </p:nvGrpSpPr>
          <p:grpSpPr>
            <a:xfrm>
              <a:off x="381000" y="2415540"/>
              <a:ext cx="1459800" cy="2061060"/>
              <a:chOff x="0" y="-60960"/>
              <a:chExt cx="1459800" cy="2061060"/>
            </a:xfrm>
          </p:grpSpPr>
          <p:sp>
            <p:nvSpPr>
              <p:cNvPr id="518" name="Google Shape;518;p26"/>
              <p:cNvSpPr txBox="1"/>
              <p:nvPr/>
            </p:nvSpPr>
            <p:spPr>
              <a:xfrm>
                <a:off x="0" y="-60960"/>
                <a:ext cx="1459800" cy="12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1">
                    <a:solidFill>
                      <a:srgbClr val="2563EB"/>
                    </a:solidFill>
                    <a:latin typeface="Roboto Mono"/>
                    <a:ea typeface="Roboto Mono"/>
                    <a:cs typeface="Roboto Mono"/>
                    <a:sym typeface="Roboto Mono"/>
                  </a:rPr>
                  <a:t>REQUIRED SKILL-GAP PROCESS FLOW</a:t>
                </a:r>
                <a:endParaRPr sz="600" b="1">
                  <a:solidFill>
                    <a:srgbClr val="2563EB"/>
                  </a:solidFill>
                  <a:latin typeface="Roboto Mono"/>
                  <a:ea typeface="Roboto Mono"/>
                  <a:cs typeface="Roboto Mono"/>
                  <a:sym typeface="Roboto Mono"/>
                </a:endParaRPr>
              </a:p>
            </p:txBody>
          </p:sp>
          <p:cxnSp>
            <p:nvCxnSpPr>
              <p:cNvPr id="519" name="Google Shape;519;p26"/>
              <p:cNvCxnSpPr/>
              <p:nvPr/>
            </p:nvCxnSpPr>
            <p:spPr>
              <a:xfrm>
                <a:off x="114300" y="190500"/>
                <a:ext cx="0" cy="1809600"/>
              </a:xfrm>
              <a:prstGeom prst="straightConnector1">
                <a:avLst/>
              </a:prstGeom>
              <a:solidFill>
                <a:srgbClr val="FFFFFF"/>
              </a:solidFill>
              <a:ln w="19050" cap="flat" cmpd="sng">
                <a:solidFill>
                  <a:srgbClr val="E5E7EB"/>
                </a:solidFill>
                <a:prstDash val="solid"/>
                <a:round/>
                <a:headEnd type="none" w="sm" len="sm"/>
                <a:tailEnd type="none" w="sm" len="sm"/>
              </a:ln>
            </p:spPr>
          </p:cxnSp>
        </p:grpSp>
        <p:grpSp>
          <p:nvGrpSpPr>
            <p:cNvPr id="520" name="Google Shape;520;p26"/>
            <p:cNvGrpSpPr/>
            <p:nvPr/>
          </p:nvGrpSpPr>
          <p:grpSpPr>
            <a:xfrm>
              <a:off x="400050" y="2667000"/>
              <a:ext cx="4076850" cy="190500"/>
              <a:chOff x="19050" y="0"/>
              <a:chExt cx="4076850" cy="190500"/>
            </a:xfrm>
          </p:grpSpPr>
          <p:sp>
            <p:nvSpPr>
              <p:cNvPr id="521" name="Google Shape;521;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2" name="Google Shape;522;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01</a:t>
                </a:r>
                <a:endParaRPr sz="525" b="1">
                  <a:solidFill>
                    <a:srgbClr val="FFFFFF"/>
                  </a:solidFill>
                  <a:latin typeface="Roboto Mono"/>
                  <a:ea typeface="Roboto Mono"/>
                  <a:cs typeface="Roboto Mono"/>
                  <a:sym typeface="Roboto Mono"/>
                </a:endParaRPr>
              </a:p>
            </p:txBody>
          </p:sp>
          <p:sp>
            <p:nvSpPr>
              <p:cNvPr id="523" name="Google Shape;523;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Collect employee/job-role information.</a:t>
                </a:r>
                <a:endParaRPr sz="1000" b="0">
                  <a:solidFill>
                    <a:srgbClr val="111827"/>
                  </a:solidFill>
                  <a:latin typeface="Inter Medium"/>
                  <a:ea typeface="Inter Medium"/>
                  <a:cs typeface="Inter Medium"/>
                  <a:sym typeface="Inter Medium"/>
                </a:endParaRPr>
              </a:p>
            </p:txBody>
          </p:sp>
        </p:grpSp>
        <p:grpSp>
          <p:nvGrpSpPr>
            <p:cNvPr id="524" name="Google Shape;524;p26"/>
            <p:cNvGrpSpPr/>
            <p:nvPr/>
          </p:nvGrpSpPr>
          <p:grpSpPr>
            <a:xfrm>
              <a:off x="400050" y="2971800"/>
              <a:ext cx="4076850" cy="190500"/>
              <a:chOff x="19050" y="0"/>
              <a:chExt cx="4076850" cy="190500"/>
            </a:xfrm>
          </p:grpSpPr>
          <p:sp>
            <p:nvSpPr>
              <p:cNvPr id="525" name="Google Shape;525;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6" name="Google Shape;526;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02</a:t>
                </a:r>
                <a:endParaRPr sz="525" b="1">
                  <a:solidFill>
                    <a:srgbClr val="FFFFFF"/>
                  </a:solidFill>
                  <a:latin typeface="Roboto Mono"/>
                  <a:ea typeface="Roboto Mono"/>
                  <a:cs typeface="Roboto Mono"/>
                  <a:sym typeface="Roboto Mono"/>
                </a:endParaRPr>
              </a:p>
            </p:txBody>
          </p:sp>
          <p:sp>
            <p:nvSpPr>
              <p:cNvPr id="527" name="Google Shape;527;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Identify existing skills.</a:t>
                </a:r>
                <a:endParaRPr sz="1000" b="0">
                  <a:solidFill>
                    <a:srgbClr val="111827"/>
                  </a:solidFill>
                  <a:latin typeface="Inter Medium"/>
                  <a:ea typeface="Inter Medium"/>
                  <a:cs typeface="Inter Medium"/>
                  <a:sym typeface="Inter Medium"/>
                </a:endParaRPr>
              </a:p>
            </p:txBody>
          </p:sp>
        </p:grpSp>
        <p:grpSp>
          <p:nvGrpSpPr>
            <p:cNvPr id="528" name="Google Shape;528;p26"/>
            <p:cNvGrpSpPr/>
            <p:nvPr/>
          </p:nvGrpSpPr>
          <p:grpSpPr>
            <a:xfrm>
              <a:off x="400050" y="3276600"/>
              <a:ext cx="4076850" cy="190500"/>
              <a:chOff x="19050" y="0"/>
              <a:chExt cx="4076850" cy="190500"/>
            </a:xfrm>
          </p:grpSpPr>
          <p:sp>
            <p:nvSpPr>
              <p:cNvPr id="529" name="Google Shape;529;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0" name="Google Shape;530;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03</a:t>
                </a:r>
                <a:endParaRPr sz="525" b="1">
                  <a:solidFill>
                    <a:srgbClr val="FFFFFF"/>
                  </a:solidFill>
                  <a:latin typeface="Roboto Mono"/>
                  <a:ea typeface="Roboto Mono"/>
                  <a:cs typeface="Roboto Mono"/>
                  <a:sym typeface="Roboto Mono"/>
                </a:endParaRPr>
              </a:p>
            </p:txBody>
          </p:sp>
          <p:sp>
            <p:nvSpPr>
              <p:cNvPr id="531" name="Google Shape;531;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Identify required role skills.</a:t>
                </a:r>
                <a:endParaRPr sz="1000" b="0">
                  <a:solidFill>
                    <a:srgbClr val="111827"/>
                  </a:solidFill>
                  <a:latin typeface="Inter Medium"/>
                  <a:ea typeface="Inter Medium"/>
                  <a:cs typeface="Inter Medium"/>
                  <a:sym typeface="Inter Medium"/>
                </a:endParaRPr>
              </a:p>
            </p:txBody>
          </p:sp>
        </p:grpSp>
        <p:grpSp>
          <p:nvGrpSpPr>
            <p:cNvPr id="532" name="Google Shape;532;p26"/>
            <p:cNvGrpSpPr/>
            <p:nvPr/>
          </p:nvGrpSpPr>
          <p:grpSpPr>
            <a:xfrm>
              <a:off x="400050" y="3581400"/>
              <a:ext cx="4076850" cy="190500"/>
              <a:chOff x="19050" y="0"/>
              <a:chExt cx="4076850" cy="190500"/>
            </a:xfrm>
          </p:grpSpPr>
          <p:sp>
            <p:nvSpPr>
              <p:cNvPr id="533" name="Google Shape;533;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4" name="Google Shape;534;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04</a:t>
                </a:r>
                <a:endParaRPr sz="525" b="1">
                  <a:solidFill>
                    <a:srgbClr val="FFFFFF"/>
                  </a:solidFill>
                  <a:latin typeface="Roboto Mono"/>
                  <a:ea typeface="Roboto Mono"/>
                  <a:cs typeface="Roboto Mono"/>
                  <a:sym typeface="Roboto Mono"/>
                </a:endParaRPr>
              </a:p>
            </p:txBody>
          </p:sp>
          <p:sp>
            <p:nvSpPr>
              <p:cNvPr id="535" name="Google Shape;535;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Compare existing vs required skills.</a:t>
                </a:r>
                <a:endParaRPr sz="1000" b="0">
                  <a:solidFill>
                    <a:srgbClr val="111827"/>
                  </a:solidFill>
                  <a:latin typeface="Inter Medium"/>
                  <a:ea typeface="Inter Medium"/>
                  <a:cs typeface="Inter Medium"/>
                  <a:sym typeface="Inter Medium"/>
                </a:endParaRPr>
              </a:p>
            </p:txBody>
          </p:sp>
        </p:grpSp>
        <p:grpSp>
          <p:nvGrpSpPr>
            <p:cNvPr id="536" name="Google Shape;536;p26"/>
            <p:cNvGrpSpPr/>
            <p:nvPr/>
          </p:nvGrpSpPr>
          <p:grpSpPr>
            <a:xfrm>
              <a:off x="400050" y="3886200"/>
              <a:ext cx="4076850" cy="190500"/>
              <a:chOff x="19050" y="0"/>
              <a:chExt cx="4076850" cy="190500"/>
            </a:xfrm>
          </p:grpSpPr>
          <p:sp>
            <p:nvSpPr>
              <p:cNvPr id="537" name="Google Shape;537;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8" name="Google Shape;538;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05</a:t>
                </a:r>
                <a:endParaRPr sz="525" b="1">
                  <a:solidFill>
                    <a:srgbClr val="FFFFFF"/>
                  </a:solidFill>
                  <a:latin typeface="Roboto Mono"/>
                  <a:ea typeface="Roboto Mono"/>
                  <a:cs typeface="Roboto Mono"/>
                  <a:sym typeface="Roboto Mono"/>
                </a:endParaRPr>
              </a:p>
            </p:txBody>
          </p:sp>
          <p:sp>
            <p:nvSpPr>
              <p:cNvPr id="539" name="Google Shape;539;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Identify missing skills / gap status.</a:t>
                </a:r>
                <a:endParaRPr sz="1000" b="0">
                  <a:solidFill>
                    <a:srgbClr val="111827"/>
                  </a:solidFill>
                  <a:latin typeface="Inter Medium"/>
                  <a:ea typeface="Inter Medium"/>
                  <a:cs typeface="Inter Medium"/>
                  <a:sym typeface="Inter Medium"/>
                </a:endParaRPr>
              </a:p>
            </p:txBody>
          </p:sp>
        </p:grpSp>
        <p:grpSp>
          <p:nvGrpSpPr>
            <p:cNvPr id="540" name="Google Shape;540;p26"/>
            <p:cNvGrpSpPr/>
            <p:nvPr/>
          </p:nvGrpSpPr>
          <p:grpSpPr>
            <a:xfrm>
              <a:off x="400050" y="4191000"/>
              <a:ext cx="4076850" cy="190500"/>
              <a:chOff x="19050" y="0"/>
              <a:chExt cx="4076850" cy="190500"/>
            </a:xfrm>
          </p:grpSpPr>
          <p:sp>
            <p:nvSpPr>
              <p:cNvPr id="541" name="Google Shape;541;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2" name="Google Shape;542;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06</a:t>
                </a:r>
                <a:endParaRPr sz="525" b="1">
                  <a:solidFill>
                    <a:srgbClr val="FFFFFF"/>
                  </a:solidFill>
                  <a:latin typeface="Roboto Mono"/>
                  <a:ea typeface="Roboto Mono"/>
                  <a:cs typeface="Roboto Mono"/>
                  <a:sym typeface="Roboto Mono"/>
                </a:endParaRPr>
              </a:p>
            </p:txBody>
          </p:sp>
          <p:sp>
            <p:nvSpPr>
              <p:cNvPr id="543" name="Google Shape;543;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Generate training or upskilling area.</a:t>
                </a:r>
                <a:endParaRPr sz="1000" b="0">
                  <a:solidFill>
                    <a:srgbClr val="111827"/>
                  </a:solidFill>
                  <a:latin typeface="Inter Medium"/>
                  <a:ea typeface="Inter Medium"/>
                  <a:cs typeface="Inter Medium"/>
                  <a:sym typeface="Inter Medium"/>
                </a:endParaRPr>
              </a:p>
            </p:txBody>
          </p:sp>
        </p:grpSp>
        <p:grpSp>
          <p:nvGrpSpPr>
            <p:cNvPr id="544" name="Google Shape;544;p26"/>
            <p:cNvGrpSpPr/>
            <p:nvPr/>
          </p:nvGrpSpPr>
          <p:grpSpPr>
            <a:xfrm>
              <a:off x="400050" y="4495800"/>
              <a:ext cx="4076850" cy="190500"/>
              <a:chOff x="19050" y="0"/>
              <a:chExt cx="4076850" cy="190500"/>
            </a:xfrm>
          </p:grpSpPr>
          <p:sp>
            <p:nvSpPr>
              <p:cNvPr id="545" name="Google Shape;545;p26"/>
              <p:cNvSpPr/>
              <p:nvPr/>
            </p:nvSpPr>
            <p:spPr>
              <a:xfrm>
                <a:off x="19050" y="0"/>
                <a:ext cx="190500" cy="1905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6" name="Google Shape;546;p26"/>
              <p:cNvSpPr txBox="1"/>
              <p:nvPr/>
            </p:nvSpPr>
            <p:spPr>
              <a:xfrm>
                <a:off x="73095" y="70485"/>
                <a:ext cx="825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525" b="1">
                    <a:solidFill>
                      <a:srgbClr val="FFFFFF"/>
                    </a:solidFill>
                    <a:latin typeface="Roboto Mono"/>
                    <a:ea typeface="Roboto Mono"/>
                    <a:cs typeface="Roboto Mono"/>
                    <a:sym typeface="Roboto Mono"/>
                  </a:rPr>
                  <a:t>07</a:t>
                </a:r>
                <a:endParaRPr sz="525" b="1">
                  <a:solidFill>
                    <a:srgbClr val="FFFFFF"/>
                  </a:solidFill>
                  <a:latin typeface="Roboto Mono"/>
                  <a:ea typeface="Roboto Mono"/>
                  <a:cs typeface="Roboto Mono"/>
                  <a:sym typeface="Roboto Mono"/>
                </a:endParaRPr>
              </a:p>
            </p:txBody>
          </p:sp>
          <p:sp>
            <p:nvSpPr>
              <p:cNvPr id="547" name="Google Shape;547;p26"/>
              <p:cNvSpPr txBox="1"/>
              <p:nvPr/>
            </p:nvSpPr>
            <p:spPr>
              <a:xfrm>
                <a:off x="304800" y="0"/>
                <a:ext cx="37911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0">
                    <a:solidFill>
                      <a:srgbClr val="111827"/>
                    </a:solidFill>
                    <a:latin typeface="Inter Medium"/>
                    <a:ea typeface="Inter Medium"/>
                    <a:cs typeface="Inter Medium"/>
                    <a:sym typeface="Inter Medium"/>
                  </a:rPr>
                  <a:t>Validate and expose the result.</a:t>
                </a:r>
                <a:endParaRPr sz="1000" b="0">
                  <a:solidFill>
                    <a:srgbClr val="111827"/>
                  </a:solidFill>
                  <a:latin typeface="Inter Medium"/>
                  <a:ea typeface="Inter Medium"/>
                  <a:cs typeface="Inter Medium"/>
                  <a:sym typeface="Inter Medium"/>
                </a:endParaRPr>
              </a:p>
            </p:txBody>
          </p:sp>
        </p:grpSp>
        <p:sp>
          <p:nvSpPr>
            <p:cNvPr id="548" name="Google Shape;548;p26"/>
            <p:cNvSpPr/>
            <p:nvPr/>
          </p:nvSpPr>
          <p:spPr>
            <a:xfrm>
              <a:off x="4667250" y="1238250"/>
              <a:ext cx="4095900" cy="3448200"/>
            </a:xfrm>
            <a:prstGeom prst="roundRect">
              <a:avLst>
                <a:gd name="adj" fmla="val 2209"/>
              </a:avLst>
            </a:prstGeom>
            <a:solidFill>
              <a:srgbClr val="FFF5F5"/>
            </a:solidFill>
            <a:ln w="14300" cap="flat" cmpd="sng">
              <a:solidFill>
                <a:srgbClr val="FEE2E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9" name="Google Shape;549;p26"/>
            <p:cNvSpPr/>
            <p:nvPr/>
          </p:nvSpPr>
          <p:spPr>
            <a:xfrm>
              <a:off x="4667250" y="1238250"/>
              <a:ext cx="38100" cy="3448200"/>
            </a:xfrm>
            <a:prstGeom prst="roundRect">
              <a:avLst>
                <a:gd name="adj" fmla="val 50000"/>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0" name="Google Shape;550;p26"/>
            <p:cNvSpPr txBox="1"/>
            <p:nvPr/>
          </p:nvSpPr>
          <p:spPr>
            <a:xfrm>
              <a:off x="4905375" y="1428750"/>
              <a:ext cx="3619500" cy="3048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750" b="1">
                  <a:solidFill>
                    <a:srgbClr val="FFFFFF"/>
                  </a:solidFill>
                  <a:latin typeface="Roboto Mono"/>
                  <a:ea typeface="Roboto Mono"/>
                  <a:cs typeface="Roboto Mono"/>
                  <a:sym typeface="Roboto Mono"/>
                </a:rPr>
                <a:t>DATASET LIMITATION</a:t>
              </a:r>
              <a:endParaRPr sz="750" b="1">
                <a:solidFill>
                  <a:srgbClr val="FFFFFF"/>
                </a:solidFill>
                <a:latin typeface="Roboto Mono"/>
                <a:ea typeface="Roboto Mono"/>
                <a:cs typeface="Roboto Mono"/>
                <a:sym typeface="Roboto Mono"/>
              </a:endParaRPr>
            </a:p>
            <a:p>
              <a:pPr marL="0" lvl="0" indent="0" algn="l" rtl="0">
                <a:spcBef>
                  <a:spcPts val="1200"/>
                </a:spcBef>
                <a:spcAft>
                  <a:spcPts val="0"/>
                </a:spcAft>
                <a:buNone/>
              </a:pPr>
              <a:r>
                <a:rPr lang="en" sz="1300" b="1">
                  <a:solidFill>
                    <a:srgbClr val="991B1B"/>
                  </a:solidFill>
                  <a:latin typeface="Inter"/>
                  <a:ea typeface="Inter"/>
                  <a:cs typeface="Inter"/>
                  <a:sym typeface="Inter"/>
                </a:rPr>
                <a:t>IBM HR Analytics Dataset Constraint</a:t>
              </a:r>
              <a:endParaRPr sz="1300" b="1">
                <a:solidFill>
                  <a:srgbClr val="991B1B"/>
                </a:solidFill>
                <a:latin typeface="Inter"/>
                <a:ea typeface="Inter"/>
                <a:cs typeface="Inter"/>
                <a:sym typeface="Inter"/>
              </a:endParaRPr>
            </a:p>
            <a:p>
              <a:pPr marL="0" lvl="0" indent="0" algn="l" rtl="0">
                <a:spcBef>
                  <a:spcPts val="900"/>
                </a:spcBef>
                <a:spcAft>
                  <a:spcPts val="0"/>
                </a:spcAft>
                <a:buNone/>
              </a:pPr>
              <a:r>
                <a:rPr lang="en" sz="1050" b="0">
                  <a:solidFill>
                    <a:srgbClr val="7F1D1D"/>
                  </a:solidFill>
                  <a:latin typeface="Inter"/>
                  <a:ea typeface="Inter"/>
                  <a:cs typeface="Inter"/>
                  <a:sym typeface="Inter"/>
                </a:rPr>
                <a:t>The current IBM HR Analytics Employee Attrition dataset </a:t>
              </a:r>
              <a:r>
                <a:rPr lang="en" sz="1050" b="1">
                  <a:solidFill>
                    <a:srgbClr val="EF4444"/>
                  </a:solidFill>
                  <a:latin typeface="Inter"/>
                  <a:ea typeface="Inter"/>
                  <a:cs typeface="Inter"/>
                  <a:sym typeface="Inter"/>
                </a:rPr>
                <a:t>does not contain</a:t>
              </a:r>
              <a:r>
                <a:rPr lang="en" sz="1050" b="0">
                  <a:solidFill>
                    <a:srgbClr val="7F1D1D"/>
                  </a:solidFill>
                  <a:latin typeface="Inter"/>
                  <a:ea typeface="Inter"/>
                  <a:cs typeface="Inter"/>
                  <a:sym typeface="Inter"/>
                </a:rPr>
                <a:t> an employee skills inventory or a role-to-skill taxonomy.</a:t>
              </a:r>
              <a:endParaRPr sz="1050" b="0">
                <a:solidFill>
                  <a:srgbClr val="7F1D1D"/>
                </a:solidFill>
                <a:latin typeface="Inter"/>
                <a:ea typeface="Inter"/>
                <a:cs typeface="Inter"/>
                <a:sym typeface="Inter"/>
              </a:endParaRPr>
            </a:p>
            <a:p>
              <a:pPr marL="0" lvl="0" indent="0" algn="l" rtl="0">
                <a:spcBef>
                  <a:spcPts val="1050"/>
                </a:spcBef>
                <a:spcAft>
                  <a:spcPts val="0"/>
                </a:spcAft>
                <a:buNone/>
              </a:pPr>
              <a:r>
                <a:rPr lang="en" sz="1050" b="0">
                  <a:solidFill>
                    <a:srgbClr val="7F1D1D"/>
                  </a:solidFill>
                  <a:highlight>
                    <a:srgbClr val="FFE4E6"/>
                  </a:highlight>
                  <a:latin typeface="Inter"/>
                  <a:ea typeface="Inter"/>
                  <a:cs typeface="Inter"/>
                  <a:sym typeface="Inter"/>
                </a:rPr>
                <a:t>Therefore, actual employee-level skill-gap prediction </a:t>
              </a:r>
              <a:r>
                <a:rPr lang="en" sz="1050" b="1">
                  <a:solidFill>
                    <a:srgbClr val="E11D48"/>
                  </a:solidFill>
                  <a:latin typeface="Inter"/>
                  <a:ea typeface="Inter"/>
                  <a:cs typeface="Inter"/>
                  <a:sym typeface="Inter"/>
                </a:rPr>
                <a:t>cannot be executed or claimed</a:t>
              </a:r>
              <a:r>
                <a:rPr lang="en" sz="1050" b="0">
                  <a:solidFill>
                    <a:srgbClr val="7F1D1D"/>
                  </a:solidFill>
                  <a:highlight>
                    <a:srgbClr val="FFE4E6"/>
                  </a:highlight>
                  <a:latin typeface="Inter"/>
                  <a:ea typeface="Inter"/>
                  <a:cs typeface="Inter"/>
                  <a:sym typeface="Inter"/>
                </a:rPr>
                <a:t> from this dataset alone.</a:t>
              </a:r>
              <a:endParaRPr sz="1050" b="0">
                <a:solidFill>
                  <a:srgbClr val="7F1D1D"/>
                </a:solidFill>
                <a:highlight>
                  <a:srgbClr val="FFE4E6"/>
                </a:highlight>
                <a:latin typeface="Inter"/>
                <a:ea typeface="Inter"/>
                <a:cs typeface="Inter"/>
                <a:sym typeface="Inter"/>
              </a:endParaRPr>
            </a:p>
            <a:p>
              <a:pPr marL="0" lvl="0" indent="0" algn="l" rtl="0">
                <a:spcBef>
                  <a:spcPts val="1200"/>
                </a:spcBef>
                <a:spcAft>
                  <a:spcPts val="0"/>
                </a:spcAft>
                <a:buNone/>
              </a:pPr>
              <a:r>
                <a:rPr lang="en" sz="1000" b="0">
                  <a:solidFill>
                    <a:srgbClr val="4B5563"/>
                  </a:solidFill>
                  <a:latin typeface="Inter"/>
                  <a:ea typeface="Inter"/>
                  <a:cs typeface="Inter"/>
                  <a:sym typeface="Inter"/>
                </a:rPr>
                <a:t>The module </a:t>
              </a:r>
              <a:r>
                <a:rPr lang="en" sz="1000" b="0">
                  <a:solidFill>
                    <a:srgbClr val="111827"/>
                  </a:solidFill>
                  <a:latin typeface="Inter SemiBold"/>
                  <a:ea typeface="Inter SemiBold"/>
                  <a:cs typeface="Inter SemiBold"/>
                  <a:sym typeface="Inter SemiBold"/>
                </a:rPr>
                <a:t>requires a separate skills dataset</a:t>
              </a:r>
              <a:r>
                <a:rPr lang="en" sz="1000" b="0">
                  <a:solidFill>
                    <a:srgbClr val="4B5563"/>
                  </a:solidFill>
                  <a:latin typeface="Inter"/>
                  <a:ea typeface="Inter"/>
                  <a:cs typeface="Inter"/>
                  <a:sym typeface="Inter"/>
                </a:rPr>
                <a:t> or a defined role-to-skill mapping to function.</a:t>
              </a:r>
              <a:endParaRPr sz="1000" b="0">
                <a:solidFill>
                  <a:srgbClr val="4B5563"/>
                </a:solidFill>
                <a:latin typeface="Inter"/>
                <a:ea typeface="Inter"/>
                <a:cs typeface="Inter"/>
                <a:sym typeface="Inter"/>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554"/>
        <p:cNvGrpSpPr/>
        <p:nvPr/>
      </p:nvGrpSpPr>
      <p:grpSpPr>
        <a:xfrm>
          <a:off x="0" y="0"/>
          <a:ext cx="0" cy="0"/>
          <a:chOff x="0" y="0"/>
          <a:chExt cx="0" cy="0"/>
        </a:xfrm>
      </p:grpSpPr>
      <p:pic>
        <p:nvPicPr>
          <p:cNvPr id="555" name="Google Shape;555;p27"/>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556" name="Google Shape;556;p27"/>
          <p:cNvCxnSpPr/>
          <p:nvPr/>
        </p:nvCxnSpPr>
        <p:spPr>
          <a:xfrm>
            <a:off x="381000" y="1047750"/>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557" name="Google Shape;557;p27"/>
          <p:cNvSpPr/>
          <p:nvPr/>
        </p:nvSpPr>
        <p:spPr>
          <a:xfrm>
            <a:off x="381000" y="381000"/>
            <a:ext cx="38100" cy="2667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8" name="Google Shape;558;p27"/>
          <p:cNvSpPr txBox="1"/>
          <p:nvPr/>
        </p:nvSpPr>
        <p:spPr>
          <a:xfrm>
            <a:off x="523875" y="342900"/>
            <a:ext cx="82392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100" b="1">
                <a:solidFill>
                  <a:srgbClr val="111827"/>
                </a:solidFill>
                <a:latin typeface="Inter"/>
                <a:ea typeface="Inter"/>
                <a:cs typeface="Inter"/>
                <a:sym typeface="Inter"/>
              </a:rPr>
              <a:t>System Automation, Exception Controls &amp; Integration Gates</a:t>
            </a:r>
            <a:endParaRPr sz="2100" b="1">
              <a:solidFill>
                <a:srgbClr val="111827"/>
              </a:solidFill>
              <a:latin typeface="Inter"/>
              <a:ea typeface="Inter"/>
              <a:cs typeface="Inter"/>
              <a:sym typeface="Inter"/>
            </a:endParaRPr>
          </a:p>
        </p:txBody>
      </p:sp>
      <p:sp>
        <p:nvSpPr>
          <p:cNvPr id="559" name="Google Shape;559;p27"/>
          <p:cNvSpPr txBox="1"/>
          <p:nvPr/>
        </p:nvSpPr>
        <p:spPr>
          <a:xfrm>
            <a:off x="523875" y="695325"/>
            <a:ext cx="8239200" cy="30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1" b="0">
                <a:solidFill>
                  <a:srgbClr val="4B5563"/>
                </a:solidFill>
                <a:latin typeface="Inter Medium"/>
                <a:ea typeface="Inter Medium"/>
                <a:cs typeface="Inter Medium"/>
                <a:sym typeface="Inter Medium"/>
              </a:rPr>
              <a:t>The workflow architecture defines strict triggers and exception-handling matrices to ensure that unreliable analytical outputs are never silently published to the business dashboard.</a:t>
            </a:r>
            <a:endParaRPr sz="971" b="0">
              <a:solidFill>
                <a:srgbClr val="4B5563"/>
              </a:solidFill>
              <a:latin typeface="Inter Medium"/>
              <a:ea typeface="Inter Medium"/>
              <a:cs typeface="Inter Medium"/>
              <a:sym typeface="Inter Medium"/>
            </a:endParaRPr>
          </a:p>
        </p:txBody>
      </p:sp>
      <p:grpSp>
        <p:nvGrpSpPr>
          <p:cNvPr id="560" name="Google Shape;560;p27"/>
          <p:cNvGrpSpPr/>
          <p:nvPr/>
        </p:nvGrpSpPr>
        <p:grpSpPr>
          <a:xfrm>
            <a:off x="381000" y="1333500"/>
            <a:ext cx="3048000" cy="2981475"/>
            <a:chOff x="381000" y="1333500"/>
            <a:chExt cx="3048000" cy="2981475"/>
          </a:xfrm>
        </p:grpSpPr>
        <p:sp>
          <p:nvSpPr>
            <p:cNvPr id="561" name="Google Shape;561;p27"/>
            <p:cNvSpPr txBox="1"/>
            <p:nvPr/>
          </p:nvSpPr>
          <p:spPr>
            <a:xfrm>
              <a:off x="381000" y="1333500"/>
              <a:ext cx="3048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SYSTEM TRIGGERS</a:t>
              </a:r>
              <a:endParaRPr sz="750" b="0">
                <a:solidFill>
                  <a:srgbClr val="2563EB"/>
                </a:solidFill>
                <a:latin typeface="Roboto Mono SemiBold"/>
                <a:ea typeface="Roboto Mono SemiBold"/>
                <a:cs typeface="Roboto Mono SemiBold"/>
                <a:sym typeface="Roboto Mono SemiBold"/>
              </a:endParaRPr>
            </a:p>
          </p:txBody>
        </p:sp>
        <p:grpSp>
          <p:nvGrpSpPr>
            <p:cNvPr id="562" name="Google Shape;562;p27"/>
            <p:cNvGrpSpPr/>
            <p:nvPr/>
          </p:nvGrpSpPr>
          <p:grpSpPr>
            <a:xfrm>
              <a:off x="381000" y="1666875"/>
              <a:ext cx="3048000" cy="590700"/>
              <a:chOff x="381000" y="1666875"/>
              <a:chExt cx="3048000" cy="590700"/>
            </a:xfrm>
          </p:grpSpPr>
          <p:sp>
            <p:nvSpPr>
              <p:cNvPr id="563" name="Google Shape;563;p27"/>
              <p:cNvSpPr/>
              <p:nvPr/>
            </p:nvSpPr>
            <p:spPr>
              <a:xfrm>
                <a:off x="381000" y="1666875"/>
                <a:ext cx="3048000" cy="590700"/>
              </a:xfrm>
              <a:prstGeom prst="roundRect">
                <a:avLst>
                  <a:gd name="adj" fmla="val 645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4" name="Google Shape;564;p27"/>
              <p:cNvSpPr/>
              <p:nvPr/>
            </p:nvSpPr>
            <p:spPr>
              <a:xfrm>
                <a:off x="381000" y="1666875"/>
                <a:ext cx="38100" cy="5907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5" name="Google Shape;565;p27"/>
              <p:cNvSpPr txBox="1"/>
              <p:nvPr/>
            </p:nvSpPr>
            <p:spPr>
              <a:xfrm>
                <a:off x="523875" y="171450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TRIG_01 // INGESTION</a:t>
                </a:r>
                <a:endParaRPr sz="600" b="0">
                  <a:solidFill>
                    <a:srgbClr val="4B5563"/>
                  </a:solidFill>
                  <a:latin typeface="Roboto Mono SemiBold"/>
                  <a:ea typeface="Roboto Mono SemiBold"/>
                  <a:cs typeface="Roboto Mono SemiBold"/>
                  <a:sym typeface="Roboto Mono SemiBold"/>
                </a:endParaRPr>
              </a:p>
              <a:p>
                <a:pPr marL="0" lvl="0" indent="0" algn="l" rtl="0">
                  <a:spcBef>
                    <a:spcPts val="150"/>
                  </a:spcBef>
                  <a:spcAft>
                    <a:spcPts val="0"/>
                  </a:spcAft>
                  <a:buNone/>
                </a:pPr>
                <a:r>
                  <a:rPr lang="en" sz="900" b="0">
                    <a:solidFill>
                      <a:srgbClr val="111827"/>
                    </a:solidFill>
                    <a:latin typeface="Inter SemiBold"/>
                    <a:ea typeface="Inter SemiBold"/>
                    <a:cs typeface="Inter SemiBold"/>
                    <a:sym typeface="Inter SemiBold"/>
                  </a:rPr>
                  <a:t>New or updated datasets</a:t>
                </a:r>
                <a:endParaRPr sz="900" b="0">
                  <a:solidFill>
                    <a:srgbClr val="111827"/>
                  </a:solidFill>
                  <a:latin typeface="Inter SemiBold"/>
                  <a:ea typeface="Inter SemiBold"/>
                  <a:cs typeface="Inter SemiBold"/>
                  <a:sym typeface="Inter SemiBold"/>
                </a:endParaRPr>
              </a:p>
            </p:txBody>
          </p:sp>
        </p:grpSp>
        <p:grpSp>
          <p:nvGrpSpPr>
            <p:cNvPr id="566" name="Google Shape;566;p27"/>
            <p:cNvGrpSpPr/>
            <p:nvPr/>
          </p:nvGrpSpPr>
          <p:grpSpPr>
            <a:xfrm>
              <a:off x="381000" y="2352675"/>
              <a:ext cx="3048000" cy="590700"/>
              <a:chOff x="381000" y="2352675"/>
              <a:chExt cx="3048000" cy="590700"/>
            </a:xfrm>
          </p:grpSpPr>
          <p:sp>
            <p:nvSpPr>
              <p:cNvPr id="567" name="Google Shape;567;p27"/>
              <p:cNvSpPr/>
              <p:nvPr/>
            </p:nvSpPr>
            <p:spPr>
              <a:xfrm>
                <a:off x="381000" y="2352675"/>
                <a:ext cx="3048000" cy="590700"/>
              </a:xfrm>
              <a:prstGeom prst="roundRect">
                <a:avLst>
                  <a:gd name="adj" fmla="val 645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8" name="Google Shape;568;p27"/>
              <p:cNvSpPr/>
              <p:nvPr/>
            </p:nvSpPr>
            <p:spPr>
              <a:xfrm>
                <a:off x="381000" y="2352675"/>
                <a:ext cx="38100" cy="5907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9" name="Google Shape;569;p27"/>
              <p:cNvSpPr txBox="1"/>
              <p:nvPr/>
            </p:nvSpPr>
            <p:spPr>
              <a:xfrm>
                <a:off x="523875" y="240030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TRIG_02 // TEMPORAL</a:t>
                </a:r>
                <a:endParaRPr sz="600" b="0">
                  <a:solidFill>
                    <a:srgbClr val="4B5563"/>
                  </a:solidFill>
                  <a:latin typeface="Roboto Mono SemiBold"/>
                  <a:ea typeface="Roboto Mono SemiBold"/>
                  <a:cs typeface="Roboto Mono SemiBold"/>
                  <a:sym typeface="Roboto Mono SemiBold"/>
                </a:endParaRPr>
              </a:p>
              <a:p>
                <a:pPr marL="0" lvl="0" indent="0" algn="l" rtl="0">
                  <a:spcBef>
                    <a:spcPts val="150"/>
                  </a:spcBef>
                  <a:spcAft>
                    <a:spcPts val="0"/>
                  </a:spcAft>
                  <a:buNone/>
                </a:pPr>
                <a:r>
                  <a:rPr lang="en" sz="900" b="0">
                    <a:solidFill>
                      <a:srgbClr val="111827"/>
                    </a:solidFill>
                    <a:latin typeface="Inter SemiBold"/>
                    <a:ea typeface="Inter SemiBold"/>
                    <a:cs typeface="Inter SemiBold"/>
                    <a:sym typeface="Inter SemiBold"/>
                  </a:rPr>
                  <a:t>Scheduled data refreshes</a:t>
                </a:r>
                <a:endParaRPr sz="900" b="0">
                  <a:solidFill>
                    <a:srgbClr val="111827"/>
                  </a:solidFill>
                  <a:latin typeface="Inter SemiBold"/>
                  <a:ea typeface="Inter SemiBold"/>
                  <a:cs typeface="Inter SemiBold"/>
                  <a:sym typeface="Inter SemiBold"/>
                </a:endParaRPr>
              </a:p>
            </p:txBody>
          </p:sp>
        </p:grpSp>
        <p:grpSp>
          <p:nvGrpSpPr>
            <p:cNvPr id="570" name="Google Shape;570;p27"/>
            <p:cNvGrpSpPr/>
            <p:nvPr/>
          </p:nvGrpSpPr>
          <p:grpSpPr>
            <a:xfrm>
              <a:off x="381000" y="3038475"/>
              <a:ext cx="3048000" cy="590700"/>
              <a:chOff x="381000" y="3038475"/>
              <a:chExt cx="3048000" cy="590700"/>
            </a:xfrm>
          </p:grpSpPr>
          <p:sp>
            <p:nvSpPr>
              <p:cNvPr id="571" name="Google Shape;571;p27"/>
              <p:cNvSpPr/>
              <p:nvPr/>
            </p:nvSpPr>
            <p:spPr>
              <a:xfrm>
                <a:off x="381000" y="3038475"/>
                <a:ext cx="3048000" cy="590700"/>
              </a:xfrm>
              <a:prstGeom prst="roundRect">
                <a:avLst>
                  <a:gd name="adj" fmla="val 645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2" name="Google Shape;572;p27"/>
              <p:cNvSpPr/>
              <p:nvPr/>
            </p:nvSpPr>
            <p:spPr>
              <a:xfrm>
                <a:off x="381000" y="3038475"/>
                <a:ext cx="38100" cy="5907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3" name="Google Shape;573;p27"/>
              <p:cNvSpPr txBox="1"/>
              <p:nvPr/>
            </p:nvSpPr>
            <p:spPr>
              <a:xfrm>
                <a:off x="523875" y="308610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F59E0B"/>
                    </a:solidFill>
                    <a:latin typeface="Roboto Mono SemiBold"/>
                    <a:ea typeface="Roboto Mono SemiBold"/>
                    <a:cs typeface="Roboto Mono SemiBold"/>
                    <a:sym typeface="Roboto Mono SemiBold"/>
                  </a:rPr>
                  <a:t>TRIG_03 // ANOMALY</a:t>
                </a:r>
                <a:endParaRPr sz="600" b="0">
                  <a:solidFill>
                    <a:srgbClr val="F59E0B"/>
                  </a:solidFill>
                  <a:latin typeface="Roboto Mono SemiBold"/>
                  <a:ea typeface="Roboto Mono SemiBold"/>
                  <a:cs typeface="Roboto Mono SemiBold"/>
                  <a:sym typeface="Roboto Mono SemiBold"/>
                </a:endParaRPr>
              </a:p>
              <a:p>
                <a:pPr marL="0" lvl="0" indent="0" algn="l" rtl="0">
                  <a:spcBef>
                    <a:spcPts val="150"/>
                  </a:spcBef>
                  <a:spcAft>
                    <a:spcPts val="0"/>
                  </a:spcAft>
                  <a:buNone/>
                </a:pPr>
                <a:r>
                  <a:rPr lang="en" sz="900" b="0">
                    <a:solidFill>
                      <a:srgbClr val="111827"/>
                    </a:solidFill>
                    <a:latin typeface="Inter SemiBold"/>
                    <a:ea typeface="Inter SemiBold"/>
                    <a:cs typeface="Inter SemiBold"/>
                    <a:sym typeface="Inter SemiBold"/>
                  </a:rPr>
                  <a:t>Risk threshold breaches</a:t>
                </a:r>
                <a:endParaRPr sz="900" b="0">
                  <a:solidFill>
                    <a:srgbClr val="111827"/>
                  </a:solidFill>
                  <a:latin typeface="Inter SemiBold"/>
                  <a:ea typeface="Inter SemiBold"/>
                  <a:cs typeface="Inter SemiBold"/>
                  <a:sym typeface="Inter SemiBold"/>
                </a:endParaRPr>
              </a:p>
            </p:txBody>
          </p:sp>
        </p:grpSp>
        <p:grpSp>
          <p:nvGrpSpPr>
            <p:cNvPr id="574" name="Google Shape;574;p27"/>
            <p:cNvGrpSpPr/>
            <p:nvPr/>
          </p:nvGrpSpPr>
          <p:grpSpPr>
            <a:xfrm>
              <a:off x="381000" y="3724275"/>
              <a:ext cx="3048000" cy="590700"/>
              <a:chOff x="381000" y="3724275"/>
              <a:chExt cx="3048000" cy="590700"/>
            </a:xfrm>
          </p:grpSpPr>
          <p:sp>
            <p:nvSpPr>
              <p:cNvPr id="575" name="Google Shape;575;p27"/>
              <p:cNvSpPr/>
              <p:nvPr/>
            </p:nvSpPr>
            <p:spPr>
              <a:xfrm>
                <a:off x="381000" y="3724275"/>
                <a:ext cx="3048000" cy="590700"/>
              </a:xfrm>
              <a:prstGeom prst="roundRect">
                <a:avLst>
                  <a:gd name="adj" fmla="val 645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6" name="Google Shape;576;p27"/>
              <p:cNvSpPr/>
              <p:nvPr/>
            </p:nvSpPr>
            <p:spPr>
              <a:xfrm>
                <a:off x="381000" y="3724275"/>
                <a:ext cx="38100" cy="5907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7" name="Google Shape;577;p27"/>
              <p:cNvSpPr txBox="1"/>
              <p:nvPr/>
            </p:nvSpPr>
            <p:spPr>
              <a:xfrm>
                <a:off x="523875" y="377190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b="0">
                    <a:solidFill>
                      <a:srgbClr val="4B5563"/>
                    </a:solidFill>
                    <a:latin typeface="Roboto Mono SemiBold"/>
                    <a:ea typeface="Roboto Mono SemiBold"/>
                    <a:cs typeface="Roboto Mono SemiBold"/>
                    <a:sym typeface="Roboto Mono SemiBold"/>
                  </a:rPr>
                  <a:t>TRIG_04 // LIFECYCLE</a:t>
                </a:r>
                <a:endParaRPr sz="600" b="0">
                  <a:solidFill>
                    <a:srgbClr val="4B5563"/>
                  </a:solidFill>
                  <a:latin typeface="Roboto Mono SemiBold"/>
                  <a:ea typeface="Roboto Mono SemiBold"/>
                  <a:cs typeface="Roboto Mono SemiBold"/>
                  <a:sym typeface="Roboto Mono SemiBold"/>
                </a:endParaRPr>
              </a:p>
              <a:p>
                <a:pPr marL="0" lvl="0" indent="0" algn="l" rtl="0">
                  <a:spcBef>
                    <a:spcPts val="150"/>
                  </a:spcBef>
                  <a:spcAft>
                    <a:spcPts val="0"/>
                  </a:spcAft>
                  <a:buNone/>
                </a:pPr>
                <a:r>
                  <a:rPr lang="en" sz="900" b="0">
                    <a:solidFill>
                      <a:srgbClr val="111827"/>
                    </a:solidFill>
                    <a:latin typeface="Inter SemiBold"/>
                    <a:ea typeface="Inter SemiBold"/>
                    <a:cs typeface="Inter SemiBold"/>
                    <a:sym typeface="Inter SemiBold"/>
                  </a:rPr>
                  <a:t>Model retraining events</a:t>
                </a:r>
                <a:endParaRPr sz="900" b="0">
                  <a:solidFill>
                    <a:srgbClr val="111827"/>
                  </a:solidFill>
                  <a:latin typeface="Inter SemiBold"/>
                  <a:ea typeface="Inter SemiBold"/>
                  <a:cs typeface="Inter SemiBold"/>
                  <a:sym typeface="Inter SemiBold"/>
                </a:endParaRPr>
              </a:p>
            </p:txBody>
          </p:sp>
        </p:grpSp>
      </p:grpSp>
      <p:grpSp>
        <p:nvGrpSpPr>
          <p:cNvPr id="578" name="Google Shape;578;p27"/>
          <p:cNvGrpSpPr/>
          <p:nvPr/>
        </p:nvGrpSpPr>
        <p:grpSpPr>
          <a:xfrm>
            <a:off x="3810000" y="1333500"/>
            <a:ext cx="4953000" cy="2981475"/>
            <a:chOff x="3810000" y="1333500"/>
            <a:chExt cx="4953000" cy="2981475"/>
          </a:xfrm>
        </p:grpSpPr>
        <p:sp>
          <p:nvSpPr>
            <p:cNvPr id="579" name="Google Shape;579;p27"/>
            <p:cNvSpPr txBox="1"/>
            <p:nvPr/>
          </p:nvSpPr>
          <p:spPr>
            <a:xfrm>
              <a:off x="3810000" y="1333500"/>
              <a:ext cx="4953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EXCEPTION-HANDLING MATRIX</a:t>
              </a:r>
              <a:endParaRPr sz="750" b="0">
                <a:solidFill>
                  <a:srgbClr val="2563EB"/>
                </a:solidFill>
                <a:latin typeface="Roboto Mono SemiBold"/>
                <a:ea typeface="Roboto Mono SemiBold"/>
                <a:cs typeface="Roboto Mono SemiBold"/>
                <a:sym typeface="Roboto Mono SemiBold"/>
              </a:endParaRPr>
            </a:p>
          </p:txBody>
        </p:sp>
        <p:sp>
          <p:nvSpPr>
            <p:cNvPr id="580" name="Google Shape;580;p27"/>
            <p:cNvSpPr/>
            <p:nvPr/>
          </p:nvSpPr>
          <p:spPr>
            <a:xfrm>
              <a:off x="3810000" y="1666875"/>
              <a:ext cx="4953000" cy="2648100"/>
            </a:xfrm>
            <a:prstGeom prst="roundRect">
              <a:avLst>
                <a:gd name="adj" fmla="val 1438"/>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1" name="Google Shape;581;p27"/>
            <p:cNvSpPr/>
            <p:nvPr/>
          </p:nvSpPr>
          <p:spPr>
            <a:xfrm>
              <a:off x="3810000" y="1666875"/>
              <a:ext cx="4953000" cy="285900"/>
            </a:xfrm>
            <a:custGeom>
              <a:avLst/>
              <a:gdLst/>
              <a:ahLst/>
              <a:cxnLst/>
              <a:rect l="l" t="t" r="r" b="b"/>
              <a:pathLst>
                <a:path w="120000" h="120000" extrusionOk="0">
                  <a:moveTo>
                    <a:pt x="0" y="16000"/>
                  </a:moveTo>
                  <a:quadBezTo>
                    <a:pt x="0" y="0"/>
                    <a:pt x="923" y="0"/>
                  </a:quadBezTo>
                  <a:lnTo>
                    <a:pt x="119077" y="0"/>
                  </a:lnTo>
                  <a:quadBezTo>
                    <a:pt x="120000" y="0"/>
                    <a:pt x="120000" y="16000"/>
                  </a:quadBezTo>
                  <a:lnTo>
                    <a:pt x="120000" y="120000"/>
                  </a:lnTo>
                  <a:lnTo>
                    <a:pt x="0" y="120000"/>
                  </a:lnTo>
                  <a:close/>
                </a:path>
              </a:pathLst>
            </a:cu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2" name="Google Shape;582;p27"/>
            <p:cNvSpPr txBox="1"/>
            <p:nvPr/>
          </p:nvSpPr>
          <p:spPr>
            <a:xfrm>
              <a:off x="3952875" y="1714500"/>
              <a:ext cx="16668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75" b="0">
                  <a:solidFill>
                    <a:srgbClr val="4B5563"/>
                  </a:solidFill>
                  <a:latin typeface="Roboto Mono SemiBold"/>
                  <a:ea typeface="Roboto Mono SemiBold"/>
                  <a:cs typeface="Roboto Mono SemiBold"/>
                  <a:sym typeface="Roboto Mono SemiBold"/>
                </a:rPr>
                <a:t>PIPELINE CONDITION</a:t>
              </a:r>
              <a:endParaRPr sz="675" b="0">
                <a:solidFill>
                  <a:srgbClr val="4B5563"/>
                </a:solidFill>
                <a:latin typeface="Roboto Mono SemiBold"/>
                <a:ea typeface="Roboto Mono SemiBold"/>
                <a:cs typeface="Roboto Mono SemiBold"/>
                <a:sym typeface="Roboto Mono SemiBold"/>
              </a:endParaRPr>
            </a:p>
          </p:txBody>
        </p:sp>
        <p:sp>
          <p:nvSpPr>
            <p:cNvPr id="583" name="Google Shape;583;p27"/>
            <p:cNvSpPr txBox="1"/>
            <p:nvPr/>
          </p:nvSpPr>
          <p:spPr>
            <a:xfrm>
              <a:off x="5857875" y="1714500"/>
              <a:ext cx="27624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75" b="0">
                  <a:solidFill>
                    <a:srgbClr val="4B5563"/>
                  </a:solidFill>
                  <a:latin typeface="Roboto Mono SemiBold"/>
                  <a:ea typeface="Roboto Mono SemiBold"/>
                  <a:cs typeface="Roboto Mono SemiBold"/>
                  <a:sym typeface="Roboto Mono SemiBold"/>
                </a:rPr>
                <a:t>SYSTEM RECOVERY ACTION</a:t>
              </a:r>
              <a:endParaRPr sz="675" b="0">
                <a:solidFill>
                  <a:srgbClr val="4B5563"/>
                </a:solidFill>
                <a:latin typeface="Roboto Mono SemiBold"/>
                <a:ea typeface="Roboto Mono SemiBold"/>
                <a:cs typeface="Roboto Mono SemiBold"/>
                <a:sym typeface="Roboto Mono SemiBold"/>
              </a:endParaRPr>
            </a:p>
          </p:txBody>
        </p:sp>
        <p:cxnSp>
          <p:nvCxnSpPr>
            <p:cNvPr id="584" name="Google Shape;584;p27"/>
            <p:cNvCxnSpPr/>
            <p:nvPr/>
          </p:nvCxnSpPr>
          <p:spPr>
            <a:xfrm>
              <a:off x="5715000" y="1666875"/>
              <a:ext cx="0" cy="2648100"/>
            </a:xfrm>
            <a:prstGeom prst="straightConnector1">
              <a:avLst/>
            </a:prstGeom>
            <a:solidFill>
              <a:srgbClr val="FFFFFF"/>
            </a:solidFill>
            <a:ln w="9525" cap="flat" cmpd="sng">
              <a:solidFill>
                <a:srgbClr val="E5E7EB"/>
              </a:solidFill>
              <a:prstDash val="solid"/>
              <a:round/>
              <a:headEnd type="none" w="sm" len="sm"/>
              <a:tailEnd type="none" w="sm" len="sm"/>
            </a:ln>
          </p:spPr>
        </p:cxnSp>
        <p:cxnSp>
          <p:nvCxnSpPr>
            <p:cNvPr id="585" name="Google Shape;585;p27"/>
            <p:cNvCxnSpPr/>
            <p:nvPr/>
          </p:nvCxnSpPr>
          <p:spPr>
            <a:xfrm>
              <a:off x="3810000" y="2543175"/>
              <a:ext cx="4953000" cy="0"/>
            </a:xfrm>
            <a:prstGeom prst="straightConnector1">
              <a:avLst/>
            </a:prstGeom>
            <a:solidFill>
              <a:srgbClr val="FFFFFF"/>
            </a:solidFill>
            <a:ln w="9525" cap="flat" cmpd="sng">
              <a:solidFill>
                <a:srgbClr val="E5E7EB"/>
              </a:solidFill>
              <a:prstDash val="solid"/>
              <a:round/>
              <a:headEnd type="none" w="sm" len="sm"/>
              <a:tailEnd type="none" w="sm" len="sm"/>
            </a:ln>
          </p:spPr>
        </p:cxnSp>
        <p:cxnSp>
          <p:nvCxnSpPr>
            <p:cNvPr id="586" name="Google Shape;586;p27"/>
            <p:cNvCxnSpPr/>
            <p:nvPr/>
          </p:nvCxnSpPr>
          <p:spPr>
            <a:xfrm>
              <a:off x="3810000" y="3133725"/>
              <a:ext cx="4953000" cy="0"/>
            </a:xfrm>
            <a:prstGeom prst="straightConnector1">
              <a:avLst/>
            </a:prstGeom>
            <a:solidFill>
              <a:srgbClr val="FFFFFF"/>
            </a:solidFill>
            <a:ln w="9525" cap="flat" cmpd="sng">
              <a:solidFill>
                <a:srgbClr val="E5E7EB"/>
              </a:solidFill>
              <a:prstDash val="solid"/>
              <a:round/>
              <a:headEnd type="none" w="sm" len="sm"/>
              <a:tailEnd type="none" w="sm" len="sm"/>
            </a:ln>
          </p:spPr>
        </p:cxnSp>
        <p:cxnSp>
          <p:nvCxnSpPr>
            <p:cNvPr id="587" name="Google Shape;587;p27"/>
            <p:cNvCxnSpPr/>
            <p:nvPr/>
          </p:nvCxnSpPr>
          <p:spPr>
            <a:xfrm>
              <a:off x="3810000" y="3724275"/>
              <a:ext cx="4953000" cy="0"/>
            </a:xfrm>
            <a:prstGeom prst="straightConnector1">
              <a:avLst/>
            </a:prstGeom>
            <a:solidFill>
              <a:srgbClr val="FFFFFF"/>
            </a:solidFill>
            <a:ln w="9525" cap="flat" cmpd="sng">
              <a:solidFill>
                <a:srgbClr val="E5E7EB"/>
              </a:solidFill>
              <a:prstDash val="solid"/>
              <a:round/>
              <a:headEnd type="none" w="sm" len="sm"/>
              <a:tailEnd type="none" w="sm" len="sm"/>
            </a:ln>
          </p:spPr>
        </p:cxnSp>
        <p:grpSp>
          <p:nvGrpSpPr>
            <p:cNvPr id="588" name="Google Shape;588;p27"/>
            <p:cNvGrpSpPr/>
            <p:nvPr/>
          </p:nvGrpSpPr>
          <p:grpSpPr>
            <a:xfrm>
              <a:off x="3957638" y="2000250"/>
              <a:ext cx="4662638" cy="495300"/>
              <a:chOff x="3957638" y="2000250"/>
              <a:chExt cx="4662638" cy="495300"/>
            </a:xfrm>
          </p:grpSpPr>
          <p:sp>
            <p:nvSpPr>
              <p:cNvPr id="589" name="Google Shape;589;p27"/>
              <p:cNvSpPr/>
              <p:nvPr/>
            </p:nvSpPr>
            <p:spPr>
              <a:xfrm>
                <a:off x="3957638" y="2205038"/>
                <a:ext cx="85800" cy="85800"/>
              </a:xfrm>
              <a:prstGeom prst="ellipse">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0" name="Google Shape;590;p27"/>
              <p:cNvSpPr txBox="1"/>
              <p:nvPr/>
            </p:nvSpPr>
            <p:spPr>
              <a:xfrm>
                <a:off x="4114800" y="2000250"/>
                <a:ext cx="1505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EF4444"/>
                    </a:solidFill>
                    <a:latin typeface="Inter SemiBold"/>
                    <a:ea typeface="Inter SemiBold"/>
                    <a:cs typeface="Inter SemiBold"/>
                    <a:sym typeface="Inter SemiBold"/>
                  </a:rPr>
                  <a:t>Data-Quality Failure</a:t>
                </a:r>
                <a:endParaRPr sz="900" b="0">
                  <a:solidFill>
                    <a:srgbClr val="EF4444"/>
                  </a:solidFill>
                  <a:latin typeface="Inter SemiBold"/>
                  <a:ea typeface="Inter SemiBold"/>
                  <a:cs typeface="Inter SemiBold"/>
                  <a:sym typeface="Inter SemiBold"/>
                </a:endParaRPr>
              </a:p>
            </p:txBody>
          </p:sp>
          <p:sp>
            <p:nvSpPr>
              <p:cNvPr id="591" name="Google Shape;591;p27"/>
              <p:cNvSpPr txBox="1"/>
              <p:nvPr/>
            </p:nvSpPr>
            <p:spPr>
              <a:xfrm>
                <a:off x="5857875" y="200025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25" b="0">
                    <a:solidFill>
                      <a:srgbClr val="4B5563"/>
                    </a:solidFill>
                    <a:latin typeface="Inter"/>
                    <a:ea typeface="Inter"/>
                    <a:cs typeface="Inter"/>
                    <a:sym typeface="Inter"/>
                  </a:rPr>
                  <a:t>Stops downstream processing immediately, logs the error, notifies administrators, and retains the last validated output.</a:t>
                </a:r>
                <a:endParaRPr sz="825" b="0">
                  <a:solidFill>
                    <a:srgbClr val="4B5563"/>
                  </a:solidFill>
                  <a:latin typeface="Inter"/>
                  <a:ea typeface="Inter"/>
                  <a:cs typeface="Inter"/>
                  <a:sym typeface="Inter"/>
                </a:endParaRPr>
              </a:p>
            </p:txBody>
          </p:sp>
        </p:grpSp>
        <p:grpSp>
          <p:nvGrpSpPr>
            <p:cNvPr id="592" name="Google Shape;592;p27"/>
            <p:cNvGrpSpPr/>
            <p:nvPr/>
          </p:nvGrpSpPr>
          <p:grpSpPr>
            <a:xfrm>
              <a:off x="3957638" y="2590800"/>
              <a:ext cx="4662638" cy="495300"/>
              <a:chOff x="3957638" y="2590800"/>
              <a:chExt cx="4662638" cy="495300"/>
            </a:xfrm>
          </p:grpSpPr>
          <p:sp>
            <p:nvSpPr>
              <p:cNvPr id="593" name="Google Shape;593;p27"/>
              <p:cNvSpPr/>
              <p:nvPr/>
            </p:nvSpPr>
            <p:spPr>
              <a:xfrm>
                <a:off x="3957638" y="2795588"/>
                <a:ext cx="85800" cy="858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4" name="Google Shape;594;p27"/>
              <p:cNvSpPr txBox="1"/>
              <p:nvPr/>
            </p:nvSpPr>
            <p:spPr>
              <a:xfrm>
                <a:off x="4114800" y="2590800"/>
                <a:ext cx="1505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F59E0B"/>
                    </a:solidFill>
                    <a:latin typeface="Inter SemiBold"/>
                    <a:ea typeface="Inter SemiBold"/>
                    <a:cs typeface="Inter SemiBold"/>
                    <a:sym typeface="Inter SemiBold"/>
                  </a:rPr>
                  <a:t>Model-Validation Failure</a:t>
                </a:r>
                <a:endParaRPr sz="900" b="0">
                  <a:solidFill>
                    <a:srgbClr val="F59E0B"/>
                  </a:solidFill>
                  <a:latin typeface="Inter SemiBold"/>
                  <a:ea typeface="Inter SemiBold"/>
                  <a:cs typeface="Inter SemiBold"/>
                  <a:sym typeface="Inter SemiBold"/>
                </a:endParaRPr>
              </a:p>
            </p:txBody>
          </p:sp>
          <p:sp>
            <p:nvSpPr>
              <p:cNvPr id="595" name="Google Shape;595;p27"/>
              <p:cNvSpPr txBox="1"/>
              <p:nvPr/>
            </p:nvSpPr>
            <p:spPr>
              <a:xfrm>
                <a:off x="5857875" y="259080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25" b="0">
                    <a:solidFill>
                      <a:srgbClr val="4B5563"/>
                    </a:solidFill>
                    <a:latin typeface="Inter"/>
                    <a:ea typeface="Inter"/>
                    <a:cs typeface="Inter"/>
                    <a:sym typeface="Inter"/>
                  </a:rPr>
                  <a:t>Holds prediction publication, logs the failure, and retains the last validated output.</a:t>
                </a:r>
                <a:endParaRPr sz="825" b="0">
                  <a:solidFill>
                    <a:srgbClr val="4B5563"/>
                  </a:solidFill>
                  <a:latin typeface="Inter"/>
                  <a:ea typeface="Inter"/>
                  <a:cs typeface="Inter"/>
                  <a:sym typeface="Inter"/>
                </a:endParaRPr>
              </a:p>
            </p:txBody>
          </p:sp>
        </p:grpSp>
        <p:grpSp>
          <p:nvGrpSpPr>
            <p:cNvPr id="596" name="Google Shape;596;p27"/>
            <p:cNvGrpSpPr/>
            <p:nvPr/>
          </p:nvGrpSpPr>
          <p:grpSpPr>
            <a:xfrm>
              <a:off x="3957638" y="3181350"/>
              <a:ext cx="4662638" cy="495300"/>
              <a:chOff x="3957638" y="3181350"/>
              <a:chExt cx="4662638" cy="495300"/>
            </a:xfrm>
          </p:grpSpPr>
          <p:sp>
            <p:nvSpPr>
              <p:cNvPr id="597" name="Google Shape;597;p27"/>
              <p:cNvSpPr/>
              <p:nvPr/>
            </p:nvSpPr>
            <p:spPr>
              <a:xfrm>
                <a:off x="3957638" y="3386138"/>
                <a:ext cx="85800" cy="85800"/>
              </a:xfrm>
              <a:prstGeom prst="ellipse">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8" name="Google Shape;598;p27"/>
              <p:cNvSpPr txBox="1"/>
              <p:nvPr/>
            </p:nvSpPr>
            <p:spPr>
              <a:xfrm>
                <a:off x="4114800" y="3181350"/>
                <a:ext cx="1505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10B981"/>
                    </a:solidFill>
                    <a:latin typeface="Inter SemiBold"/>
                    <a:ea typeface="Inter SemiBold"/>
                    <a:cs typeface="Inter SemiBold"/>
                    <a:sym typeface="Inter SemiBold"/>
                  </a:rPr>
                  <a:t>Successful Validation</a:t>
                </a:r>
                <a:endParaRPr sz="900" b="0">
                  <a:solidFill>
                    <a:srgbClr val="10B981"/>
                  </a:solidFill>
                  <a:latin typeface="Inter SemiBold"/>
                  <a:ea typeface="Inter SemiBold"/>
                  <a:cs typeface="Inter SemiBold"/>
                  <a:sym typeface="Inter SemiBold"/>
                </a:endParaRPr>
              </a:p>
            </p:txBody>
          </p:sp>
          <p:sp>
            <p:nvSpPr>
              <p:cNvPr id="599" name="Google Shape;599;p27"/>
              <p:cNvSpPr txBox="1"/>
              <p:nvPr/>
            </p:nvSpPr>
            <p:spPr>
              <a:xfrm>
                <a:off x="5857875" y="318135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25" b="0">
                    <a:solidFill>
                      <a:srgbClr val="4B5563"/>
                    </a:solidFill>
                    <a:latin typeface="Inter"/>
                    <a:ea typeface="Inter"/>
                    <a:cs typeface="Inter"/>
                    <a:sym typeface="Inter"/>
                  </a:rPr>
                  <a:t>Publishes updated predictions and dashboard-ready outputs.</a:t>
                </a:r>
                <a:endParaRPr sz="825" b="0">
                  <a:solidFill>
                    <a:srgbClr val="4B5563"/>
                  </a:solidFill>
                  <a:latin typeface="Inter"/>
                  <a:ea typeface="Inter"/>
                  <a:cs typeface="Inter"/>
                  <a:sym typeface="Inter"/>
                </a:endParaRPr>
              </a:p>
            </p:txBody>
          </p:sp>
        </p:grpSp>
        <p:grpSp>
          <p:nvGrpSpPr>
            <p:cNvPr id="600" name="Google Shape;600;p27"/>
            <p:cNvGrpSpPr/>
            <p:nvPr/>
          </p:nvGrpSpPr>
          <p:grpSpPr>
            <a:xfrm>
              <a:off x="3957638" y="3771900"/>
              <a:ext cx="4662638" cy="495300"/>
              <a:chOff x="3957638" y="3771900"/>
              <a:chExt cx="4662638" cy="495300"/>
            </a:xfrm>
          </p:grpSpPr>
          <p:sp>
            <p:nvSpPr>
              <p:cNvPr id="601" name="Google Shape;601;p27"/>
              <p:cNvSpPr/>
              <p:nvPr/>
            </p:nvSpPr>
            <p:spPr>
              <a:xfrm>
                <a:off x="3957638" y="3976688"/>
                <a:ext cx="85800" cy="858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2" name="Google Shape;602;p27"/>
              <p:cNvSpPr txBox="1"/>
              <p:nvPr/>
            </p:nvSpPr>
            <p:spPr>
              <a:xfrm>
                <a:off x="4114800" y="3771900"/>
                <a:ext cx="1505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0">
                    <a:solidFill>
                      <a:srgbClr val="F59E0B"/>
                    </a:solidFill>
                    <a:latin typeface="Inter SemiBold"/>
                    <a:ea typeface="Inter SemiBold"/>
                    <a:cs typeface="Inter SemiBold"/>
                    <a:sym typeface="Inter SemiBold"/>
                  </a:rPr>
                  <a:t>Threshold Breach</a:t>
                </a:r>
                <a:endParaRPr sz="900" b="0">
                  <a:solidFill>
                    <a:srgbClr val="F59E0B"/>
                  </a:solidFill>
                  <a:latin typeface="Inter SemiBold"/>
                  <a:ea typeface="Inter SemiBold"/>
                  <a:cs typeface="Inter SemiBold"/>
                  <a:sym typeface="Inter SemiBold"/>
                </a:endParaRPr>
              </a:p>
            </p:txBody>
          </p:sp>
          <p:sp>
            <p:nvSpPr>
              <p:cNvPr id="603" name="Google Shape;603;p27"/>
              <p:cNvSpPr txBox="1"/>
              <p:nvPr/>
            </p:nvSpPr>
            <p:spPr>
              <a:xfrm>
                <a:off x="5857875" y="3771900"/>
                <a:ext cx="2762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25" b="0">
                    <a:solidFill>
                      <a:srgbClr val="4B5563"/>
                    </a:solidFill>
                    <a:latin typeface="Inter"/>
                    <a:ea typeface="Inter"/>
                    <a:cs typeface="Inter"/>
                    <a:sym typeface="Inter"/>
                  </a:rPr>
                  <a:t>Generates an automated alert for HR review.</a:t>
                </a:r>
                <a:endParaRPr sz="825" b="0">
                  <a:solidFill>
                    <a:srgbClr val="4B5563"/>
                  </a:solidFill>
                  <a:latin typeface="Inter"/>
                  <a:ea typeface="Inter"/>
                  <a:cs typeface="Inter"/>
                  <a:sym typeface="Inter"/>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607"/>
        <p:cNvGrpSpPr/>
        <p:nvPr/>
      </p:nvGrpSpPr>
      <p:grpSpPr>
        <a:xfrm>
          <a:off x="0" y="0"/>
          <a:ext cx="0" cy="0"/>
          <a:chOff x="0" y="0"/>
          <a:chExt cx="0" cy="0"/>
        </a:xfrm>
      </p:grpSpPr>
      <p:pic>
        <p:nvPicPr>
          <p:cNvPr id="608" name="Google Shape;608;p28"/>
          <p:cNvPicPr preferRelativeResize="0"/>
          <p:nvPr/>
        </p:nvPicPr>
        <p:blipFill rotWithShape="1">
          <a:blip r:embed="rId3">
            <a:alphaModFix/>
          </a:blip>
          <a:srcRect/>
          <a:stretch/>
        </p:blipFill>
        <p:spPr>
          <a:xfrm>
            <a:off x="0" y="0"/>
            <a:ext cx="9144000" cy="5143500"/>
          </a:xfrm>
          <a:prstGeom prst="rect">
            <a:avLst/>
          </a:prstGeom>
          <a:noFill/>
          <a:ln>
            <a:noFill/>
          </a:ln>
        </p:spPr>
      </p:pic>
      <p:cxnSp>
        <p:nvCxnSpPr>
          <p:cNvPr id="609" name="Google Shape;609;p28"/>
          <p:cNvCxnSpPr/>
          <p:nvPr/>
        </p:nvCxnSpPr>
        <p:spPr>
          <a:xfrm>
            <a:off x="381000" y="1095375"/>
            <a:ext cx="8382000" cy="0"/>
          </a:xfrm>
          <a:prstGeom prst="straightConnector1">
            <a:avLst/>
          </a:prstGeom>
          <a:solidFill>
            <a:srgbClr val="FFFFFF"/>
          </a:solidFill>
          <a:ln w="9525" cap="flat" cmpd="sng">
            <a:solidFill>
              <a:srgbClr val="E5E7EB"/>
            </a:solidFill>
            <a:prstDash val="solid"/>
            <a:round/>
            <a:headEnd type="none" w="sm" len="sm"/>
            <a:tailEnd type="none" w="sm" len="sm"/>
          </a:ln>
        </p:spPr>
      </p:cxnSp>
      <p:grpSp>
        <p:nvGrpSpPr>
          <p:cNvPr id="610" name="Google Shape;610;p28"/>
          <p:cNvGrpSpPr/>
          <p:nvPr/>
        </p:nvGrpSpPr>
        <p:grpSpPr>
          <a:xfrm>
            <a:off x="381000" y="238125"/>
            <a:ext cx="8382150" cy="809700"/>
            <a:chOff x="0" y="0"/>
            <a:chExt cx="8382150" cy="809700"/>
          </a:xfrm>
        </p:grpSpPr>
        <p:sp>
          <p:nvSpPr>
            <p:cNvPr id="611" name="Google Shape;611;p28"/>
            <p:cNvSpPr/>
            <p:nvPr/>
          </p:nvSpPr>
          <p:spPr>
            <a:xfrm>
              <a:off x="0" y="95250"/>
              <a:ext cx="38100" cy="6096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2" name="Google Shape;612;p28"/>
            <p:cNvSpPr txBox="1"/>
            <p:nvPr/>
          </p:nvSpPr>
          <p:spPr>
            <a:xfrm>
              <a:off x="171450" y="0"/>
              <a:ext cx="82107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1">
                  <a:solidFill>
                    <a:srgbClr val="111827"/>
                  </a:solidFill>
                  <a:latin typeface="Inter"/>
                  <a:ea typeface="Inter"/>
                  <a:cs typeface="Inter"/>
                  <a:sym typeface="Inter"/>
                </a:rPr>
                <a:t>Implementation Checklist &amp; Dashboard Integration Roadmap</a:t>
              </a:r>
              <a:endParaRPr sz="1800" b="1">
                <a:solidFill>
                  <a:srgbClr val="111827"/>
                </a:solidFill>
                <a:latin typeface="Inter"/>
                <a:ea typeface="Inter"/>
                <a:cs typeface="Inter"/>
                <a:sym typeface="Inter"/>
              </a:endParaRPr>
            </a:p>
            <a:p>
              <a:pPr marL="0" lvl="0" indent="0" algn="l" rtl="0">
                <a:spcBef>
                  <a:spcPts val="450"/>
                </a:spcBef>
                <a:spcAft>
                  <a:spcPts val="0"/>
                </a:spcAft>
                <a:buNone/>
              </a:pPr>
              <a:r>
                <a:rPr lang="en" sz="975" b="0">
                  <a:solidFill>
                    <a:srgbClr val="4B5563"/>
                  </a:solidFill>
                  <a:latin typeface="Inter Medium"/>
                  <a:ea typeface="Inter Medium"/>
                  <a:cs typeface="Inter Medium"/>
                  <a:sym typeface="Inter Medium"/>
                </a:rPr>
                <a:t>To finalize the Milestone 2 integration, the following 12-point checklist ensures all data gates, models, and validation metrics are correctly connected to the final dashboard:</a:t>
              </a:r>
              <a:endParaRPr sz="975" b="0">
                <a:solidFill>
                  <a:srgbClr val="4B5563"/>
                </a:solidFill>
                <a:latin typeface="Inter Medium"/>
                <a:ea typeface="Inter Medium"/>
                <a:cs typeface="Inter Medium"/>
                <a:sym typeface="Inter Medium"/>
              </a:endParaRPr>
            </a:p>
          </p:txBody>
        </p:sp>
      </p:grpSp>
      <p:grpSp>
        <p:nvGrpSpPr>
          <p:cNvPr id="613" name="Google Shape;613;p28"/>
          <p:cNvGrpSpPr/>
          <p:nvPr/>
        </p:nvGrpSpPr>
        <p:grpSpPr>
          <a:xfrm>
            <a:off x="381000" y="1238250"/>
            <a:ext cx="4095900" cy="3524400"/>
            <a:chOff x="381000" y="1238250"/>
            <a:chExt cx="4095900" cy="3524400"/>
          </a:xfrm>
        </p:grpSpPr>
        <p:sp>
          <p:nvSpPr>
            <p:cNvPr id="614" name="Google Shape;614;p28"/>
            <p:cNvSpPr/>
            <p:nvPr/>
          </p:nvSpPr>
          <p:spPr>
            <a:xfrm>
              <a:off x="381000" y="1238250"/>
              <a:ext cx="4095900" cy="3524400"/>
            </a:xfrm>
            <a:prstGeom prst="roundRect">
              <a:avLst>
                <a:gd name="adj" fmla="val 108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5" name="Google Shape;615;p28"/>
            <p:cNvSpPr/>
            <p:nvPr/>
          </p:nvSpPr>
          <p:spPr>
            <a:xfrm>
              <a:off x="381000" y="1238250"/>
              <a:ext cx="4095900" cy="38100"/>
            </a:xfrm>
            <a:custGeom>
              <a:avLst/>
              <a:gdLst/>
              <a:ahLst/>
              <a:cxnLst/>
              <a:rect l="l" t="t" r="r" b="b"/>
              <a:pathLst>
                <a:path w="120000" h="120000" extrusionOk="0">
                  <a:moveTo>
                    <a:pt x="0" y="120000"/>
                  </a:moveTo>
                  <a:quadBezTo>
                    <a:pt x="0" y="0"/>
                    <a:pt x="1116" y="0"/>
                  </a:quadBezTo>
                  <a:lnTo>
                    <a:pt x="118884" y="0"/>
                  </a:lnTo>
                  <a:quadBezTo>
                    <a:pt x="120000" y="0"/>
                    <a:pt x="120000" y="120000"/>
                  </a:quadBezTo>
                  <a:lnTo>
                    <a:pt x="120000" y="120000"/>
                  </a:lnTo>
                  <a:lnTo>
                    <a:pt x="0" y="120000"/>
                  </a:lnTo>
                  <a:close/>
                </a:path>
              </a:pathLst>
            </a:cu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6" name="Google Shape;616;p28"/>
            <p:cNvSpPr txBox="1"/>
            <p:nvPr/>
          </p:nvSpPr>
          <p:spPr>
            <a:xfrm>
              <a:off x="571500" y="1381125"/>
              <a:ext cx="37149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2563EB"/>
                  </a:solidFill>
                  <a:latin typeface="Roboto Mono SemiBold"/>
                  <a:ea typeface="Roboto Mono SemiBold"/>
                  <a:cs typeface="Roboto Mono SemiBold"/>
                  <a:sym typeface="Roboto Mono SemiBold"/>
                </a:rPr>
                <a:t>PHASE 1: DATA &amp; MODEL INTEGRATION</a:t>
              </a:r>
              <a:endParaRPr sz="750" b="0">
                <a:solidFill>
                  <a:srgbClr val="2563EB"/>
                </a:solidFill>
                <a:latin typeface="Roboto Mono SemiBold"/>
                <a:ea typeface="Roboto Mono SemiBold"/>
                <a:cs typeface="Roboto Mono SemiBold"/>
                <a:sym typeface="Roboto Mono SemiBold"/>
              </a:endParaRPr>
            </a:p>
          </p:txBody>
        </p:sp>
        <p:cxnSp>
          <p:nvCxnSpPr>
            <p:cNvPr id="617" name="Google Shape;617;p28"/>
            <p:cNvCxnSpPr/>
            <p:nvPr/>
          </p:nvCxnSpPr>
          <p:spPr>
            <a:xfrm>
              <a:off x="571500" y="1619250"/>
              <a:ext cx="3714900" cy="0"/>
            </a:xfrm>
            <a:prstGeom prst="straightConnector1">
              <a:avLst/>
            </a:prstGeom>
            <a:solidFill>
              <a:srgbClr val="FFFFFF"/>
            </a:solidFill>
            <a:ln w="9525" cap="flat" cmpd="sng">
              <a:solidFill>
                <a:srgbClr val="E5E7EB"/>
              </a:solidFill>
              <a:prstDash val="solid"/>
              <a:round/>
              <a:headEnd type="none" w="sm" len="sm"/>
              <a:tailEnd type="none" w="sm" len="sm"/>
            </a:ln>
          </p:spPr>
        </p:cxnSp>
        <p:grpSp>
          <p:nvGrpSpPr>
            <p:cNvPr id="618" name="Google Shape;618;p28"/>
            <p:cNvGrpSpPr/>
            <p:nvPr/>
          </p:nvGrpSpPr>
          <p:grpSpPr>
            <a:xfrm>
              <a:off x="571500" y="1790700"/>
              <a:ext cx="152400" cy="152400"/>
              <a:chOff x="0" y="0"/>
              <a:chExt cx="152400" cy="152400"/>
            </a:xfrm>
          </p:grpSpPr>
          <p:sp>
            <p:nvSpPr>
              <p:cNvPr id="619" name="Google Shape;619;p28"/>
              <p:cNvSpPr/>
              <p:nvPr/>
            </p:nvSpPr>
            <p:spPr>
              <a:xfrm>
                <a:off x="0" y="0"/>
                <a:ext cx="152400" cy="152400"/>
              </a:xfrm>
              <a:prstGeom prst="roundRect">
                <a:avLst>
                  <a:gd name="adj" fmla="val 18750"/>
                </a:avLst>
              </a:prstGeom>
              <a:solidFill>
                <a:srgbClr val="D1FAE5"/>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0" name="Google Shape;620;p28"/>
              <p:cNvSpPr/>
              <p:nvPr/>
            </p:nvSpPr>
            <p:spPr>
              <a:xfrm>
                <a:off x="38100" y="47625"/>
                <a:ext cx="76200" cy="57300"/>
              </a:xfrm>
              <a:custGeom>
                <a:avLst/>
                <a:gdLst/>
                <a:ahLst/>
                <a:cxnLst/>
                <a:rect l="l" t="t" r="r" b="b"/>
                <a:pathLst>
                  <a:path w="120000" h="120000" extrusionOk="0">
                    <a:moveTo>
                      <a:pt x="0" y="60000"/>
                    </a:moveTo>
                    <a:lnTo>
                      <a:pt x="45000" y="120000"/>
                    </a:lnTo>
                    <a:lnTo>
                      <a:pt x="120000" y="0"/>
                    </a:lnTo>
                  </a:path>
                </a:pathLst>
              </a:custGeom>
              <a:solidFill>
                <a:srgbClr val="000000">
                  <a:alpha val="0"/>
                </a:srgbClr>
              </a:solidFill>
              <a:ln w="19050" cap="rnd"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21" name="Google Shape;621;p28"/>
            <p:cNvSpPr txBox="1"/>
            <p:nvPr/>
          </p:nvSpPr>
          <p:spPr>
            <a:xfrm>
              <a:off x="819150" y="176212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0B981"/>
                  </a:solidFill>
                  <a:latin typeface="Roboto Mono SemiBold"/>
                  <a:ea typeface="Roboto Mono SemiBold"/>
                  <a:cs typeface="Roboto Mono SemiBold"/>
                  <a:sym typeface="Roboto Mono SemiBold"/>
                </a:rPr>
                <a:t>01 </a:t>
              </a:r>
              <a:r>
                <a:rPr lang="en" sz="863" b="0">
                  <a:solidFill>
                    <a:srgbClr val="4B5563"/>
                  </a:solidFill>
                  <a:latin typeface="Inter"/>
                  <a:ea typeface="Inter"/>
                  <a:cs typeface="Inter"/>
                  <a:sym typeface="Inter"/>
                </a:rPr>
                <a:t>Confirm the common input dataset and data-quality gate.</a:t>
              </a:r>
              <a:endParaRPr sz="863" b="0">
                <a:solidFill>
                  <a:srgbClr val="4B5563"/>
                </a:solidFill>
                <a:latin typeface="Inter"/>
                <a:ea typeface="Inter"/>
                <a:cs typeface="Inter"/>
                <a:sym typeface="Inter"/>
              </a:endParaRPr>
            </a:p>
          </p:txBody>
        </p:sp>
        <p:grpSp>
          <p:nvGrpSpPr>
            <p:cNvPr id="622" name="Google Shape;622;p28"/>
            <p:cNvGrpSpPr/>
            <p:nvPr/>
          </p:nvGrpSpPr>
          <p:grpSpPr>
            <a:xfrm>
              <a:off x="571500" y="2266950"/>
              <a:ext cx="152400" cy="152400"/>
              <a:chOff x="0" y="0"/>
              <a:chExt cx="152400" cy="152400"/>
            </a:xfrm>
          </p:grpSpPr>
          <p:sp>
            <p:nvSpPr>
              <p:cNvPr id="623" name="Google Shape;623;p28"/>
              <p:cNvSpPr/>
              <p:nvPr/>
            </p:nvSpPr>
            <p:spPr>
              <a:xfrm>
                <a:off x="0" y="0"/>
                <a:ext cx="152400" cy="152400"/>
              </a:xfrm>
              <a:prstGeom prst="roundRect">
                <a:avLst>
                  <a:gd name="adj" fmla="val 18750"/>
                </a:avLst>
              </a:prstGeom>
              <a:solidFill>
                <a:srgbClr val="D1FAE5"/>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4" name="Google Shape;624;p28"/>
              <p:cNvSpPr/>
              <p:nvPr/>
            </p:nvSpPr>
            <p:spPr>
              <a:xfrm>
                <a:off x="38100" y="47625"/>
                <a:ext cx="76200" cy="57300"/>
              </a:xfrm>
              <a:custGeom>
                <a:avLst/>
                <a:gdLst/>
                <a:ahLst/>
                <a:cxnLst/>
                <a:rect l="l" t="t" r="r" b="b"/>
                <a:pathLst>
                  <a:path w="120000" h="120000" extrusionOk="0">
                    <a:moveTo>
                      <a:pt x="0" y="60000"/>
                    </a:moveTo>
                    <a:lnTo>
                      <a:pt x="45000" y="120000"/>
                    </a:lnTo>
                    <a:lnTo>
                      <a:pt x="120000" y="0"/>
                    </a:lnTo>
                  </a:path>
                </a:pathLst>
              </a:custGeom>
              <a:solidFill>
                <a:srgbClr val="000000">
                  <a:alpha val="0"/>
                </a:srgbClr>
              </a:solidFill>
              <a:ln w="19050" cap="rnd"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25" name="Google Shape;625;p28"/>
            <p:cNvSpPr txBox="1"/>
            <p:nvPr/>
          </p:nvSpPr>
          <p:spPr>
            <a:xfrm>
              <a:off x="819150" y="223837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0B981"/>
                  </a:solidFill>
                  <a:latin typeface="Roboto Mono SemiBold"/>
                  <a:ea typeface="Roboto Mono SemiBold"/>
                  <a:cs typeface="Roboto Mono SemiBold"/>
                  <a:sym typeface="Roboto Mono SemiBold"/>
                </a:rPr>
                <a:t>02 </a:t>
              </a:r>
              <a:r>
                <a:rPr lang="en" sz="863" b="0">
                  <a:solidFill>
                    <a:srgbClr val="4B5563"/>
                  </a:solidFill>
                  <a:latin typeface="Inter"/>
                  <a:ea typeface="Inter"/>
                  <a:cs typeface="Inter"/>
                  <a:sym typeface="Inter"/>
                </a:rPr>
                <a:t>Connect workforce trend-monitoring output to the dashboard layer.</a:t>
              </a:r>
              <a:endParaRPr sz="863" b="0">
                <a:solidFill>
                  <a:srgbClr val="4B5563"/>
                </a:solidFill>
                <a:latin typeface="Inter"/>
                <a:ea typeface="Inter"/>
                <a:cs typeface="Inter"/>
                <a:sym typeface="Inter"/>
              </a:endParaRPr>
            </a:p>
          </p:txBody>
        </p:sp>
        <p:grpSp>
          <p:nvGrpSpPr>
            <p:cNvPr id="626" name="Google Shape;626;p28"/>
            <p:cNvGrpSpPr/>
            <p:nvPr/>
          </p:nvGrpSpPr>
          <p:grpSpPr>
            <a:xfrm>
              <a:off x="571500" y="2743200"/>
              <a:ext cx="152400" cy="152400"/>
              <a:chOff x="0" y="0"/>
              <a:chExt cx="152400" cy="152400"/>
            </a:xfrm>
          </p:grpSpPr>
          <p:sp>
            <p:nvSpPr>
              <p:cNvPr id="627" name="Google Shape;627;p28"/>
              <p:cNvSpPr/>
              <p:nvPr/>
            </p:nvSpPr>
            <p:spPr>
              <a:xfrm>
                <a:off x="0" y="0"/>
                <a:ext cx="152400" cy="152400"/>
              </a:xfrm>
              <a:prstGeom prst="roundRect">
                <a:avLst>
                  <a:gd name="adj" fmla="val 18750"/>
                </a:avLst>
              </a:prstGeom>
              <a:solidFill>
                <a:srgbClr val="D1FAE5"/>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8" name="Google Shape;628;p28"/>
              <p:cNvSpPr/>
              <p:nvPr/>
            </p:nvSpPr>
            <p:spPr>
              <a:xfrm>
                <a:off x="38100" y="47625"/>
                <a:ext cx="76200" cy="57300"/>
              </a:xfrm>
              <a:custGeom>
                <a:avLst/>
                <a:gdLst/>
                <a:ahLst/>
                <a:cxnLst/>
                <a:rect l="l" t="t" r="r" b="b"/>
                <a:pathLst>
                  <a:path w="120000" h="120000" extrusionOk="0">
                    <a:moveTo>
                      <a:pt x="0" y="60000"/>
                    </a:moveTo>
                    <a:lnTo>
                      <a:pt x="45000" y="120000"/>
                    </a:lnTo>
                    <a:lnTo>
                      <a:pt x="120000" y="0"/>
                    </a:lnTo>
                  </a:path>
                </a:pathLst>
              </a:custGeom>
              <a:solidFill>
                <a:srgbClr val="000000">
                  <a:alpha val="0"/>
                </a:srgbClr>
              </a:solidFill>
              <a:ln w="19050" cap="rnd"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29" name="Google Shape;629;p28"/>
            <p:cNvSpPr txBox="1"/>
            <p:nvPr/>
          </p:nvSpPr>
          <p:spPr>
            <a:xfrm>
              <a:off x="819150" y="271462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0B981"/>
                  </a:solidFill>
                  <a:latin typeface="Roboto Mono SemiBold"/>
                  <a:ea typeface="Roboto Mono SemiBold"/>
                  <a:cs typeface="Roboto Mono SemiBold"/>
                  <a:sym typeface="Roboto Mono SemiBold"/>
                </a:rPr>
                <a:t>03</a:t>
              </a:r>
              <a:r>
                <a:rPr lang="en" sz="863">
                  <a:solidFill>
                    <a:srgbClr val="10B981"/>
                  </a:solidFill>
                  <a:latin typeface="Roboto Mono SemiBold"/>
                  <a:ea typeface="Roboto Mono SemiBold"/>
                  <a:cs typeface="Roboto Mono SemiBold"/>
                  <a:sym typeface="Roboto Mono SemiBold"/>
                </a:rPr>
                <a:t> </a:t>
              </a:r>
              <a:r>
                <a:rPr lang="en" sz="863" b="0">
                  <a:solidFill>
                    <a:srgbClr val="4B5563"/>
                  </a:solidFill>
                  <a:latin typeface="Inter"/>
                  <a:ea typeface="Inter"/>
                  <a:cs typeface="Inter"/>
                  <a:sym typeface="Inter"/>
                </a:rPr>
                <a:t>Connect attrition model prediction and probability outputs.</a:t>
              </a:r>
              <a:endParaRPr sz="863" b="0">
                <a:solidFill>
                  <a:srgbClr val="4B5563"/>
                </a:solidFill>
                <a:latin typeface="Inter"/>
                <a:ea typeface="Inter"/>
                <a:cs typeface="Inter"/>
                <a:sym typeface="Inter"/>
              </a:endParaRPr>
            </a:p>
          </p:txBody>
        </p:sp>
        <p:grpSp>
          <p:nvGrpSpPr>
            <p:cNvPr id="630" name="Google Shape;630;p28"/>
            <p:cNvGrpSpPr/>
            <p:nvPr/>
          </p:nvGrpSpPr>
          <p:grpSpPr>
            <a:xfrm>
              <a:off x="571500" y="3219450"/>
              <a:ext cx="152400" cy="152400"/>
              <a:chOff x="0" y="0"/>
              <a:chExt cx="152400" cy="152400"/>
            </a:xfrm>
          </p:grpSpPr>
          <p:sp>
            <p:nvSpPr>
              <p:cNvPr id="631" name="Google Shape;631;p28"/>
              <p:cNvSpPr/>
              <p:nvPr/>
            </p:nvSpPr>
            <p:spPr>
              <a:xfrm>
                <a:off x="0" y="0"/>
                <a:ext cx="152400" cy="152400"/>
              </a:xfrm>
              <a:prstGeom prst="roundRect">
                <a:avLst>
                  <a:gd name="adj" fmla="val 18750"/>
                </a:avLst>
              </a:prstGeom>
              <a:solidFill>
                <a:srgbClr val="D1FAE5"/>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2" name="Google Shape;632;p28"/>
              <p:cNvSpPr/>
              <p:nvPr/>
            </p:nvSpPr>
            <p:spPr>
              <a:xfrm>
                <a:off x="38100" y="47625"/>
                <a:ext cx="76200" cy="57300"/>
              </a:xfrm>
              <a:custGeom>
                <a:avLst/>
                <a:gdLst/>
                <a:ahLst/>
                <a:cxnLst/>
                <a:rect l="l" t="t" r="r" b="b"/>
                <a:pathLst>
                  <a:path w="120000" h="120000" extrusionOk="0">
                    <a:moveTo>
                      <a:pt x="0" y="60000"/>
                    </a:moveTo>
                    <a:lnTo>
                      <a:pt x="45000" y="120000"/>
                    </a:lnTo>
                    <a:lnTo>
                      <a:pt x="120000" y="0"/>
                    </a:lnTo>
                  </a:path>
                </a:pathLst>
              </a:custGeom>
              <a:solidFill>
                <a:srgbClr val="000000">
                  <a:alpha val="0"/>
                </a:srgbClr>
              </a:solidFill>
              <a:ln w="19050" cap="rnd"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33" name="Google Shape;633;p28"/>
            <p:cNvSpPr txBox="1"/>
            <p:nvPr/>
          </p:nvSpPr>
          <p:spPr>
            <a:xfrm>
              <a:off x="819150" y="319087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0B981"/>
                  </a:solidFill>
                  <a:latin typeface="Roboto Mono SemiBold"/>
                  <a:ea typeface="Roboto Mono SemiBold"/>
                  <a:cs typeface="Roboto Mono SemiBold"/>
                  <a:sym typeface="Roboto Mono SemiBold"/>
                </a:rPr>
                <a:t>04 </a:t>
              </a:r>
              <a:r>
                <a:rPr lang="en" sz="863" b="0">
                  <a:solidFill>
                    <a:srgbClr val="4B5563"/>
                  </a:solidFill>
                  <a:latin typeface="Inter"/>
                  <a:ea typeface="Inter"/>
                  <a:cs typeface="Inter"/>
                  <a:sym typeface="Inter"/>
                </a:rPr>
                <a:t>Connect validation metrics and confusion matrix.</a:t>
              </a:r>
              <a:endParaRPr sz="863" b="0">
                <a:solidFill>
                  <a:srgbClr val="4B5563"/>
                </a:solidFill>
                <a:latin typeface="Inter"/>
                <a:ea typeface="Inter"/>
                <a:cs typeface="Inter"/>
                <a:sym typeface="Inter"/>
              </a:endParaRPr>
            </a:p>
          </p:txBody>
        </p:sp>
        <p:grpSp>
          <p:nvGrpSpPr>
            <p:cNvPr id="634" name="Google Shape;634;p28"/>
            <p:cNvGrpSpPr/>
            <p:nvPr/>
          </p:nvGrpSpPr>
          <p:grpSpPr>
            <a:xfrm>
              <a:off x="571500" y="3695700"/>
              <a:ext cx="152400" cy="152400"/>
              <a:chOff x="0" y="0"/>
              <a:chExt cx="152400" cy="152400"/>
            </a:xfrm>
          </p:grpSpPr>
          <p:sp>
            <p:nvSpPr>
              <p:cNvPr id="635" name="Google Shape;635;p28"/>
              <p:cNvSpPr/>
              <p:nvPr/>
            </p:nvSpPr>
            <p:spPr>
              <a:xfrm>
                <a:off x="0" y="0"/>
                <a:ext cx="152400" cy="152400"/>
              </a:xfrm>
              <a:prstGeom prst="roundRect">
                <a:avLst>
                  <a:gd name="adj" fmla="val 18750"/>
                </a:avLst>
              </a:prstGeom>
              <a:solidFill>
                <a:srgbClr val="D1FAE5"/>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6" name="Google Shape;636;p28"/>
              <p:cNvSpPr/>
              <p:nvPr/>
            </p:nvSpPr>
            <p:spPr>
              <a:xfrm>
                <a:off x="38100" y="47625"/>
                <a:ext cx="76200" cy="57300"/>
              </a:xfrm>
              <a:custGeom>
                <a:avLst/>
                <a:gdLst/>
                <a:ahLst/>
                <a:cxnLst/>
                <a:rect l="l" t="t" r="r" b="b"/>
                <a:pathLst>
                  <a:path w="120000" h="120000" extrusionOk="0">
                    <a:moveTo>
                      <a:pt x="0" y="60000"/>
                    </a:moveTo>
                    <a:lnTo>
                      <a:pt x="45000" y="120000"/>
                    </a:lnTo>
                    <a:lnTo>
                      <a:pt x="120000" y="0"/>
                    </a:lnTo>
                  </a:path>
                </a:pathLst>
              </a:custGeom>
              <a:solidFill>
                <a:srgbClr val="000000">
                  <a:alpha val="0"/>
                </a:srgbClr>
              </a:solidFill>
              <a:ln w="19050" cap="rnd"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37" name="Google Shape;637;p28"/>
            <p:cNvSpPr txBox="1"/>
            <p:nvPr/>
          </p:nvSpPr>
          <p:spPr>
            <a:xfrm>
              <a:off x="819150" y="366712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0B981"/>
                  </a:solidFill>
                  <a:latin typeface="Roboto Mono SemiBold"/>
                  <a:ea typeface="Roboto Mono SemiBold"/>
                  <a:cs typeface="Roboto Mono SemiBold"/>
                  <a:sym typeface="Roboto Mono SemiBold"/>
                </a:rPr>
                <a:t>05 </a:t>
              </a:r>
              <a:r>
                <a:rPr lang="en" sz="863" b="0">
                  <a:solidFill>
                    <a:srgbClr val="4B5563"/>
                  </a:solidFill>
                  <a:latin typeface="Inter"/>
                  <a:ea typeface="Inter"/>
                  <a:cs typeface="Inter"/>
                  <a:sym typeface="Inter"/>
                </a:rPr>
                <a:t>Connect employee-level validation results.</a:t>
              </a:r>
              <a:endParaRPr sz="863" b="0">
                <a:solidFill>
                  <a:srgbClr val="4B5563"/>
                </a:solidFill>
                <a:latin typeface="Inter"/>
                <a:ea typeface="Inter"/>
                <a:cs typeface="Inter"/>
                <a:sym typeface="Inter"/>
              </a:endParaRPr>
            </a:p>
          </p:txBody>
        </p:sp>
        <p:grpSp>
          <p:nvGrpSpPr>
            <p:cNvPr id="638" name="Google Shape;638;p28"/>
            <p:cNvGrpSpPr/>
            <p:nvPr/>
          </p:nvGrpSpPr>
          <p:grpSpPr>
            <a:xfrm>
              <a:off x="571500" y="4171950"/>
              <a:ext cx="152400" cy="152400"/>
              <a:chOff x="0" y="0"/>
              <a:chExt cx="152400" cy="152400"/>
            </a:xfrm>
          </p:grpSpPr>
          <p:sp>
            <p:nvSpPr>
              <p:cNvPr id="639" name="Google Shape;639;p28"/>
              <p:cNvSpPr/>
              <p:nvPr/>
            </p:nvSpPr>
            <p:spPr>
              <a:xfrm>
                <a:off x="0" y="0"/>
                <a:ext cx="152400" cy="152400"/>
              </a:xfrm>
              <a:prstGeom prst="roundRect">
                <a:avLst>
                  <a:gd name="adj" fmla="val 18750"/>
                </a:avLst>
              </a:prstGeom>
              <a:solidFill>
                <a:srgbClr val="D1FAE5"/>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0" name="Google Shape;640;p28"/>
              <p:cNvSpPr/>
              <p:nvPr/>
            </p:nvSpPr>
            <p:spPr>
              <a:xfrm>
                <a:off x="38100" y="47625"/>
                <a:ext cx="76200" cy="57300"/>
              </a:xfrm>
              <a:custGeom>
                <a:avLst/>
                <a:gdLst/>
                <a:ahLst/>
                <a:cxnLst/>
                <a:rect l="l" t="t" r="r" b="b"/>
                <a:pathLst>
                  <a:path w="120000" h="120000" extrusionOk="0">
                    <a:moveTo>
                      <a:pt x="0" y="60000"/>
                    </a:moveTo>
                    <a:lnTo>
                      <a:pt x="45000" y="120000"/>
                    </a:lnTo>
                    <a:lnTo>
                      <a:pt x="120000" y="0"/>
                    </a:lnTo>
                  </a:path>
                </a:pathLst>
              </a:custGeom>
              <a:solidFill>
                <a:srgbClr val="000000">
                  <a:alpha val="0"/>
                </a:srgbClr>
              </a:solidFill>
              <a:ln w="19050" cap="rnd"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41" name="Google Shape;641;p28"/>
            <p:cNvSpPr txBox="1"/>
            <p:nvPr/>
          </p:nvSpPr>
          <p:spPr>
            <a:xfrm>
              <a:off x="819150" y="414337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10B981"/>
                  </a:solidFill>
                  <a:latin typeface="Roboto Mono SemiBold"/>
                  <a:ea typeface="Roboto Mono SemiBold"/>
                  <a:cs typeface="Roboto Mono SemiBold"/>
                  <a:sym typeface="Roboto Mono SemiBold"/>
                </a:rPr>
                <a:t>06</a:t>
              </a:r>
              <a:r>
                <a:rPr lang="en" sz="863">
                  <a:solidFill>
                    <a:srgbClr val="4B5563"/>
                  </a:solidFill>
                  <a:latin typeface="Inter"/>
                  <a:ea typeface="Inter"/>
                  <a:cs typeface="Inter"/>
                  <a:sym typeface="Inter"/>
                </a:rPr>
                <a:t> c</a:t>
              </a:r>
              <a:r>
                <a:rPr lang="en" sz="863" b="0">
                  <a:solidFill>
                    <a:srgbClr val="4B5563"/>
                  </a:solidFill>
                  <a:latin typeface="Inter"/>
                  <a:ea typeface="Inter"/>
                  <a:cs typeface="Inter"/>
                  <a:sym typeface="Inter"/>
                </a:rPr>
                <a:t>onnect feature-importance results.</a:t>
              </a:r>
              <a:endParaRPr sz="863" b="0">
                <a:solidFill>
                  <a:srgbClr val="4B5563"/>
                </a:solidFill>
                <a:latin typeface="Inter"/>
                <a:ea typeface="Inter"/>
                <a:cs typeface="Inter"/>
                <a:sym typeface="Inter"/>
              </a:endParaRPr>
            </a:p>
          </p:txBody>
        </p:sp>
      </p:grpSp>
      <p:grpSp>
        <p:nvGrpSpPr>
          <p:cNvPr id="642" name="Google Shape;642;p28"/>
          <p:cNvGrpSpPr/>
          <p:nvPr/>
        </p:nvGrpSpPr>
        <p:grpSpPr>
          <a:xfrm>
            <a:off x="4667250" y="1238250"/>
            <a:ext cx="4095900" cy="3524400"/>
            <a:chOff x="4667250" y="1238250"/>
            <a:chExt cx="4095900" cy="3524400"/>
          </a:xfrm>
        </p:grpSpPr>
        <p:sp>
          <p:nvSpPr>
            <p:cNvPr id="643" name="Google Shape;643;p28"/>
            <p:cNvSpPr/>
            <p:nvPr/>
          </p:nvSpPr>
          <p:spPr>
            <a:xfrm>
              <a:off x="4667250" y="1238250"/>
              <a:ext cx="4095900" cy="3524400"/>
            </a:xfrm>
            <a:prstGeom prst="roundRect">
              <a:avLst>
                <a:gd name="adj" fmla="val 1081"/>
              </a:avLst>
            </a:prstGeom>
            <a:solidFill>
              <a:srgbClr val="FFFFFF"/>
            </a:solidFill>
            <a:ln w="9525" cap="flat" cmpd="sng">
              <a:solidFill>
                <a:srgbClr val="E5E7E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4" name="Google Shape;644;p28"/>
            <p:cNvSpPr/>
            <p:nvPr/>
          </p:nvSpPr>
          <p:spPr>
            <a:xfrm>
              <a:off x="4667250" y="1238250"/>
              <a:ext cx="4095900" cy="38100"/>
            </a:xfrm>
            <a:custGeom>
              <a:avLst/>
              <a:gdLst/>
              <a:ahLst/>
              <a:cxnLst/>
              <a:rect l="l" t="t" r="r" b="b"/>
              <a:pathLst>
                <a:path w="120000" h="120000" extrusionOk="0">
                  <a:moveTo>
                    <a:pt x="0" y="120000"/>
                  </a:moveTo>
                  <a:quadBezTo>
                    <a:pt x="0" y="0"/>
                    <a:pt x="1116" y="0"/>
                  </a:quadBezTo>
                  <a:lnTo>
                    <a:pt x="118884" y="0"/>
                  </a:lnTo>
                  <a:quadBezTo>
                    <a:pt x="120000" y="0"/>
                    <a:pt x="120000" y="120000"/>
                  </a:quadBezTo>
                  <a:lnTo>
                    <a:pt x="120000" y="120000"/>
                  </a:lnTo>
                  <a:lnTo>
                    <a:pt x="0" y="120000"/>
                  </a:lnTo>
                  <a:close/>
                </a:path>
              </a:pathLst>
            </a:cu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5" name="Google Shape;645;p28"/>
            <p:cNvSpPr txBox="1"/>
            <p:nvPr/>
          </p:nvSpPr>
          <p:spPr>
            <a:xfrm>
              <a:off x="4857750" y="1381125"/>
              <a:ext cx="37149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50" b="0">
                  <a:solidFill>
                    <a:srgbClr val="10B981"/>
                  </a:solidFill>
                  <a:latin typeface="Roboto Mono SemiBold"/>
                  <a:ea typeface="Roboto Mono SemiBold"/>
                  <a:cs typeface="Roboto Mono SemiBold"/>
                  <a:sym typeface="Roboto Mono SemiBold"/>
                </a:rPr>
                <a:t>PHASE 2: QUALITY &amp; VALIDATION GATES</a:t>
              </a:r>
              <a:endParaRPr sz="750" b="0">
                <a:solidFill>
                  <a:srgbClr val="10B981"/>
                </a:solidFill>
                <a:latin typeface="Roboto Mono SemiBold"/>
                <a:ea typeface="Roboto Mono SemiBold"/>
                <a:cs typeface="Roboto Mono SemiBold"/>
                <a:sym typeface="Roboto Mono SemiBold"/>
              </a:endParaRPr>
            </a:p>
          </p:txBody>
        </p:sp>
        <p:cxnSp>
          <p:nvCxnSpPr>
            <p:cNvPr id="646" name="Google Shape;646;p28"/>
            <p:cNvCxnSpPr/>
            <p:nvPr/>
          </p:nvCxnSpPr>
          <p:spPr>
            <a:xfrm>
              <a:off x="4857750" y="1619250"/>
              <a:ext cx="37149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647" name="Google Shape;647;p28"/>
            <p:cNvSpPr/>
            <p:nvPr/>
          </p:nvSpPr>
          <p:spPr>
            <a:xfrm>
              <a:off x="4857750" y="1790700"/>
              <a:ext cx="152400" cy="152400"/>
            </a:xfrm>
            <a:prstGeom prst="roundRect">
              <a:avLst>
                <a:gd name="adj" fmla="val 18750"/>
              </a:avLst>
            </a:prstGeom>
            <a:solidFill>
              <a:srgbClr val="FFFFFF"/>
            </a:solidFill>
            <a:ln w="14300"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8" name="Google Shape;648;p28"/>
            <p:cNvSpPr txBox="1"/>
            <p:nvPr/>
          </p:nvSpPr>
          <p:spPr>
            <a:xfrm>
              <a:off x="5105400" y="176212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4B5563"/>
                  </a:solidFill>
                  <a:latin typeface="Roboto Mono SemiBold"/>
                  <a:ea typeface="Roboto Mono SemiBold"/>
                  <a:cs typeface="Roboto Mono SemiBold"/>
                  <a:sym typeface="Roboto Mono SemiBold"/>
                </a:rPr>
                <a:t>07 </a:t>
              </a:r>
              <a:r>
                <a:rPr lang="en" sz="863" b="0">
                  <a:solidFill>
                    <a:srgbClr val="4B5563"/>
                  </a:solidFill>
                  <a:latin typeface="Inter"/>
                  <a:ea typeface="Inter"/>
                  <a:cs typeface="Inter"/>
                  <a:sym typeface="Inter"/>
                </a:rPr>
                <a:t>Connect health-score analysis and documented recommendations.</a:t>
              </a:r>
              <a:endParaRPr sz="863" b="0">
                <a:solidFill>
                  <a:srgbClr val="4B5563"/>
                </a:solidFill>
                <a:latin typeface="Inter"/>
                <a:ea typeface="Inter"/>
                <a:cs typeface="Inter"/>
                <a:sym typeface="Inter"/>
              </a:endParaRPr>
            </a:p>
          </p:txBody>
        </p:sp>
        <p:grpSp>
          <p:nvGrpSpPr>
            <p:cNvPr id="649" name="Google Shape;649;p28"/>
            <p:cNvGrpSpPr/>
            <p:nvPr/>
          </p:nvGrpSpPr>
          <p:grpSpPr>
            <a:xfrm>
              <a:off x="4857750" y="2266950"/>
              <a:ext cx="152400" cy="152400"/>
              <a:chOff x="0" y="0"/>
              <a:chExt cx="152400" cy="152400"/>
            </a:xfrm>
          </p:grpSpPr>
          <p:sp>
            <p:nvSpPr>
              <p:cNvPr id="650" name="Google Shape;650;p28"/>
              <p:cNvSpPr/>
              <p:nvPr/>
            </p:nvSpPr>
            <p:spPr>
              <a:xfrm>
                <a:off x="0" y="0"/>
                <a:ext cx="152400" cy="152400"/>
              </a:xfrm>
              <a:prstGeom prst="roundRect">
                <a:avLst>
                  <a:gd name="adj" fmla="val 18750"/>
                </a:avLst>
              </a:prstGeom>
              <a:solidFill>
                <a:srgbClr val="FEF3C7"/>
              </a:solidFill>
              <a:ln w="14300" cap="flat" cmpd="sng">
                <a:solidFill>
                  <a:srgbClr val="F59E0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1" name="Google Shape;651;p28"/>
              <p:cNvSpPr/>
              <p:nvPr/>
            </p:nvSpPr>
            <p:spPr>
              <a:xfrm>
                <a:off x="61913" y="61913"/>
                <a:ext cx="28500" cy="285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52" name="Google Shape;652;p28"/>
            <p:cNvSpPr txBox="1"/>
            <p:nvPr/>
          </p:nvSpPr>
          <p:spPr>
            <a:xfrm>
              <a:off x="5105400" y="223837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F59E0B"/>
                  </a:solidFill>
                  <a:latin typeface="Roboto Mono SemiBold"/>
                  <a:ea typeface="Roboto Mono SemiBold"/>
                  <a:cs typeface="Roboto Mono SemiBold"/>
                  <a:sym typeface="Roboto Mono SemiBold"/>
                </a:rPr>
                <a:t>08 </a:t>
              </a:r>
              <a:r>
                <a:rPr lang="en" sz="863" b="0">
                  <a:solidFill>
                    <a:srgbClr val="4B5563"/>
                  </a:solidFill>
                  <a:latin typeface="Inter"/>
                  <a:ea typeface="Inter"/>
                  <a:cs typeface="Inter"/>
                  <a:sym typeface="Inter"/>
                </a:rPr>
                <a:t>Keep the skill-gap module clearly marked as requiring skills data.</a:t>
              </a:r>
              <a:endParaRPr sz="863" b="0">
                <a:solidFill>
                  <a:srgbClr val="4B5563"/>
                </a:solidFill>
                <a:latin typeface="Inter"/>
                <a:ea typeface="Inter"/>
                <a:cs typeface="Inter"/>
                <a:sym typeface="Inter"/>
              </a:endParaRPr>
            </a:p>
          </p:txBody>
        </p:sp>
        <p:sp>
          <p:nvSpPr>
            <p:cNvPr id="653" name="Google Shape;653;p28"/>
            <p:cNvSpPr/>
            <p:nvPr/>
          </p:nvSpPr>
          <p:spPr>
            <a:xfrm>
              <a:off x="4857750" y="2743200"/>
              <a:ext cx="152400" cy="152400"/>
            </a:xfrm>
            <a:prstGeom prst="roundRect">
              <a:avLst>
                <a:gd name="adj" fmla="val 18750"/>
              </a:avLst>
            </a:prstGeom>
            <a:solidFill>
              <a:srgbClr val="FFFFFF"/>
            </a:solidFill>
            <a:ln w="14300"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4" name="Google Shape;654;p28"/>
            <p:cNvSpPr txBox="1"/>
            <p:nvPr/>
          </p:nvSpPr>
          <p:spPr>
            <a:xfrm>
              <a:off x="5105400" y="271462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4B5563"/>
                  </a:solidFill>
                  <a:latin typeface="Roboto Mono SemiBold"/>
                  <a:ea typeface="Roboto Mono SemiBold"/>
                  <a:cs typeface="Roboto Mono SemiBold"/>
                  <a:sym typeface="Roboto Mono SemiBold"/>
                </a:rPr>
                <a:t>09</a:t>
              </a:r>
              <a:r>
                <a:rPr lang="en" sz="863" b="0">
                  <a:solidFill>
                    <a:srgbClr val="4B5563"/>
                  </a:solidFill>
                  <a:latin typeface="Inter"/>
                  <a:ea typeface="Inter"/>
                  <a:cs typeface="Inter"/>
                  <a:sym typeface="Inter"/>
                </a:rPr>
                <a:t>Apply threshold and alert logic.</a:t>
              </a:r>
              <a:endParaRPr sz="863" b="0">
                <a:solidFill>
                  <a:srgbClr val="4B5563"/>
                </a:solidFill>
                <a:latin typeface="Inter"/>
                <a:ea typeface="Inter"/>
                <a:cs typeface="Inter"/>
                <a:sym typeface="Inter"/>
              </a:endParaRPr>
            </a:p>
          </p:txBody>
        </p:sp>
        <p:grpSp>
          <p:nvGrpSpPr>
            <p:cNvPr id="655" name="Google Shape;655;p28"/>
            <p:cNvGrpSpPr/>
            <p:nvPr/>
          </p:nvGrpSpPr>
          <p:grpSpPr>
            <a:xfrm>
              <a:off x="4857750" y="3219450"/>
              <a:ext cx="152400" cy="152400"/>
              <a:chOff x="0" y="0"/>
              <a:chExt cx="152400" cy="152400"/>
            </a:xfrm>
          </p:grpSpPr>
          <p:sp>
            <p:nvSpPr>
              <p:cNvPr id="656" name="Google Shape;656;p28"/>
              <p:cNvSpPr/>
              <p:nvPr/>
            </p:nvSpPr>
            <p:spPr>
              <a:xfrm>
                <a:off x="0" y="0"/>
                <a:ext cx="152400" cy="152400"/>
              </a:xfrm>
              <a:prstGeom prst="roundRect">
                <a:avLst>
                  <a:gd name="adj" fmla="val 18750"/>
                </a:avLst>
              </a:prstGeom>
              <a:solidFill>
                <a:srgbClr val="FEF3C7"/>
              </a:solidFill>
              <a:ln w="14300" cap="flat" cmpd="sng">
                <a:solidFill>
                  <a:srgbClr val="F59E0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7" name="Google Shape;657;p28"/>
              <p:cNvSpPr/>
              <p:nvPr/>
            </p:nvSpPr>
            <p:spPr>
              <a:xfrm>
                <a:off x="61913" y="61913"/>
                <a:ext cx="28500" cy="285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58" name="Google Shape;658;p28"/>
            <p:cNvSpPr txBox="1"/>
            <p:nvPr/>
          </p:nvSpPr>
          <p:spPr>
            <a:xfrm>
              <a:off x="5105400" y="319087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EF4444"/>
                  </a:solidFill>
                  <a:latin typeface="Roboto Mono SemiBold"/>
                  <a:ea typeface="Roboto Mono SemiBold"/>
                  <a:cs typeface="Roboto Mono SemiBold"/>
                  <a:sym typeface="Roboto Mono SemiBold"/>
                </a:rPr>
                <a:t>10 </a:t>
              </a:r>
              <a:r>
                <a:rPr lang="en" sz="863" b="0">
                  <a:solidFill>
                    <a:srgbClr val="4B5563"/>
                  </a:solidFill>
                  <a:latin typeface="Inter"/>
                  <a:ea typeface="Inter"/>
                  <a:cs typeface="Inter"/>
                  <a:sym typeface="Inter"/>
                </a:rPr>
                <a:t>Ensure validation failure does not publish unvalidated predictions.</a:t>
              </a:r>
              <a:endParaRPr sz="863" b="0">
                <a:solidFill>
                  <a:srgbClr val="4B5563"/>
                </a:solidFill>
                <a:latin typeface="Inter"/>
                <a:ea typeface="Inter"/>
                <a:cs typeface="Inter"/>
                <a:sym typeface="Inter"/>
              </a:endParaRPr>
            </a:p>
          </p:txBody>
        </p:sp>
        <p:sp>
          <p:nvSpPr>
            <p:cNvPr id="659" name="Google Shape;659;p28"/>
            <p:cNvSpPr/>
            <p:nvPr/>
          </p:nvSpPr>
          <p:spPr>
            <a:xfrm>
              <a:off x="4857750" y="3695700"/>
              <a:ext cx="152400" cy="152400"/>
            </a:xfrm>
            <a:prstGeom prst="roundRect">
              <a:avLst>
                <a:gd name="adj" fmla="val 18750"/>
              </a:avLst>
            </a:prstGeom>
            <a:solidFill>
              <a:srgbClr val="FFFFFF"/>
            </a:solidFill>
            <a:ln w="14300"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0" name="Google Shape;660;p28"/>
            <p:cNvSpPr txBox="1"/>
            <p:nvPr/>
          </p:nvSpPr>
          <p:spPr>
            <a:xfrm>
              <a:off x="5105400" y="366712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4B5563"/>
                  </a:solidFill>
                  <a:latin typeface="Roboto Mono SemiBold"/>
                  <a:ea typeface="Roboto Mono SemiBold"/>
                  <a:cs typeface="Roboto Mono SemiBold"/>
                  <a:sym typeface="Roboto Mono SemiBold"/>
                </a:rPr>
                <a:t>11 </a:t>
              </a:r>
              <a:r>
                <a:rPr lang="en" sz="863" b="0">
                  <a:solidFill>
                    <a:srgbClr val="4B5563"/>
                  </a:solidFill>
                  <a:latin typeface="Inter"/>
                  <a:ea typeface="Inter"/>
                  <a:cs typeface="Inter"/>
                  <a:sym typeface="Inter"/>
                </a:rPr>
                <a:t>Prepare final dashboard-ready outputs.</a:t>
              </a:r>
              <a:endParaRPr sz="863" b="0">
                <a:solidFill>
                  <a:srgbClr val="4B5563"/>
                </a:solidFill>
                <a:latin typeface="Inter"/>
                <a:ea typeface="Inter"/>
                <a:cs typeface="Inter"/>
                <a:sym typeface="Inter"/>
              </a:endParaRPr>
            </a:p>
          </p:txBody>
        </p:sp>
        <p:sp>
          <p:nvSpPr>
            <p:cNvPr id="661" name="Google Shape;661;p28"/>
            <p:cNvSpPr/>
            <p:nvPr/>
          </p:nvSpPr>
          <p:spPr>
            <a:xfrm>
              <a:off x="4857750" y="4171950"/>
              <a:ext cx="152400" cy="152400"/>
            </a:xfrm>
            <a:prstGeom prst="roundRect">
              <a:avLst>
                <a:gd name="adj" fmla="val 18750"/>
              </a:avLst>
            </a:prstGeom>
            <a:solidFill>
              <a:srgbClr val="FFFFFF"/>
            </a:solidFill>
            <a:ln w="14300"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2" name="Google Shape;662;p28"/>
            <p:cNvSpPr txBox="1"/>
            <p:nvPr/>
          </p:nvSpPr>
          <p:spPr>
            <a:xfrm>
              <a:off x="5105400" y="4143375"/>
              <a:ext cx="34671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63" b="0">
                  <a:solidFill>
                    <a:srgbClr val="4B5563"/>
                  </a:solidFill>
                  <a:latin typeface="Roboto Mono SemiBold"/>
                  <a:ea typeface="Roboto Mono SemiBold"/>
                  <a:cs typeface="Roboto Mono SemiBold"/>
                  <a:sym typeface="Roboto Mono SemiBold"/>
                </a:rPr>
                <a:t>12 </a:t>
              </a:r>
              <a:r>
                <a:rPr lang="en" sz="863" b="0">
                  <a:solidFill>
                    <a:srgbClr val="4B5563"/>
                  </a:solidFill>
                  <a:latin typeface="Inter"/>
                  <a:ea typeface="Inter"/>
                  <a:cs typeface="Inter"/>
                  <a:sym typeface="Inter"/>
                </a:rPr>
                <a:t>Prepare documentation and presentation evidence.</a:t>
              </a:r>
              <a:endParaRPr sz="863" b="0">
                <a:solidFill>
                  <a:srgbClr val="4B5563"/>
                </a:solidFill>
                <a:latin typeface="Inter"/>
                <a:ea typeface="Inter"/>
                <a:cs typeface="Inter"/>
                <a:sym typeface="Inter"/>
              </a:endParaRPr>
            </a:p>
          </p:txBody>
        </p:sp>
      </p:grpSp>
    </p:spTree>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2C0C2-6C7A-5868-2E94-955C0A57335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1D065D2-FC12-579A-B2E0-5C912D93B226}"/>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62E3DF92-CD9F-3A76-D2A2-79B1601E0FF2}"/>
              </a:ext>
            </a:extLst>
          </p:cNvPr>
          <p:cNvPicPr>
            <a:picLocks noChangeAspect="1"/>
          </p:cNvPicPr>
          <p:nvPr/>
        </p:nvPicPr>
        <p:blipFill>
          <a:blip r:embed="rId2"/>
          <a:stretch>
            <a:fillRect/>
          </a:stretch>
        </p:blipFill>
        <p:spPr>
          <a:xfrm>
            <a:off x="20695" y="0"/>
            <a:ext cx="9102610" cy="5143500"/>
          </a:xfrm>
          <a:prstGeom prst="rect">
            <a:avLst/>
          </a:prstGeom>
        </p:spPr>
      </p:pic>
    </p:spTree>
    <p:extLst>
      <p:ext uri="{BB962C8B-B14F-4D97-AF65-F5344CB8AC3E}">
        <p14:creationId xmlns:p14="http://schemas.microsoft.com/office/powerpoint/2010/main" val="2532992144"/>
      </p:ext>
    </p:extLst>
  </p:cSld>
  <p:clrMapOvr>
    <a:masterClrMapping/>
  </p:clrMapOvr>
  <mc:AlternateContent xmlns:mc="http://schemas.openxmlformats.org/markup-compatibility/2006" xmlns:p14="http://schemas.microsoft.com/office/powerpoint/2010/main">
    <mc:Choice Requires="p14">
      <p:transition spd="slow" p14:dur="1500">
        <p14:reveal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1874</Words>
  <Application>Microsoft Office PowerPoint</Application>
  <PresentationFormat>On-screen Show (16:9)</PresentationFormat>
  <Paragraphs>282</Paragraphs>
  <Slides>16</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Aptos</vt:lpstr>
      <vt:lpstr>Inter ExtraBold</vt:lpstr>
      <vt:lpstr>Inter SemiBold</vt:lpstr>
      <vt:lpstr>Inter</vt:lpstr>
      <vt:lpstr>Inter Medium</vt:lpstr>
      <vt:lpstr>Aptos Display</vt:lpstr>
      <vt:lpstr>Roboto Mono SemiBold</vt:lpstr>
      <vt:lpstr>Roboto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Sanjay bhargav</cp:lastModifiedBy>
  <cp:revision>1</cp:revision>
  <dcterms:modified xsi:type="dcterms:W3CDTF">2026-08-19T12:15:25Z</dcterms:modified>
</cp:coreProperties>
</file>